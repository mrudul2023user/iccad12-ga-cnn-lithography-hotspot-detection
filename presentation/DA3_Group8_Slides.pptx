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0:20
Hello. We are Group 8 from VIT Chennai, presenting our revision of a CNN-based lithography hotspot detector on the ICCAD-12 benchmark. The emphasis today is on the revised experimental protocol: validation-driven model selection, equal-budget optimizer comparisons, sensitivity analysis, and final evaluation over five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0:35
Lithography hotspot detection asks whether a small region of an integrated-circuit layout is likely to create a lithographic manufacturing problem. The ICCAD-2012 suite provides our benchmark setting. The classes are imbalanced, so the model must be judged with measures such as balanced accuracy, recall, precision and specificity. A model that catches every hotspot but flags thousands of safe patterns still has a practical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0:40
Our revised workflow separates training from validation. The optimizer sees validation balanced accuracy, not test performance. We compare genetic search, random search, and Optuna TPE under the same number of candidate evaluations, repeat each method with three seeds, inspect per-gene sensitivity, and then evaluate selected models across all five benchmarks. The novelty is the controlled comparison and evaluation protocol, not a new CNN layer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0:45
The seven genes cover model capacity and training behavior: block count, filters, kernel size, dropout, learning rate, dense units and batch size. We used 300 evaluations per optimizer, represented by 100 candidates per seed across three seeds. The primary search was performed on ICCAD4; its majority training class was capped at five times the hotspot count to control candidate cost, while the full validation set of 910 images, including 19 hotspots, remained intact.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0:45
Bayesian optimization produced the highest mean best validation balanced accuracy at 0.98129. Random Search reached 0.97550 and GA reached 0.97437. Each mean is computed from the best score achieved in each of three seeds, not from all trials pooled together. The strongest observed candidate reached 0.98485 on ICCAD4 validation. Its configuration is three convolution blocks, eight base filters, a five-by-five kernel, 0.5 dropout, learning rate 0.0005, 128 dense units and batch size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0:25
We analyzed validation fitness by hyperparameter value separately for all three search methods, covering all seven genes. The groupwise plots suggest that batch size 64 tended to underperform and learning-rate effects varied across methods. An initial surrogate permutation-importance model had negative held-out R-squared, so we do not rely on its ranking. These are descriptive associations, not causal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0:40
Here is the explicit feedback mapping. First, revised tuning uses validation fitness rather than test fitness. Second, GA now has 300 evaluations over three seeds. Third, we added per-gene sensitivity analysis, while documenting the weak surrogate result. Fourth, the three optimizers use equal nominal budgets of 300 evaluations each. Fifth, the final outputs cover all five benchmarks with specificity and full confusion matrices. The notebook still contains legacy cells, so those must be excluded from the revised execution path; we will not claim they were never used historically.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0:40
On validation at threshold 0.20, the tuned model increases macro balanced accuracy from 0.9476 to 0.9772. Precision rises from 0.6214 to 0.8068, specificity from 0.8973 to 0.9881, and F1 from 0.6491 to 0.8580. Recall declines from 0.9978 to 0.9662. We selected the threshold based on validation diagnostics and then held it fixed for the final test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1:00
The final test comparison uses the same 0.20 threshold for both models. Macro balanced accuracy improves from 0.8854 to 0.9141, and macro specificity rises from 0.7893 to 0.8831. But the tuned model does not win on every benchmark: balanced accuracy is a little lower on ICCAD1 through ICCAD4 and much higher on ICCAD5. Macro precision, recall and F1 are lower. Therefore, our conclusion is mixed: the tuning improves balanced accuracy on average and reduces false positives on average, but precision remains low, especially on ICCAD4 and ICCAD5.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0:35
These confusion-matrix counts make the trade-off concrete. At threshold 0.20, ICCAD5 specificity improves dramatically for the tuned model, with false positives falling from 9,184 to 878. ICCAD4 false positives also fall, but false negatives increase. The larger lesson is that threshold-based screening still produces many false alarms in absolute terms, because non-hotspot images greatly outnumber hotspots.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0:35
To conclude, the revision is strongest as a controlled experimental comparison. Bayesian optimization led on the search benchmark, and the selected model improved macro balanced accuracy and specificity on the final test comparison. It did not improve every metric, especially precision and F1, so reducing false positives is the key next step. Before presenting, replace the repository and team-member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Reference appendix — omit from the timed narration unless asked
Reference slide for follow-up questions. [1] identifies the ICCAD-2012 contest benchmark suite. [2] provides published context for CNN-based lithography hotspot detection. [3] motivates Random Search as a hyperparameter-optimization baseline. [4] documents the Optuna framework used for Bayesian/TPE search. [5] is a foundational reference for genetic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36D6C5"/>
          </a:solidFill>
          <a:ln w="12700">
            <a:solidFill>
              <a:srgbClr val="36D6C5">
                <a:alpha val="0"/>
              </a:srgbClr>
            </a:solidFill>
            <a:prstDash val="solid"/>
          </a:ln>
        </p:spPr>
      </p:sp>
      <p:sp>
        <p:nvSpPr>
          <p:cNvPr id="3" name="Shape 1"/>
          <p:cNvSpPr/>
          <p:nvPr/>
        </p:nvSpPr>
        <p:spPr>
          <a:xfrm>
            <a:off x="566928" y="6473952"/>
            <a:ext cx="11018520" cy="0"/>
          </a:xfrm>
          <a:prstGeom prst="line">
            <a:avLst/>
          </a:prstGeom>
          <a:noFill/>
          <a:ln w="12700">
            <a:solidFill>
              <a:srgbClr val="283652"/>
            </a:solidFill>
            <a:prstDash val="solid"/>
          </a:ln>
        </p:spPr>
      </p:sp>
      <p:sp>
        <p:nvSpPr>
          <p:cNvPr id="4" name="Text 2"/>
          <p:cNvSpPr/>
          <p:nvPr/>
        </p:nvSpPr>
        <p:spPr>
          <a:xfrm>
            <a:off x="603504" y="6537960"/>
            <a:ext cx="5120640" cy="146304"/>
          </a:xfrm>
          <a:prstGeom prst="rect">
            <a:avLst/>
          </a:prstGeom>
          <a:noFill/>
        </p:spPr>
        <p:txBody>
          <a:bodyPr wrap="square" lIns="0" tIns="0" rIns="0" bIns="0" rtlCol="0" anchor="ctr"/>
          <a:lstStyle/>
          <a:p>
            <a:pPr marL="0" indent="0">
              <a:buNone/>
            </a:pPr>
            <a:r>
              <a:rPr lang="en-US" sz="800" kern="0" spc="130" dirty="0">
                <a:solidFill>
                  <a:srgbClr val="8090B0"/>
                </a:solidFill>
                <a:latin typeface="Aptos" pitchFamily="34" charset="0"/>
                <a:ea typeface="Aptos" pitchFamily="34" charset="-122"/>
                <a:cs typeface="Aptos" pitchFamily="34" charset="-120"/>
              </a:rPr>
              <a:t>ICCAD-12  •  AI/ML FOR IC  •  GROUP 8</a:t>
            </a:r>
            <a:endParaRPr lang="en-US" sz="800" dirty="0"/>
          </a:p>
        </p:txBody>
      </p:sp>
      <p:sp>
        <p:nvSpPr>
          <p:cNvPr id="25" name="Slide Number Placeholder 0"/>
          <p:cNvSpPr>
            <a:spLocks noGrp="1"/>
          </p:cNvSpPr>
          <p:nvPr>
            <p:ph type="sldNum" sz="quarter" idx="4294967295"/>
          </p:nvPr>
        </p:nvSpPr>
        <p:spPr>
          <a:xfrm>
            <a:off x="11292840" y="6510528"/>
            <a:ext cx="800000" cy="300000"/>
          </a:xfrm>
          <a:prstGeom prst="rect">
            <a:avLst/>
          </a:prstGeom>
        </p:spPr>
        <p:txBody>
          <a:bodyPr/>
          <a:lstStyle>
            <a:lvl1pPr>
              <a:defRPr sz="800">
                <a:solidFill>
                  <a:srgbClr val="8090B0"/>
                </a:solidFill>
                <a:latin typeface="Aptos"/>
                <a:ea typeface="Aptos"/>
                <a:cs typeface="Aptos"/>
              </a:defRPr>
            </a:lvl1pPr>
          </a:lstStyle>
          <a:p>
            <a:pPr algn="l"/>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10528"/>
            <a:ext cx="800000" cy="300000"/>
          </a:xfrm>
          <a:prstGeom prst="rect">
            <a:avLst/>
          </a:prstGeom>
        </p:spPr>
        <p:txBody>
          <a:bodyPr/>
          <a:lstStyle>
            <a:lvl1pPr>
              <a:defRPr sz="800">
                <a:solidFill>
                  <a:srgbClr val="8090B0"/>
                </a:solidFill>
                <a:latin typeface="Aptos"/>
                <a:ea typeface="Aptos"/>
                <a:cs typeface="Aptos"/>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hyperlink" Target="https://github.com/Mrudul2023user/ICCAD12-GA-CNN-Lithography-Hotspot-Detection/tree/main"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0160">
            <a:solidFill>
              <a:srgbClr val="0B1020"/>
            </a:solidFill>
            <a:prstDash val="solid"/>
          </a:ln>
        </p:spPr>
      </p:sp>
      <p:sp>
        <p:nvSpPr>
          <p:cNvPr id="3" name="Shape 1"/>
          <p:cNvSpPr/>
          <p:nvPr/>
        </p:nvSpPr>
        <p:spPr>
          <a:xfrm>
            <a:off x="8046720" y="777240"/>
            <a:ext cx="3566160" cy="0"/>
          </a:xfrm>
          <a:prstGeom prst="line">
            <a:avLst/>
          </a:prstGeom>
          <a:noFill/>
          <a:ln w="15240">
            <a:solidFill>
              <a:srgbClr val="2B3B58"/>
            </a:solidFill>
            <a:prstDash val="solid"/>
          </a:ln>
        </p:spPr>
      </p:sp>
      <p:sp>
        <p:nvSpPr>
          <p:cNvPr id="4" name="Shape 2"/>
          <p:cNvSpPr/>
          <p:nvPr/>
        </p:nvSpPr>
        <p:spPr>
          <a:xfrm>
            <a:off x="8641080" y="777240"/>
            <a:ext cx="0" cy="237744"/>
          </a:xfrm>
          <a:prstGeom prst="line">
            <a:avLst/>
          </a:prstGeom>
          <a:noFill/>
          <a:ln w="15240">
            <a:solidFill>
              <a:srgbClr val="2B3B58"/>
            </a:solidFill>
            <a:prstDash val="solid"/>
          </a:ln>
        </p:spPr>
      </p:sp>
      <p:sp>
        <p:nvSpPr>
          <p:cNvPr id="5" name="Shape 3"/>
          <p:cNvSpPr/>
          <p:nvPr/>
        </p:nvSpPr>
        <p:spPr>
          <a:xfrm>
            <a:off x="10424160" y="557784"/>
            <a:ext cx="0" cy="219456"/>
          </a:xfrm>
          <a:prstGeom prst="line">
            <a:avLst/>
          </a:prstGeom>
          <a:noFill/>
          <a:ln w="15240">
            <a:solidFill>
              <a:srgbClr val="2B3B58"/>
            </a:solidFill>
            <a:prstDash val="solid"/>
          </a:ln>
        </p:spPr>
      </p:sp>
      <p:sp>
        <p:nvSpPr>
          <p:cNvPr id="6" name="Shape 4"/>
          <p:cNvSpPr/>
          <p:nvPr/>
        </p:nvSpPr>
        <p:spPr>
          <a:xfrm>
            <a:off x="7973568" y="713232"/>
            <a:ext cx="128016" cy="128016"/>
          </a:xfrm>
          <a:prstGeom prst="ellipse">
            <a:avLst/>
          </a:prstGeom>
          <a:solidFill>
            <a:srgbClr val="36D6C5"/>
          </a:solidFill>
          <a:ln w="12700">
            <a:solidFill>
              <a:srgbClr val="36D6C5"/>
            </a:solidFill>
            <a:prstDash val="solid"/>
          </a:ln>
        </p:spPr>
      </p:sp>
      <p:sp>
        <p:nvSpPr>
          <p:cNvPr id="7" name="Shape 5"/>
          <p:cNvSpPr/>
          <p:nvPr/>
        </p:nvSpPr>
        <p:spPr>
          <a:xfrm>
            <a:off x="11539728" y="713232"/>
            <a:ext cx="128016" cy="128016"/>
          </a:xfrm>
          <a:prstGeom prst="ellipse">
            <a:avLst/>
          </a:prstGeom>
          <a:solidFill>
            <a:srgbClr val="6B9BFF"/>
          </a:solidFill>
          <a:ln w="12700">
            <a:solidFill>
              <a:srgbClr val="6B9BFF"/>
            </a:solidFill>
            <a:prstDash val="solid"/>
          </a:ln>
        </p:spPr>
      </p:sp>
      <p:sp>
        <p:nvSpPr>
          <p:cNvPr id="8" name="Shape 6"/>
          <p:cNvSpPr/>
          <p:nvPr/>
        </p:nvSpPr>
        <p:spPr>
          <a:xfrm>
            <a:off x="8046720" y="1490472"/>
            <a:ext cx="3566160" cy="0"/>
          </a:xfrm>
          <a:prstGeom prst="line">
            <a:avLst/>
          </a:prstGeom>
          <a:noFill/>
          <a:ln w="15240">
            <a:solidFill>
              <a:srgbClr val="2B3B58"/>
            </a:solidFill>
            <a:prstDash val="solid"/>
          </a:ln>
        </p:spPr>
      </p:sp>
      <p:sp>
        <p:nvSpPr>
          <p:cNvPr id="9" name="Shape 7"/>
          <p:cNvSpPr/>
          <p:nvPr/>
        </p:nvSpPr>
        <p:spPr>
          <a:xfrm>
            <a:off x="8641080" y="1490472"/>
            <a:ext cx="0" cy="237744"/>
          </a:xfrm>
          <a:prstGeom prst="line">
            <a:avLst/>
          </a:prstGeom>
          <a:noFill/>
          <a:ln w="15240">
            <a:solidFill>
              <a:srgbClr val="2B3B58"/>
            </a:solidFill>
            <a:prstDash val="solid"/>
          </a:ln>
        </p:spPr>
      </p:sp>
      <p:sp>
        <p:nvSpPr>
          <p:cNvPr id="10" name="Shape 8"/>
          <p:cNvSpPr/>
          <p:nvPr/>
        </p:nvSpPr>
        <p:spPr>
          <a:xfrm>
            <a:off x="10424160" y="1271016"/>
            <a:ext cx="0" cy="219456"/>
          </a:xfrm>
          <a:prstGeom prst="line">
            <a:avLst/>
          </a:prstGeom>
          <a:noFill/>
          <a:ln w="15240">
            <a:solidFill>
              <a:srgbClr val="2B3B58"/>
            </a:solidFill>
            <a:prstDash val="solid"/>
          </a:ln>
        </p:spPr>
      </p:sp>
      <p:sp>
        <p:nvSpPr>
          <p:cNvPr id="11" name="Shape 9"/>
          <p:cNvSpPr/>
          <p:nvPr/>
        </p:nvSpPr>
        <p:spPr>
          <a:xfrm>
            <a:off x="7973568" y="1426464"/>
            <a:ext cx="128016" cy="128016"/>
          </a:xfrm>
          <a:prstGeom prst="ellipse">
            <a:avLst/>
          </a:prstGeom>
          <a:solidFill>
            <a:srgbClr val="36D6C5"/>
          </a:solidFill>
          <a:ln w="12700">
            <a:solidFill>
              <a:srgbClr val="36D6C5"/>
            </a:solidFill>
            <a:prstDash val="solid"/>
          </a:ln>
        </p:spPr>
      </p:sp>
      <p:sp>
        <p:nvSpPr>
          <p:cNvPr id="12" name="Shape 10"/>
          <p:cNvSpPr/>
          <p:nvPr/>
        </p:nvSpPr>
        <p:spPr>
          <a:xfrm>
            <a:off x="11539728" y="1426464"/>
            <a:ext cx="128016" cy="128016"/>
          </a:xfrm>
          <a:prstGeom prst="ellipse">
            <a:avLst/>
          </a:prstGeom>
          <a:solidFill>
            <a:srgbClr val="FFB65E"/>
          </a:solidFill>
          <a:ln w="12700">
            <a:solidFill>
              <a:srgbClr val="FFB65E"/>
            </a:solidFill>
            <a:prstDash val="solid"/>
          </a:ln>
        </p:spPr>
      </p:sp>
      <p:sp>
        <p:nvSpPr>
          <p:cNvPr id="13" name="Shape 11"/>
          <p:cNvSpPr/>
          <p:nvPr/>
        </p:nvSpPr>
        <p:spPr>
          <a:xfrm>
            <a:off x="8046720" y="2203704"/>
            <a:ext cx="3566160" cy="0"/>
          </a:xfrm>
          <a:prstGeom prst="line">
            <a:avLst/>
          </a:prstGeom>
          <a:noFill/>
          <a:ln w="15240">
            <a:solidFill>
              <a:srgbClr val="2B3B58"/>
            </a:solidFill>
            <a:prstDash val="solid"/>
          </a:ln>
        </p:spPr>
      </p:sp>
      <p:sp>
        <p:nvSpPr>
          <p:cNvPr id="14" name="Shape 12"/>
          <p:cNvSpPr/>
          <p:nvPr/>
        </p:nvSpPr>
        <p:spPr>
          <a:xfrm>
            <a:off x="8641080" y="2203704"/>
            <a:ext cx="0" cy="237744"/>
          </a:xfrm>
          <a:prstGeom prst="line">
            <a:avLst/>
          </a:prstGeom>
          <a:noFill/>
          <a:ln w="15240">
            <a:solidFill>
              <a:srgbClr val="2B3B58"/>
            </a:solidFill>
            <a:prstDash val="solid"/>
          </a:ln>
        </p:spPr>
      </p:sp>
      <p:sp>
        <p:nvSpPr>
          <p:cNvPr id="15" name="Shape 13"/>
          <p:cNvSpPr/>
          <p:nvPr/>
        </p:nvSpPr>
        <p:spPr>
          <a:xfrm>
            <a:off x="10424160" y="1984248"/>
            <a:ext cx="0" cy="219456"/>
          </a:xfrm>
          <a:prstGeom prst="line">
            <a:avLst/>
          </a:prstGeom>
          <a:noFill/>
          <a:ln w="15240">
            <a:solidFill>
              <a:srgbClr val="2B3B58"/>
            </a:solidFill>
            <a:prstDash val="solid"/>
          </a:ln>
        </p:spPr>
      </p:sp>
      <p:sp>
        <p:nvSpPr>
          <p:cNvPr id="16" name="Shape 14"/>
          <p:cNvSpPr/>
          <p:nvPr/>
        </p:nvSpPr>
        <p:spPr>
          <a:xfrm>
            <a:off x="7973568" y="2139696"/>
            <a:ext cx="128016" cy="128016"/>
          </a:xfrm>
          <a:prstGeom prst="ellipse">
            <a:avLst/>
          </a:prstGeom>
          <a:solidFill>
            <a:srgbClr val="36D6C5"/>
          </a:solidFill>
          <a:ln w="12700">
            <a:solidFill>
              <a:srgbClr val="36D6C5"/>
            </a:solidFill>
            <a:prstDash val="solid"/>
          </a:ln>
        </p:spPr>
      </p:sp>
      <p:sp>
        <p:nvSpPr>
          <p:cNvPr id="17" name="Shape 15"/>
          <p:cNvSpPr/>
          <p:nvPr/>
        </p:nvSpPr>
        <p:spPr>
          <a:xfrm>
            <a:off x="11539728" y="2139696"/>
            <a:ext cx="128016" cy="128016"/>
          </a:xfrm>
          <a:prstGeom prst="ellipse">
            <a:avLst/>
          </a:prstGeom>
          <a:solidFill>
            <a:srgbClr val="6B9BFF"/>
          </a:solidFill>
          <a:ln w="12700">
            <a:solidFill>
              <a:srgbClr val="6B9BFF"/>
            </a:solidFill>
            <a:prstDash val="solid"/>
          </a:ln>
        </p:spPr>
      </p:sp>
      <p:sp>
        <p:nvSpPr>
          <p:cNvPr id="18" name="Shape 16"/>
          <p:cNvSpPr/>
          <p:nvPr/>
        </p:nvSpPr>
        <p:spPr>
          <a:xfrm>
            <a:off x="8046720" y="2916936"/>
            <a:ext cx="3566160" cy="0"/>
          </a:xfrm>
          <a:prstGeom prst="line">
            <a:avLst/>
          </a:prstGeom>
          <a:noFill/>
          <a:ln w="15240">
            <a:solidFill>
              <a:srgbClr val="2B3B58"/>
            </a:solidFill>
            <a:prstDash val="solid"/>
          </a:ln>
        </p:spPr>
      </p:sp>
      <p:sp>
        <p:nvSpPr>
          <p:cNvPr id="19" name="Shape 17"/>
          <p:cNvSpPr/>
          <p:nvPr/>
        </p:nvSpPr>
        <p:spPr>
          <a:xfrm>
            <a:off x="8641080" y="2916936"/>
            <a:ext cx="0" cy="237744"/>
          </a:xfrm>
          <a:prstGeom prst="line">
            <a:avLst/>
          </a:prstGeom>
          <a:noFill/>
          <a:ln w="15240">
            <a:solidFill>
              <a:srgbClr val="2B3B58"/>
            </a:solidFill>
            <a:prstDash val="solid"/>
          </a:ln>
        </p:spPr>
      </p:sp>
      <p:sp>
        <p:nvSpPr>
          <p:cNvPr id="20" name="Shape 18"/>
          <p:cNvSpPr/>
          <p:nvPr/>
        </p:nvSpPr>
        <p:spPr>
          <a:xfrm>
            <a:off x="10424160" y="2697480"/>
            <a:ext cx="0" cy="219456"/>
          </a:xfrm>
          <a:prstGeom prst="line">
            <a:avLst/>
          </a:prstGeom>
          <a:noFill/>
          <a:ln w="15240">
            <a:solidFill>
              <a:srgbClr val="2B3B58"/>
            </a:solidFill>
            <a:prstDash val="solid"/>
          </a:ln>
        </p:spPr>
      </p:sp>
      <p:sp>
        <p:nvSpPr>
          <p:cNvPr id="21" name="Shape 19"/>
          <p:cNvSpPr/>
          <p:nvPr/>
        </p:nvSpPr>
        <p:spPr>
          <a:xfrm>
            <a:off x="7973568" y="2852928"/>
            <a:ext cx="128016" cy="128016"/>
          </a:xfrm>
          <a:prstGeom prst="ellipse">
            <a:avLst/>
          </a:prstGeom>
          <a:solidFill>
            <a:srgbClr val="36D6C5"/>
          </a:solidFill>
          <a:ln w="12700">
            <a:solidFill>
              <a:srgbClr val="36D6C5"/>
            </a:solidFill>
            <a:prstDash val="solid"/>
          </a:ln>
        </p:spPr>
      </p:sp>
      <p:sp>
        <p:nvSpPr>
          <p:cNvPr id="22" name="Shape 20"/>
          <p:cNvSpPr/>
          <p:nvPr/>
        </p:nvSpPr>
        <p:spPr>
          <a:xfrm>
            <a:off x="11539728" y="2852928"/>
            <a:ext cx="128016" cy="128016"/>
          </a:xfrm>
          <a:prstGeom prst="ellipse">
            <a:avLst/>
          </a:prstGeom>
          <a:solidFill>
            <a:srgbClr val="FFB65E"/>
          </a:solidFill>
          <a:ln w="12700">
            <a:solidFill>
              <a:srgbClr val="FFB65E"/>
            </a:solidFill>
            <a:prstDash val="solid"/>
          </a:ln>
        </p:spPr>
      </p:sp>
      <p:sp>
        <p:nvSpPr>
          <p:cNvPr id="23" name="Shape 21"/>
          <p:cNvSpPr/>
          <p:nvPr/>
        </p:nvSpPr>
        <p:spPr>
          <a:xfrm>
            <a:off x="8046720" y="3630168"/>
            <a:ext cx="3566160" cy="0"/>
          </a:xfrm>
          <a:prstGeom prst="line">
            <a:avLst/>
          </a:prstGeom>
          <a:noFill/>
          <a:ln w="15240">
            <a:solidFill>
              <a:srgbClr val="2B3B58"/>
            </a:solidFill>
            <a:prstDash val="solid"/>
          </a:ln>
        </p:spPr>
      </p:sp>
      <p:sp>
        <p:nvSpPr>
          <p:cNvPr id="24" name="Shape 22"/>
          <p:cNvSpPr/>
          <p:nvPr/>
        </p:nvSpPr>
        <p:spPr>
          <a:xfrm>
            <a:off x="8641080" y="3630168"/>
            <a:ext cx="0" cy="237744"/>
          </a:xfrm>
          <a:prstGeom prst="line">
            <a:avLst/>
          </a:prstGeom>
          <a:noFill/>
          <a:ln w="15240">
            <a:solidFill>
              <a:srgbClr val="2B3B58"/>
            </a:solidFill>
            <a:prstDash val="solid"/>
          </a:ln>
        </p:spPr>
      </p:sp>
      <p:sp>
        <p:nvSpPr>
          <p:cNvPr id="25" name="Shape 23"/>
          <p:cNvSpPr/>
          <p:nvPr/>
        </p:nvSpPr>
        <p:spPr>
          <a:xfrm>
            <a:off x="10424160" y="3410712"/>
            <a:ext cx="0" cy="219456"/>
          </a:xfrm>
          <a:prstGeom prst="line">
            <a:avLst/>
          </a:prstGeom>
          <a:noFill/>
          <a:ln w="15240">
            <a:solidFill>
              <a:srgbClr val="2B3B58"/>
            </a:solidFill>
            <a:prstDash val="solid"/>
          </a:ln>
        </p:spPr>
      </p:sp>
      <p:sp>
        <p:nvSpPr>
          <p:cNvPr id="26" name="Shape 24"/>
          <p:cNvSpPr/>
          <p:nvPr/>
        </p:nvSpPr>
        <p:spPr>
          <a:xfrm>
            <a:off x="7973568" y="3566160"/>
            <a:ext cx="128016" cy="128016"/>
          </a:xfrm>
          <a:prstGeom prst="ellipse">
            <a:avLst/>
          </a:prstGeom>
          <a:solidFill>
            <a:srgbClr val="36D6C5"/>
          </a:solidFill>
          <a:ln w="12700">
            <a:solidFill>
              <a:srgbClr val="36D6C5"/>
            </a:solidFill>
            <a:prstDash val="solid"/>
          </a:ln>
        </p:spPr>
      </p:sp>
      <p:sp>
        <p:nvSpPr>
          <p:cNvPr id="27" name="Shape 25"/>
          <p:cNvSpPr/>
          <p:nvPr/>
        </p:nvSpPr>
        <p:spPr>
          <a:xfrm>
            <a:off x="11539728" y="3566160"/>
            <a:ext cx="128016" cy="128016"/>
          </a:xfrm>
          <a:prstGeom prst="ellipse">
            <a:avLst/>
          </a:prstGeom>
          <a:solidFill>
            <a:srgbClr val="6B9BFF"/>
          </a:solidFill>
          <a:ln w="12700">
            <a:solidFill>
              <a:srgbClr val="6B9BFF"/>
            </a:solidFill>
            <a:prstDash val="solid"/>
          </a:ln>
        </p:spPr>
      </p:sp>
      <p:sp>
        <p:nvSpPr>
          <p:cNvPr id="28" name="Shape 26"/>
          <p:cNvSpPr/>
          <p:nvPr/>
        </p:nvSpPr>
        <p:spPr>
          <a:xfrm>
            <a:off x="8046720" y="4343400"/>
            <a:ext cx="3566160" cy="0"/>
          </a:xfrm>
          <a:prstGeom prst="line">
            <a:avLst/>
          </a:prstGeom>
          <a:noFill/>
          <a:ln w="15240">
            <a:solidFill>
              <a:srgbClr val="2B3B58"/>
            </a:solidFill>
            <a:prstDash val="solid"/>
          </a:ln>
        </p:spPr>
      </p:sp>
      <p:sp>
        <p:nvSpPr>
          <p:cNvPr id="29" name="Shape 27"/>
          <p:cNvSpPr/>
          <p:nvPr/>
        </p:nvSpPr>
        <p:spPr>
          <a:xfrm>
            <a:off x="8641080" y="4343400"/>
            <a:ext cx="0" cy="237744"/>
          </a:xfrm>
          <a:prstGeom prst="line">
            <a:avLst/>
          </a:prstGeom>
          <a:noFill/>
          <a:ln w="15240">
            <a:solidFill>
              <a:srgbClr val="2B3B58"/>
            </a:solidFill>
            <a:prstDash val="solid"/>
          </a:ln>
        </p:spPr>
      </p:sp>
      <p:sp>
        <p:nvSpPr>
          <p:cNvPr id="30" name="Shape 28"/>
          <p:cNvSpPr/>
          <p:nvPr/>
        </p:nvSpPr>
        <p:spPr>
          <a:xfrm>
            <a:off x="10424160" y="4123944"/>
            <a:ext cx="0" cy="219456"/>
          </a:xfrm>
          <a:prstGeom prst="line">
            <a:avLst/>
          </a:prstGeom>
          <a:noFill/>
          <a:ln w="15240">
            <a:solidFill>
              <a:srgbClr val="2B3B58"/>
            </a:solidFill>
            <a:prstDash val="solid"/>
          </a:ln>
        </p:spPr>
      </p:sp>
      <p:sp>
        <p:nvSpPr>
          <p:cNvPr id="31" name="Shape 29"/>
          <p:cNvSpPr/>
          <p:nvPr/>
        </p:nvSpPr>
        <p:spPr>
          <a:xfrm>
            <a:off x="7973568" y="4279392"/>
            <a:ext cx="128016" cy="128016"/>
          </a:xfrm>
          <a:prstGeom prst="ellipse">
            <a:avLst/>
          </a:prstGeom>
          <a:solidFill>
            <a:srgbClr val="36D6C5"/>
          </a:solidFill>
          <a:ln w="12700">
            <a:solidFill>
              <a:srgbClr val="36D6C5"/>
            </a:solidFill>
            <a:prstDash val="solid"/>
          </a:ln>
        </p:spPr>
      </p:sp>
      <p:sp>
        <p:nvSpPr>
          <p:cNvPr id="32" name="Shape 30"/>
          <p:cNvSpPr/>
          <p:nvPr/>
        </p:nvSpPr>
        <p:spPr>
          <a:xfrm>
            <a:off x="11539728" y="4279392"/>
            <a:ext cx="128016" cy="128016"/>
          </a:xfrm>
          <a:prstGeom prst="ellipse">
            <a:avLst/>
          </a:prstGeom>
          <a:solidFill>
            <a:srgbClr val="FFB65E"/>
          </a:solidFill>
          <a:ln w="12700">
            <a:solidFill>
              <a:srgbClr val="FFB65E"/>
            </a:solidFill>
            <a:prstDash val="solid"/>
          </a:ln>
        </p:spPr>
      </p:sp>
      <p:sp>
        <p:nvSpPr>
          <p:cNvPr id="33" name="Shape 31"/>
          <p:cNvSpPr/>
          <p:nvPr/>
        </p:nvSpPr>
        <p:spPr>
          <a:xfrm>
            <a:off x="8046720" y="5056632"/>
            <a:ext cx="3566160" cy="0"/>
          </a:xfrm>
          <a:prstGeom prst="line">
            <a:avLst/>
          </a:prstGeom>
          <a:noFill/>
          <a:ln w="15240">
            <a:solidFill>
              <a:srgbClr val="2B3B58"/>
            </a:solidFill>
            <a:prstDash val="solid"/>
          </a:ln>
        </p:spPr>
      </p:sp>
      <p:sp>
        <p:nvSpPr>
          <p:cNvPr id="34" name="Shape 32"/>
          <p:cNvSpPr/>
          <p:nvPr/>
        </p:nvSpPr>
        <p:spPr>
          <a:xfrm>
            <a:off x="8641080" y="5056632"/>
            <a:ext cx="0" cy="237744"/>
          </a:xfrm>
          <a:prstGeom prst="line">
            <a:avLst/>
          </a:prstGeom>
          <a:noFill/>
          <a:ln w="15240">
            <a:solidFill>
              <a:srgbClr val="2B3B58"/>
            </a:solidFill>
            <a:prstDash val="solid"/>
          </a:ln>
        </p:spPr>
      </p:sp>
      <p:sp>
        <p:nvSpPr>
          <p:cNvPr id="35" name="Shape 33"/>
          <p:cNvSpPr/>
          <p:nvPr/>
        </p:nvSpPr>
        <p:spPr>
          <a:xfrm>
            <a:off x="10424160" y="4837176"/>
            <a:ext cx="0" cy="219456"/>
          </a:xfrm>
          <a:prstGeom prst="line">
            <a:avLst/>
          </a:prstGeom>
          <a:noFill/>
          <a:ln w="15240">
            <a:solidFill>
              <a:srgbClr val="2B3B58"/>
            </a:solidFill>
            <a:prstDash val="solid"/>
          </a:ln>
        </p:spPr>
      </p:sp>
      <p:sp>
        <p:nvSpPr>
          <p:cNvPr id="36" name="Shape 34"/>
          <p:cNvSpPr/>
          <p:nvPr/>
        </p:nvSpPr>
        <p:spPr>
          <a:xfrm>
            <a:off x="7973568" y="4992624"/>
            <a:ext cx="128016" cy="128016"/>
          </a:xfrm>
          <a:prstGeom prst="ellipse">
            <a:avLst/>
          </a:prstGeom>
          <a:solidFill>
            <a:srgbClr val="36D6C5"/>
          </a:solidFill>
          <a:ln w="12700">
            <a:solidFill>
              <a:srgbClr val="36D6C5"/>
            </a:solidFill>
            <a:prstDash val="solid"/>
          </a:ln>
        </p:spPr>
      </p:sp>
      <p:sp>
        <p:nvSpPr>
          <p:cNvPr id="37" name="Shape 35"/>
          <p:cNvSpPr/>
          <p:nvPr/>
        </p:nvSpPr>
        <p:spPr>
          <a:xfrm>
            <a:off x="11539728" y="4992624"/>
            <a:ext cx="128016" cy="128016"/>
          </a:xfrm>
          <a:prstGeom prst="ellipse">
            <a:avLst/>
          </a:prstGeom>
          <a:solidFill>
            <a:srgbClr val="6B9BFF"/>
          </a:solidFill>
          <a:ln w="12700">
            <a:solidFill>
              <a:srgbClr val="6B9BFF"/>
            </a:solidFill>
            <a:prstDash val="solid"/>
          </a:ln>
        </p:spPr>
      </p:sp>
      <p:sp>
        <p:nvSpPr>
          <p:cNvPr id="38" name="Shape 36"/>
          <p:cNvSpPr/>
          <p:nvPr/>
        </p:nvSpPr>
        <p:spPr>
          <a:xfrm>
            <a:off x="618490" y="1015365"/>
            <a:ext cx="1146810" cy="255905"/>
          </a:xfrm>
          <a:prstGeom prst="roundRect">
            <a:avLst>
              <a:gd name="adj" fmla="val 28571"/>
            </a:avLst>
          </a:prstGeom>
          <a:solidFill>
            <a:srgbClr val="17323B"/>
          </a:solidFill>
          <a:ln w="10160">
            <a:solidFill>
              <a:srgbClr val="17323B"/>
            </a:solidFill>
            <a:prstDash val="solid"/>
          </a:ln>
        </p:spPr>
      </p:sp>
      <p:sp>
        <p:nvSpPr>
          <p:cNvPr id="39" name="Text 37"/>
          <p:cNvSpPr txBox="1"/>
          <p:nvPr/>
        </p:nvSpPr>
        <p:spPr>
          <a:xfrm>
            <a:off x="682625" y="1015365"/>
            <a:ext cx="1097915" cy="238125"/>
          </a:xfrm>
          <a:prstGeom prst="rect">
            <a:avLst/>
          </a:prstGeom>
          <a:noFill/>
        </p:spPr>
        <p:txBody>
          <a:bodyPr wrap="square" lIns="0" tIns="0" rIns="0" bIns="0" rtlCol="0" anchor="ctr">
            <a:normAutofit/>
          </a:bodyPr>
          <a:lstStyle/>
          <a:p>
            <a:pPr marL="0" indent="0" algn="ctr">
              <a:buNone/>
            </a:pPr>
            <a:r>
              <a:rPr lang="en-US" sz="1000" b="1" kern="0" spc="30" dirty="0">
                <a:solidFill>
                  <a:srgbClr val="36D6C5"/>
                </a:solidFill>
                <a:latin typeface="Aptos" pitchFamily="34" charset="0"/>
                <a:ea typeface="Aptos" pitchFamily="34" charset="-122"/>
                <a:cs typeface="Aptos" pitchFamily="34" charset="-120"/>
              </a:rPr>
              <a:t>ICCAD-12</a:t>
            </a:r>
            <a:endParaRPr lang="en-US" sz="1000" dirty="0"/>
          </a:p>
        </p:txBody>
      </p:sp>
      <p:sp>
        <p:nvSpPr>
          <p:cNvPr id="40" name="Text 38"/>
          <p:cNvSpPr txBox="1"/>
          <p:nvPr/>
        </p:nvSpPr>
        <p:spPr>
          <a:xfrm>
            <a:off x="749808" y="1325880"/>
            <a:ext cx="6995160" cy="630936"/>
          </a:xfrm>
          <a:prstGeom prst="rect">
            <a:avLst/>
          </a:prstGeom>
          <a:noFill/>
        </p:spPr>
        <p:txBody>
          <a:bodyPr wrap="square" lIns="0" tIns="0" rIns="0" bIns="0" rtlCol="0" anchor="ctr">
            <a:normAutofit/>
          </a:bodyPr>
          <a:lstStyle/>
          <a:p>
            <a:pPr marL="0" indent="0" algn="l">
              <a:buNone/>
            </a:pPr>
            <a:r>
              <a:rPr lang="en-US" sz="3200" b="1" dirty="0">
                <a:solidFill>
                  <a:srgbClr val="F4F7FF"/>
                </a:solidFill>
                <a:latin typeface="Aptos" pitchFamily="34" charset="0"/>
                <a:ea typeface="Aptos" pitchFamily="34" charset="-122"/>
                <a:cs typeface="Aptos" pitchFamily="34" charset="-120"/>
              </a:rPr>
              <a:t>Genetic Algorithm - Optimized CNN</a:t>
            </a:r>
            <a:endParaRPr lang="en-US" sz="3200" dirty="0"/>
          </a:p>
        </p:txBody>
      </p:sp>
      <p:sp>
        <p:nvSpPr>
          <p:cNvPr id="41" name="Text 39"/>
          <p:cNvSpPr txBox="1"/>
          <p:nvPr/>
        </p:nvSpPr>
        <p:spPr>
          <a:xfrm>
            <a:off x="749808" y="1993392"/>
            <a:ext cx="6949440" cy="630936"/>
          </a:xfrm>
          <a:prstGeom prst="rect">
            <a:avLst/>
          </a:prstGeom>
          <a:noFill/>
        </p:spPr>
        <p:txBody>
          <a:bodyPr wrap="square" lIns="0" tIns="0" rIns="0" bIns="0" rtlCol="0" anchor="ctr">
            <a:normAutofit/>
          </a:bodyPr>
          <a:lstStyle/>
          <a:p>
            <a:pPr marL="0" indent="0" algn="l">
              <a:buNone/>
            </a:pPr>
            <a:r>
              <a:rPr lang="en-US" sz="2900" b="1" dirty="0">
                <a:solidFill>
                  <a:srgbClr val="F4F7FF"/>
                </a:solidFill>
                <a:latin typeface="Aptos" pitchFamily="34" charset="0"/>
                <a:ea typeface="Aptos" pitchFamily="34" charset="-122"/>
                <a:cs typeface="Aptos" pitchFamily="34" charset="-120"/>
              </a:rPr>
              <a:t>for Lithography Hotspot Detection</a:t>
            </a:r>
            <a:endParaRPr lang="en-US" sz="2900" dirty="0"/>
          </a:p>
        </p:txBody>
      </p:sp>
      <p:sp>
        <p:nvSpPr>
          <p:cNvPr id="42" name="Text 40"/>
          <p:cNvSpPr txBox="1"/>
          <p:nvPr/>
        </p:nvSpPr>
        <p:spPr>
          <a:xfrm>
            <a:off x="768096" y="2798064"/>
            <a:ext cx="6583680" cy="576072"/>
          </a:xfrm>
          <a:prstGeom prst="rect">
            <a:avLst/>
          </a:prstGeom>
          <a:noFill/>
        </p:spPr>
        <p:txBody>
          <a:bodyPr wrap="square" lIns="0" tIns="0" rIns="0" bIns="0" rtlCol="0" anchor="t">
            <a:normAutofit/>
          </a:bodyPr>
          <a:lstStyle/>
          <a:p>
            <a:pPr marL="0" indent="0" algn="l">
              <a:buNone/>
            </a:pPr>
            <a:r>
              <a:rPr lang="en-US" sz="1600" dirty="0">
                <a:solidFill>
                  <a:srgbClr val="A7B4CE"/>
                </a:solidFill>
                <a:latin typeface="Aptos" pitchFamily="34" charset="0"/>
                <a:ea typeface="Aptos" pitchFamily="34" charset="-122"/>
                <a:cs typeface="Aptos" pitchFamily="34" charset="-120"/>
              </a:rPr>
              <a:t>A validation driven comparison of GA, Random Search, and Bayesian Optimization</a:t>
            </a:r>
            <a:endParaRPr lang="en-US" sz="1600" dirty="0"/>
          </a:p>
        </p:txBody>
      </p:sp>
      <p:sp>
        <p:nvSpPr>
          <p:cNvPr id="43" name="Shape 41"/>
          <p:cNvSpPr/>
          <p:nvPr/>
        </p:nvSpPr>
        <p:spPr>
          <a:xfrm>
            <a:off x="749808" y="3675888"/>
            <a:ext cx="6035040" cy="45720"/>
          </a:xfrm>
          <a:prstGeom prst="rect">
            <a:avLst/>
          </a:prstGeom>
          <a:solidFill>
            <a:srgbClr val="36D6C5"/>
          </a:solidFill>
          <a:ln w="10160">
            <a:solidFill>
              <a:srgbClr val="36D6C5"/>
            </a:solidFill>
            <a:prstDash val="solid"/>
          </a:ln>
        </p:spPr>
      </p:sp>
      <p:sp>
        <p:nvSpPr>
          <p:cNvPr id="44" name="Text 42"/>
          <p:cNvSpPr txBox="1"/>
          <p:nvPr/>
        </p:nvSpPr>
        <p:spPr>
          <a:xfrm>
            <a:off x="768096" y="3931920"/>
            <a:ext cx="4114800" cy="274320"/>
          </a:xfrm>
          <a:prstGeom prst="rect">
            <a:avLst/>
          </a:prstGeom>
          <a:noFill/>
        </p:spPr>
        <p:txBody>
          <a:bodyPr wrap="square" lIns="0" tIns="0" rIns="0" bIns="0" rtlCol="0" anchor="ctr">
            <a:normAutofit/>
          </a:bodyPr>
          <a:lstStyle/>
          <a:p>
            <a:pPr marL="0" indent="0" algn="l">
              <a:buNone/>
            </a:pPr>
            <a:r>
              <a:rPr lang="en-US" sz="1500" b="1" dirty="0">
                <a:solidFill>
                  <a:srgbClr val="F4F7FF"/>
                </a:solidFill>
                <a:latin typeface="Aptos" pitchFamily="34" charset="0"/>
                <a:ea typeface="Aptos" pitchFamily="34" charset="-122"/>
                <a:cs typeface="Aptos" pitchFamily="34" charset="-120"/>
              </a:rPr>
              <a:t>AI/ML for IC  •  BEVD402L</a:t>
            </a:r>
            <a:endParaRPr lang="en-US" sz="1500" dirty="0"/>
          </a:p>
        </p:txBody>
      </p:sp>
      <p:sp>
        <p:nvSpPr>
          <p:cNvPr id="45" name="Text 43"/>
          <p:cNvSpPr txBox="1"/>
          <p:nvPr/>
        </p:nvSpPr>
        <p:spPr>
          <a:xfrm>
            <a:off x="768096" y="4270248"/>
            <a:ext cx="4114800" cy="256032"/>
          </a:xfrm>
          <a:prstGeom prst="rect">
            <a:avLst/>
          </a:prstGeom>
          <a:noFill/>
        </p:spPr>
        <p:txBody>
          <a:bodyPr wrap="square" lIns="0" tIns="0" rIns="0" bIns="0" rtlCol="0" anchor="ctr">
            <a:normAutofit/>
          </a:bodyPr>
          <a:lstStyle/>
          <a:p>
            <a:pPr marL="0" indent="0" algn="l">
              <a:buNone/>
            </a:pPr>
            <a:r>
              <a:rPr lang="en-US" sz="1300" dirty="0">
                <a:solidFill>
                  <a:srgbClr val="A7B4CE"/>
                </a:solidFill>
                <a:latin typeface="Aptos" pitchFamily="34" charset="0"/>
                <a:ea typeface="Aptos" pitchFamily="34" charset="-122"/>
                <a:cs typeface="Aptos" pitchFamily="34" charset="-120"/>
              </a:rPr>
              <a:t>Group 8  |  VIT Chennai</a:t>
            </a:r>
            <a:endParaRPr lang="en-US" sz="1300" dirty="0"/>
          </a:p>
        </p:txBody>
      </p:sp>
      <p:sp>
        <p:nvSpPr>
          <p:cNvPr id="46" name="Text 44"/>
          <p:cNvSpPr txBox="1"/>
          <p:nvPr/>
        </p:nvSpPr>
        <p:spPr>
          <a:xfrm>
            <a:off x="768350" y="4681855"/>
            <a:ext cx="4114800" cy="1343025"/>
          </a:xfrm>
          <a:prstGeom prst="rect">
            <a:avLst/>
          </a:prstGeom>
          <a:noFill/>
        </p:spPr>
        <p:txBody>
          <a:bodyPr wrap="square" lIns="0" tIns="0" rIns="0" bIns="0" rtlCol="0" anchor="ctr">
            <a:normAutofit/>
          </a:bodyPr>
          <a:lstStyle/>
          <a:p>
            <a:pPr marL="0" indent="0" algn="l">
              <a:buNone/>
            </a:pPr>
            <a:r>
              <a:rPr lang="en-US" sz="1100" b="1" dirty="0">
                <a:solidFill>
                  <a:srgbClr val="FFB65E"/>
                </a:solidFill>
                <a:latin typeface="Aptos" pitchFamily="34" charset="0"/>
                <a:ea typeface="Aptos" pitchFamily="34" charset="-122"/>
                <a:cs typeface="Aptos" pitchFamily="34" charset="-120"/>
              </a:rPr>
              <a:t>Team members: </a:t>
            </a:r>
            <a:endParaRPr lang="en-US" sz="1100" b="1" dirty="0">
              <a:solidFill>
                <a:srgbClr val="FFB65E"/>
              </a:solidFill>
              <a:latin typeface="Aptos" pitchFamily="34" charset="0"/>
              <a:ea typeface="Aptos" pitchFamily="34" charset="-122"/>
              <a:cs typeface="Aptos" pitchFamily="34" charset="-120"/>
            </a:endParaRPr>
          </a:p>
          <a:p>
            <a:pPr marL="0" indent="0" algn="l">
              <a:buNone/>
            </a:pPr>
            <a:r>
              <a:rPr lang="en-US" sz="1100" b="1" dirty="0">
                <a:solidFill>
                  <a:srgbClr val="FFB65E"/>
                </a:solidFill>
                <a:latin typeface="Aptos" pitchFamily="34" charset="0"/>
                <a:ea typeface="Aptos" pitchFamily="34" charset="-122"/>
                <a:cs typeface="Aptos" pitchFamily="34" charset="-120"/>
              </a:rPr>
              <a:t>Reniguntla Sai Mrudul - 23BVD1053</a:t>
            </a:r>
            <a:endParaRPr lang="en-US" sz="1100" b="1" dirty="0">
              <a:solidFill>
                <a:srgbClr val="FFB65E"/>
              </a:solidFill>
              <a:latin typeface="Aptos" pitchFamily="34" charset="0"/>
              <a:ea typeface="Aptos" pitchFamily="34" charset="-122"/>
              <a:cs typeface="Aptos" pitchFamily="34" charset="-120"/>
            </a:endParaRPr>
          </a:p>
          <a:p>
            <a:pPr marL="0" indent="0" algn="l">
              <a:buNone/>
            </a:pPr>
            <a:r>
              <a:rPr lang="en-US" sz="1100" b="1" dirty="0">
                <a:solidFill>
                  <a:srgbClr val="FFB65E"/>
                </a:solidFill>
                <a:latin typeface="Aptos" pitchFamily="34" charset="0"/>
                <a:ea typeface="Aptos" pitchFamily="34" charset="-122"/>
                <a:cs typeface="Aptos" pitchFamily="34" charset="-120"/>
              </a:rPr>
              <a:t>Chavva Abhinav - 23BVD1056</a:t>
            </a:r>
            <a:endParaRPr lang="en-US" sz="1100" b="1" dirty="0">
              <a:solidFill>
                <a:srgbClr val="FFB65E"/>
              </a:solidFill>
              <a:latin typeface="Aptos" pitchFamily="34" charset="0"/>
              <a:ea typeface="Aptos" pitchFamily="34" charset="-122"/>
              <a:cs typeface="Aptos" pitchFamily="34" charset="-120"/>
            </a:endParaRPr>
          </a:p>
          <a:p>
            <a:pPr marL="0" indent="0" algn="l">
              <a:buNone/>
            </a:pPr>
            <a:r>
              <a:rPr lang="en-US" altLang="en-US" sz="1100" b="1" dirty="0">
                <a:solidFill>
                  <a:srgbClr val="FFB65E"/>
                </a:solidFill>
                <a:latin typeface="Aptos" pitchFamily="34" charset="0"/>
                <a:ea typeface="Aptos" pitchFamily="34" charset="-122"/>
                <a:cs typeface="Aptos" pitchFamily="34" charset="-120"/>
              </a:rPr>
              <a:t>Shaik Rafique Ahamed - 23BVD1057</a:t>
            </a:r>
            <a:endParaRPr lang="en-US" altLang="en-US" sz="1100" b="1" dirty="0">
              <a:solidFill>
                <a:srgbClr val="FFB65E"/>
              </a:solidFill>
              <a:latin typeface="Aptos" pitchFamily="34" charset="0"/>
              <a:ea typeface="Aptos" pitchFamily="34" charset="-122"/>
              <a:cs typeface="Aptos" pitchFamily="34" charset="-120"/>
            </a:endParaRPr>
          </a:p>
          <a:p>
            <a:pPr marL="0" indent="0" algn="l">
              <a:buNone/>
            </a:pPr>
            <a:endParaRPr lang="en-US" sz="1100" dirty="0"/>
          </a:p>
        </p:txBody>
      </p:sp>
      <p:sp>
        <p:nvSpPr>
          <p:cNvPr id="47" name="Shape 45"/>
          <p:cNvSpPr/>
          <p:nvPr/>
        </p:nvSpPr>
        <p:spPr>
          <a:xfrm>
            <a:off x="7818120" y="2103120"/>
            <a:ext cx="3611880" cy="1965960"/>
          </a:xfrm>
          <a:prstGeom prst="roundRect">
            <a:avLst>
              <a:gd name="adj" fmla="val 3721"/>
            </a:avLst>
          </a:prstGeom>
          <a:solidFill>
            <a:srgbClr val="131D31"/>
          </a:solidFill>
          <a:ln w="10160">
            <a:solidFill>
              <a:srgbClr val="2B3B58"/>
            </a:solidFill>
            <a:prstDash val="solid"/>
          </a:ln>
        </p:spPr>
      </p:sp>
      <p:sp>
        <p:nvSpPr>
          <p:cNvPr id="48" name="Shape 46"/>
          <p:cNvSpPr/>
          <p:nvPr/>
        </p:nvSpPr>
        <p:spPr>
          <a:xfrm>
            <a:off x="8092440" y="2423160"/>
            <a:ext cx="219456" cy="192024"/>
          </a:xfrm>
          <a:prstGeom prst="rect">
            <a:avLst/>
          </a:prstGeom>
          <a:solidFill>
            <a:srgbClr val="344561"/>
          </a:solidFill>
          <a:ln w="2540">
            <a:solidFill>
              <a:srgbClr val="131D31"/>
            </a:solidFill>
            <a:prstDash val="solid"/>
          </a:ln>
        </p:spPr>
      </p:sp>
      <p:sp>
        <p:nvSpPr>
          <p:cNvPr id="49" name="Shape 47"/>
          <p:cNvSpPr/>
          <p:nvPr/>
        </p:nvSpPr>
        <p:spPr>
          <a:xfrm>
            <a:off x="8366760" y="2423160"/>
            <a:ext cx="219456" cy="192024"/>
          </a:xfrm>
          <a:prstGeom prst="rect">
            <a:avLst/>
          </a:prstGeom>
          <a:solidFill>
            <a:srgbClr val="6B9BFF"/>
          </a:solidFill>
          <a:ln w="2540">
            <a:solidFill>
              <a:srgbClr val="131D31"/>
            </a:solidFill>
            <a:prstDash val="solid"/>
          </a:ln>
        </p:spPr>
      </p:sp>
      <p:sp>
        <p:nvSpPr>
          <p:cNvPr id="50" name="Shape 48"/>
          <p:cNvSpPr/>
          <p:nvPr/>
        </p:nvSpPr>
        <p:spPr>
          <a:xfrm>
            <a:off x="8641080" y="2423160"/>
            <a:ext cx="219456" cy="192024"/>
          </a:xfrm>
          <a:prstGeom prst="rect">
            <a:avLst/>
          </a:prstGeom>
          <a:solidFill>
            <a:srgbClr val="344561"/>
          </a:solidFill>
          <a:ln w="2540">
            <a:solidFill>
              <a:srgbClr val="131D31"/>
            </a:solidFill>
            <a:prstDash val="solid"/>
          </a:ln>
        </p:spPr>
      </p:sp>
      <p:sp>
        <p:nvSpPr>
          <p:cNvPr id="51" name="Shape 49"/>
          <p:cNvSpPr/>
          <p:nvPr/>
        </p:nvSpPr>
        <p:spPr>
          <a:xfrm>
            <a:off x="8915400" y="2423160"/>
            <a:ext cx="219456" cy="192024"/>
          </a:xfrm>
          <a:prstGeom prst="rect">
            <a:avLst/>
          </a:prstGeom>
          <a:solidFill>
            <a:srgbClr val="6B9BFF"/>
          </a:solidFill>
          <a:ln w="2540">
            <a:solidFill>
              <a:srgbClr val="131D31"/>
            </a:solidFill>
            <a:prstDash val="solid"/>
          </a:ln>
        </p:spPr>
      </p:sp>
      <p:sp>
        <p:nvSpPr>
          <p:cNvPr id="52" name="Shape 50"/>
          <p:cNvSpPr/>
          <p:nvPr/>
        </p:nvSpPr>
        <p:spPr>
          <a:xfrm>
            <a:off x="9189720" y="2423160"/>
            <a:ext cx="219456" cy="192024"/>
          </a:xfrm>
          <a:prstGeom prst="rect">
            <a:avLst/>
          </a:prstGeom>
          <a:solidFill>
            <a:srgbClr val="344561"/>
          </a:solidFill>
          <a:ln w="2540">
            <a:solidFill>
              <a:srgbClr val="131D31"/>
            </a:solidFill>
            <a:prstDash val="solid"/>
          </a:ln>
        </p:spPr>
      </p:sp>
      <p:sp>
        <p:nvSpPr>
          <p:cNvPr id="53" name="Shape 51"/>
          <p:cNvSpPr/>
          <p:nvPr/>
        </p:nvSpPr>
        <p:spPr>
          <a:xfrm>
            <a:off x="9464040" y="2423160"/>
            <a:ext cx="219456" cy="192024"/>
          </a:xfrm>
          <a:prstGeom prst="rect">
            <a:avLst/>
          </a:prstGeom>
          <a:solidFill>
            <a:srgbClr val="6B9BFF"/>
          </a:solidFill>
          <a:ln w="2540">
            <a:solidFill>
              <a:srgbClr val="131D31"/>
            </a:solidFill>
            <a:prstDash val="solid"/>
          </a:ln>
        </p:spPr>
      </p:sp>
      <p:sp>
        <p:nvSpPr>
          <p:cNvPr id="54" name="Shape 52"/>
          <p:cNvSpPr/>
          <p:nvPr/>
        </p:nvSpPr>
        <p:spPr>
          <a:xfrm>
            <a:off x="9738360" y="2423160"/>
            <a:ext cx="219456" cy="192024"/>
          </a:xfrm>
          <a:prstGeom prst="rect">
            <a:avLst/>
          </a:prstGeom>
          <a:solidFill>
            <a:srgbClr val="344561"/>
          </a:solidFill>
          <a:ln w="2540">
            <a:solidFill>
              <a:srgbClr val="131D31"/>
            </a:solidFill>
            <a:prstDash val="solid"/>
          </a:ln>
        </p:spPr>
      </p:sp>
      <p:sp>
        <p:nvSpPr>
          <p:cNvPr id="55" name="Shape 53"/>
          <p:cNvSpPr/>
          <p:nvPr/>
        </p:nvSpPr>
        <p:spPr>
          <a:xfrm>
            <a:off x="8092440" y="2670048"/>
            <a:ext cx="219456" cy="192024"/>
          </a:xfrm>
          <a:prstGeom prst="rect">
            <a:avLst/>
          </a:prstGeom>
          <a:solidFill>
            <a:srgbClr val="6B9BFF"/>
          </a:solidFill>
          <a:ln w="2540">
            <a:solidFill>
              <a:srgbClr val="131D31"/>
            </a:solidFill>
            <a:prstDash val="solid"/>
          </a:ln>
        </p:spPr>
      </p:sp>
      <p:sp>
        <p:nvSpPr>
          <p:cNvPr id="56" name="Shape 54"/>
          <p:cNvSpPr/>
          <p:nvPr/>
        </p:nvSpPr>
        <p:spPr>
          <a:xfrm>
            <a:off x="8366760" y="2670048"/>
            <a:ext cx="219456" cy="192024"/>
          </a:xfrm>
          <a:prstGeom prst="rect">
            <a:avLst/>
          </a:prstGeom>
          <a:solidFill>
            <a:srgbClr val="344561"/>
          </a:solidFill>
          <a:ln w="2540">
            <a:solidFill>
              <a:srgbClr val="131D31"/>
            </a:solidFill>
            <a:prstDash val="solid"/>
          </a:ln>
        </p:spPr>
      </p:sp>
      <p:sp>
        <p:nvSpPr>
          <p:cNvPr id="57" name="Shape 55"/>
          <p:cNvSpPr/>
          <p:nvPr/>
        </p:nvSpPr>
        <p:spPr>
          <a:xfrm>
            <a:off x="8641080" y="2670048"/>
            <a:ext cx="219456" cy="192024"/>
          </a:xfrm>
          <a:prstGeom prst="rect">
            <a:avLst/>
          </a:prstGeom>
          <a:solidFill>
            <a:srgbClr val="6B9BFF"/>
          </a:solidFill>
          <a:ln w="2540">
            <a:solidFill>
              <a:srgbClr val="131D31"/>
            </a:solidFill>
            <a:prstDash val="solid"/>
          </a:ln>
        </p:spPr>
      </p:sp>
      <p:sp>
        <p:nvSpPr>
          <p:cNvPr id="58" name="Shape 56"/>
          <p:cNvSpPr/>
          <p:nvPr/>
        </p:nvSpPr>
        <p:spPr>
          <a:xfrm>
            <a:off x="8915400" y="2670048"/>
            <a:ext cx="219456" cy="192024"/>
          </a:xfrm>
          <a:prstGeom prst="rect">
            <a:avLst/>
          </a:prstGeom>
          <a:solidFill>
            <a:srgbClr val="344561"/>
          </a:solidFill>
          <a:ln w="2540">
            <a:solidFill>
              <a:srgbClr val="131D31"/>
            </a:solidFill>
            <a:prstDash val="solid"/>
          </a:ln>
        </p:spPr>
      </p:sp>
      <p:sp>
        <p:nvSpPr>
          <p:cNvPr id="59" name="Shape 57"/>
          <p:cNvSpPr/>
          <p:nvPr/>
        </p:nvSpPr>
        <p:spPr>
          <a:xfrm>
            <a:off x="9189720" y="2670048"/>
            <a:ext cx="219456" cy="192024"/>
          </a:xfrm>
          <a:prstGeom prst="rect">
            <a:avLst/>
          </a:prstGeom>
          <a:solidFill>
            <a:srgbClr val="6B9BFF"/>
          </a:solidFill>
          <a:ln w="2540">
            <a:solidFill>
              <a:srgbClr val="131D31"/>
            </a:solidFill>
            <a:prstDash val="solid"/>
          </a:ln>
        </p:spPr>
      </p:sp>
      <p:sp>
        <p:nvSpPr>
          <p:cNvPr id="60" name="Shape 58"/>
          <p:cNvSpPr/>
          <p:nvPr/>
        </p:nvSpPr>
        <p:spPr>
          <a:xfrm>
            <a:off x="9464040" y="2670048"/>
            <a:ext cx="219456" cy="192024"/>
          </a:xfrm>
          <a:prstGeom prst="rect">
            <a:avLst/>
          </a:prstGeom>
          <a:solidFill>
            <a:srgbClr val="344561"/>
          </a:solidFill>
          <a:ln w="2540">
            <a:solidFill>
              <a:srgbClr val="131D31"/>
            </a:solidFill>
            <a:prstDash val="solid"/>
          </a:ln>
        </p:spPr>
      </p:sp>
      <p:sp>
        <p:nvSpPr>
          <p:cNvPr id="61" name="Shape 59"/>
          <p:cNvSpPr/>
          <p:nvPr/>
        </p:nvSpPr>
        <p:spPr>
          <a:xfrm>
            <a:off x="9738360" y="2670048"/>
            <a:ext cx="219456" cy="192024"/>
          </a:xfrm>
          <a:prstGeom prst="rect">
            <a:avLst/>
          </a:prstGeom>
          <a:solidFill>
            <a:srgbClr val="6B9BFF"/>
          </a:solidFill>
          <a:ln w="2540">
            <a:solidFill>
              <a:srgbClr val="131D31"/>
            </a:solidFill>
            <a:prstDash val="solid"/>
          </a:ln>
        </p:spPr>
      </p:sp>
      <p:sp>
        <p:nvSpPr>
          <p:cNvPr id="62" name="Shape 60"/>
          <p:cNvSpPr/>
          <p:nvPr/>
        </p:nvSpPr>
        <p:spPr>
          <a:xfrm>
            <a:off x="8092440" y="2916936"/>
            <a:ext cx="219456" cy="192024"/>
          </a:xfrm>
          <a:prstGeom prst="rect">
            <a:avLst/>
          </a:prstGeom>
          <a:solidFill>
            <a:srgbClr val="344561"/>
          </a:solidFill>
          <a:ln w="2540">
            <a:solidFill>
              <a:srgbClr val="131D31"/>
            </a:solidFill>
            <a:prstDash val="solid"/>
          </a:ln>
        </p:spPr>
      </p:sp>
      <p:sp>
        <p:nvSpPr>
          <p:cNvPr id="63" name="Shape 61"/>
          <p:cNvSpPr/>
          <p:nvPr/>
        </p:nvSpPr>
        <p:spPr>
          <a:xfrm>
            <a:off x="8366760" y="2916936"/>
            <a:ext cx="219456" cy="192024"/>
          </a:xfrm>
          <a:prstGeom prst="rect">
            <a:avLst/>
          </a:prstGeom>
          <a:solidFill>
            <a:srgbClr val="6B9BFF"/>
          </a:solidFill>
          <a:ln w="2540">
            <a:solidFill>
              <a:srgbClr val="131D31"/>
            </a:solidFill>
            <a:prstDash val="solid"/>
          </a:ln>
        </p:spPr>
      </p:sp>
      <p:sp>
        <p:nvSpPr>
          <p:cNvPr id="64" name="Shape 62"/>
          <p:cNvSpPr/>
          <p:nvPr/>
        </p:nvSpPr>
        <p:spPr>
          <a:xfrm>
            <a:off x="8641080" y="2916936"/>
            <a:ext cx="219456" cy="192024"/>
          </a:xfrm>
          <a:prstGeom prst="rect">
            <a:avLst/>
          </a:prstGeom>
          <a:solidFill>
            <a:srgbClr val="344561"/>
          </a:solidFill>
          <a:ln w="2540">
            <a:solidFill>
              <a:srgbClr val="131D31"/>
            </a:solidFill>
            <a:prstDash val="solid"/>
          </a:ln>
        </p:spPr>
      </p:sp>
      <p:sp>
        <p:nvSpPr>
          <p:cNvPr id="65" name="Shape 63"/>
          <p:cNvSpPr/>
          <p:nvPr/>
        </p:nvSpPr>
        <p:spPr>
          <a:xfrm>
            <a:off x="8915400" y="2916936"/>
            <a:ext cx="219456" cy="192024"/>
          </a:xfrm>
          <a:prstGeom prst="rect">
            <a:avLst/>
          </a:prstGeom>
          <a:solidFill>
            <a:srgbClr val="FF707C"/>
          </a:solidFill>
          <a:ln w="2540">
            <a:solidFill>
              <a:srgbClr val="131D31"/>
            </a:solidFill>
            <a:prstDash val="solid"/>
          </a:ln>
        </p:spPr>
      </p:sp>
      <p:sp>
        <p:nvSpPr>
          <p:cNvPr id="66" name="Shape 64"/>
          <p:cNvSpPr/>
          <p:nvPr/>
        </p:nvSpPr>
        <p:spPr>
          <a:xfrm>
            <a:off x="9189720" y="2916936"/>
            <a:ext cx="219456" cy="192024"/>
          </a:xfrm>
          <a:prstGeom prst="rect">
            <a:avLst/>
          </a:prstGeom>
          <a:solidFill>
            <a:srgbClr val="FF707C"/>
          </a:solidFill>
          <a:ln w="2540">
            <a:solidFill>
              <a:srgbClr val="131D31"/>
            </a:solidFill>
            <a:prstDash val="solid"/>
          </a:ln>
        </p:spPr>
      </p:sp>
      <p:sp>
        <p:nvSpPr>
          <p:cNvPr id="67" name="Shape 65"/>
          <p:cNvSpPr/>
          <p:nvPr/>
        </p:nvSpPr>
        <p:spPr>
          <a:xfrm>
            <a:off x="9464040" y="2916936"/>
            <a:ext cx="219456" cy="192024"/>
          </a:xfrm>
          <a:prstGeom prst="rect">
            <a:avLst/>
          </a:prstGeom>
          <a:solidFill>
            <a:srgbClr val="6B9BFF"/>
          </a:solidFill>
          <a:ln w="2540">
            <a:solidFill>
              <a:srgbClr val="131D31"/>
            </a:solidFill>
            <a:prstDash val="solid"/>
          </a:ln>
        </p:spPr>
      </p:sp>
      <p:sp>
        <p:nvSpPr>
          <p:cNvPr id="68" name="Shape 66"/>
          <p:cNvSpPr/>
          <p:nvPr/>
        </p:nvSpPr>
        <p:spPr>
          <a:xfrm>
            <a:off x="9738360" y="2916936"/>
            <a:ext cx="219456" cy="192024"/>
          </a:xfrm>
          <a:prstGeom prst="rect">
            <a:avLst/>
          </a:prstGeom>
          <a:solidFill>
            <a:srgbClr val="344561"/>
          </a:solidFill>
          <a:ln w="2540">
            <a:solidFill>
              <a:srgbClr val="131D31"/>
            </a:solidFill>
            <a:prstDash val="solid"/>
          </a:ln>
        </p:spPr>
      </p:sp>
      <p:sp>
        <p:nvSpPr>
          <p:cNvPr id="69" name="Shape 67"/>
          <p:cNvSpPr/>
          <p:nvPr/>
        </p:nvSpPr>
        <p:spPr>
          <a:xfrm>
            <a:off x="8092440" y="3163824"/>
            <a:ext cx="219456" cy="192024"/>
          </a:xfrm>
          <a:prstGeom prst="rect">
            <a:avLst/>
          </a:prstGeom>
          <a:solidFill>
            <a:srgbClr val="6B9BFF"/>
          </a:solidFill>
          <a:ln w="2540">
            <a:solidFill>
              <a:srgbClr val="131D31"/>
            </a:solidFill>
            <a:prstDash val="solid"/>
          </a:ln>
        </p:spPr>
      </p:sp>
      <p:sp>
        <p:nvSpPr>
          <p:cNvPr id="70" name="Shape 68"/>
          <p:cNvSpPr/>
          <p:nvPr/>
        </p:nvSpPr>
        <p:spPr>
          <a:xfrm>
            <a:off x="8366760" y="3163824"/>
            <a:ext cx="219456" cy="192024"/>
          </a:xfrm>
          <a:prstGeom prst="rect">
            <a:avLst/>
          </a:prstGeom>
          <a:solidFill>
            <a:srgbClr val="344561"/>
          </a:solidFill>
          <a:ln w="2540">
            <a:solidFill>
              <a:srgbClr val="131D31"/>
            </a:solidFill>
            <a:prstDash val="solid"/>
          </a:ln>
        </p:spPr>
      </p:sp>
      <p:sp>
        <p:nvSpPr>
          <p:cNvPr id="71" name="Shape 69"/>
          <p:cNvSpPr/>
          <p:nvPr/>
        </p:nvSpPr>
        <p:spPr>
          <a:xfrm>
            <a:off x="8641080" y="3163824"/>
            <a:ext cx="219456" cy="192024"/>
          </a:xfrm>
          <a:prstGeom prst="rect">
            <a:avLst/>
          </a:prstGeom>
          <a:solidFill>
            <a:srgbClr val="6B9BFF"/>
          </a:solidFill>
          <a:ln w="2540">
            <a:solidFill>
              <a:srgbClr val="131D31"/>
            </a:solidFill>
            <a:prstDash val="solid"/>
          </a:ln>
        </p:spPr>
      </p:sp>
      <p:sp>
        <p:nvSpPr>
          <p:cNvPr id="72" name="Shape 70"/>
          <p:cNvSpPr/>
          <p:nvPr/>
        </p:nvSpPr>
        <p:spPr>
          <a:xfrm>
            <a:off x="8915400" y="3163824"/>
            <a:ext cx="219456" cy="192024"/>
          </a:xfrm>
          <a:prstGeom prst="rect">
            <a:avLst/>
          </a:prstGeom>
          <a:solidFill>
            <a:srgbClr val="344561"/>
          </a:solidFill>
          <a:ln w="2540">
            <a:solidFill>
              <a:srgbClr val="131D31"/>
            </a:solidFill>
            <a:prstDash val="solid"/>
          </a:ln>
        </p:spPr>
      </p:sp>
      <p:sp>
        <p:nvSpPr>
          <p:cNvPr id="73" name="Shape 71"/>
          <p:cNvSpPr/>
          <p:nvPr/>
        </p:nvSpPr>
        <p:spPr>
          <a:xfrm>
            <a:off x="9189720" y="3163824"/>
            <a:ext cx="219456" cy="192024"/>
          </a:xfrm>
          <a:prstGeom prst="rect">
            <a:avLst/>
          </a:prstGeom>
          <a:solidFill>
            <a:srgbClr val="FF707C"/>
          </a:solidFill>
          <a:ln w="2540">
            <a:solidFill>
              <a:srgbClr val="131D31"/>
            </a:solidFill>
            <a:prstDash val="solid"/>
          </a:ln>
        </p:spPr>
      </p:sp>
      <p:sp>
        <p:nvSpPr>
          <p:cNvPr id="74" name="Shape 72"/>
          <p:cNvSpPr/>
          <p:nvPr/>
        </p:nvSpPr>
        <p:spPr>
          <a:xfrm>
            <a:off x="9464040" y="3163824"/>
            <a:ext cx="219456" cy="192024"/>
          </a:xfrm>
          <a:prstGeom prst="rect">
            <a:avLst/>
          </a:prstGeom>
          <a:solidFill>
            <a:srgbClr val="344561"/>
          </a:solidFill>
          <a:ln w="2540">
            <a:solidFill>
              <a:srgbClr val="131D31"/>
            </a:solidFill>
            <a:prstDash val="solid"/>
          </a:ln>
        </p:spPr>
      </p:sp>
      <p:sp>
        <p:nvSpPr>
          <p:cNvPr id="75" name="Shape 73"/>
          <p:cNvSpPr/>
          <p:nvPr/>
        </p:nvSpPr>
        <p:spPr>
          <a:xfrm>
            <a:off x="9738360" y="3163824"/>
            <a:ext cx="219456" cy="192024"/>
          </a:xfrm>
          <a:prstGeom prst="rect">
            <a:avLst/>
          </a:prstGeom>
          <a:solidFill>
            <a:srgbClr val="6B9BFF"/>
          </a:solidFill>
          <a:ln w="2540">
            <a:solidFill>
              <a:srgbClr val="131D31"/>
            </a:solidFill>
            <a:prstDash val="solid"/>
          </a:ln>
        </p:spPr>
      </p:sp>
      <p:sp>
        <p:nvSpPr>
          <p:cNvPr id="76" name="Shape 74"/>
          <p:cNvSpPr/>
          <p:nvPr/>
        </p:nvSpPr>
        <p:spPr>
          <a:xfrm>
            <a:off x="8092440" y="3410712"/>
            <a:ext cx="219456" cy="192024"/>
          </a:xfrm>
          <a:prstGeom prst="rect">
            <a:avLst/>
          </a:prstGeom>
          <a:solidFill>
            <a:srgbClr val="344561"/>
          </a:solidFill>
          <a:ln w="2540">
            <a:solidFill>
              <a:srgbClr val="131D31"/>
            </a:solidFill>
            <a:prstDash val="solid"/>
          </a:ln>
        </p:spPr>
      </p:sp>
      <p:sp>
        <p:nvSpPr>
          <p:cNvPr id="77" name="Shape 75"/>
          <p:cNvSpPr/>
          <p:nvPr/>
        </p:nvSpPr>
        <p:spPr>
          <a:xfrm>
            <a:off x="8366760" y="3410712"/>
            <a:ext cx="219456" cy="192024"/>
          </a:xfrm>
          <a:prstGeom prst="rect">
            <a:avLst/>
          </a:prstGeom>
          <a:solidFill>
            <a:srgbClr val="6B9BFF"/>
          </a:solidFill>
          <a:ln w="2540">
            <a:solidFill>
              <a:srgbClr val="131D31"/>
            </a:solidFill>
            <a:prstDash val="solid"/>
          </a:ln>
        </p:spPr>
      </p:sp>
      <p:sp>
        <p:nvSpPr>
          <p:cNvPr id="78" name="Shape 76"/>
          <p:cNvSpPr/>
          <p:nvPr/>
        </p:nvSpPr>
        <p:spPr>
          <a:xfrm>
            <a:off x="8641080" y="3410712"/>
            <a:ext cx="219456" cy="192024"/>
          </a:xfrm>
          <a:prstGeom prst="rect">
            <a:avLst/>
          </a:prstGeom>
          <a:solidFill>
            <a:srgbClr val="344561"/>
          </a:solidFill>
          <a:ln w="2540">
            <a:solidFill>
              <a:srgbClr val="131D31"/>
            </a:solidFill>
            <a:prstDash val="solid"/>
          </a:ln>
        </p:spPr>
      </p:sp>
      <p:sp>
        <p:nvSpPr>
          <p:cNvPr id="79" name="Shape 77"/>
          <p:cNvSpPr/>
          <p:nvPr/>
        </p:nvSpPr>
        <p:spPr>
          <a:xfrm>
            <a:off x="8915400" y="3410712"/>
            <a:ext cx="219456" cy="192024"/>
          </a:xfrm>
          <a:prstGeom prst="rect">
            <a:avLst/>
          </a:prstGeom>
          <a:solidFill>
            <a:srgbClr val="6B9BFF"/>
          </a:solidFill>
          <a:ln w="2540">
            <a:solidFill>
              <a:srgbClr val="131D31"/>
            </a:solidFill>
            <a:prstDash val="solid"/>
          </a:ln>
        </p:spPr>
      </p:sp>
      <p:sp>
        <p:nvSpPr>
          <p:cNvPr id="80" name="Shape 78"/>
          <p:cNvSpPr/>
          <p:nvPr/>
        </p:nvSpPr>
        <p:spPr>
          <a:xfrm>
            <a:off x="9189720" y="3410712"/>
            <a:ext cx="219456" cy="192024"/>
          </a:xfrm>
          <a:prstGeom prst="rect">
            <a:avLst/>
          </a:prstGeom>
          <a:solidFill>
            <a:srgbClr val="344561"/>
          </a:solidFill>
          <a:ln w="2540">
            <a:solidFill>
              <a:srgbClr val="131D31"/>
            </a:solidFill>
            <a:prstDash val="solid"/>
          </a:ln>
        </p:spPr>
      </p:sp>
      <p:sp>
        <p:nvSpPr>
          <p:cNvPr id="81" name="Shape 79"/>
          <p:cNvSpPr/>
          <p:nvPr/>
        </p:nvSpPr>
        <p:spPr>
          <a:xfrm>
            <a:off x="9464040" y="3410712"/>
            <a:ext cx="219456" cy="192024"/>
          </a:xfrm>
          <a:prstGeom prst="rect">
            <a:avLst/>
          </a:prstGeom>
          <a:solidFill>
            <a:srgbClr val="6B9BFF"/>
          </a:solidFill>
          <a:ln w="2540">
            <a:solidFill>
              <a:srgbClr val="131D31"/>
            </a:solidFill>
            <a:prstDash val="solid"/>
          </a:ln>
        </p:spPr>
      </p:sp>
      <p:sp>
        <p:nvSpPr>
          <p:cNvPr id="82" name="Shape 80"/>
          <p:cNvSpPr/>
          <p:nvPr/>
        </p:nvSpPr>
        <p:spPr>
          <a:xfrm>
            <a:off x="9738360" y="3410712"/>
            <a:ext cx="219456" cy="192024"/>
          </a:xfrm>
          <a:prstGeom prst="rect">
            <a:avLst/>
          </a:prstGeom>
          <a:solidFill>
            <a:srgbClr val="344561"/>
          </a:solidFill>
          <a:ln w="2540">
            <a:solidFill>
              <a:srgbClr val="131D31"/>
            </a:solidFill>
            <a:prstDash val="solid"/>
          </a:ln>
        </p:spPr>
      </p:sp>
      <p:sp>
        <p:nvSpPr>
          <p:cNvPr id="83" name="Text 81"/>
          <p:cNvSpPr txBox="1"/>
          <p:nvPr/>
        </p:nvSpPr>
        <p:spPr>
          <a:xfrm>
            <a:off x="8119872" y="3767328"/>
            <a:ext cx="1097280" cy="164592"/>
          </a:xfrm>
          <a:prstGeom prst="rect">
            <a:avLst/>
          </a:prstGeom>
          <a:noFill/>
        </p:spPr>
        <p:txBody>
          <a:bodyPr wrap="square" lIns="0" tIns="0" rIns="0" bIns="0" rtlCol="0" anchor="ctr">
            <a:normAutofit/>
          </a:bodyPr>
          <a:lstStyle/>
          <a:p>
            <a:pPr marL="0" indent="0" algn="l">
              <a:buNone/>
            </a:pPr>
            <a:r>
              <a:rPr lang="en-US" sz="800" b="1" kern="0" spc="100" dirty="0">
                <a:solidFill>
                  <a:srgbClr val="A7B4CE"/>
                </a:solidFill>
                <a:latin typeface="Aptos" pitchFamily="34" charset="0"/>
                <a:ea typeface="Aptos" pitchFamily="34" charset="-122"/>
                <a:cs typeface="Aptos" pitchFamily="34" charset="-120"/>
              </a:rPr>
              <a:t>LAYOUT PATCH</a:t>
            </a:r>
            <a:endParaRPr lang="en-US" sz="800" dirty="0"/>
          </a:p>
        </p:txBody>
      </p:sp>
      <p:sp>
        <p:nvSpPr>
          <p:cNvPr id="84" name="Text 82"/>
          <p:cNvSpPr txBox="1"/>
          <p:nvPr/>
        </p:nvSpPr>
        <p:spPr>
          <a:xfrm>
            <a:off x="9107424" y="3749040"/>
            <a:ext cx="1920240" cy="201168"/>
          </a:xfrm>
          <a:prstGeom prst="rect">
            <a:avLst/>
          </a:prstGeom>
          <a:noFill/>
        </p:spPr>
        <p:txBody>
          <a:bodyPr wrap="square" lIns="0" tIns="0" rIns="0" bIns="0" rtlCol="0" anchor="ctr">
            <a:normAutofit/>
          </a:bodyPr>
          <a:lstStyle/>
          <a:p>
            <a:pPr marL="0" indent="0" algn="l">
              <a:buNone/>
            </a:pPr>
            <a:r>
              <a:rPr lang="en-US" sz="1000" b="1" dirty="0">
                <a:solidFill>
                  <a:srgbClr val="36D6C5"/>
                </a:solidFill>
                <a:latin typeface="Aptos" pitchFamily="34" charset="0"/>
                <a:ea typeface="Aptos" pitchFamily="34" charset="-122"/>
                <a:cs typeface="Aptos" pitchFamily="34" charset="-120"/>
              </a:rPr>
              <a:t>→ CNN → hotspot score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0"/>
          <p:cNvSpPr txBox="1"/>
          <p:nvPr/>
        </p:nvSpPr>
        <p:spPr>
          <a:xfrm>
            <a:off x="621792" y="292608"/>
            <a:ext cx="4572000" cy="219456"/>
          </a:xfrm>
          <a:prstGeom prst="rect">
            <a:avLst/>
          </a:prstGeom>
          <a:noFill/>
        </p:spPr>
        <p:txBody>
          <a:bodyPr wrap="square" lIns="0" tIns="0" rIns="0" bIns="0" rtlCol="0" anchor="ctr">
            <a:normAutofit/>
          </a:bodyPr>
          <a:lstStyle/>
          <a:p>
            <a:pPr marL="0" indent="0" algn="l">
              <a:buNone/>
            </a:pPr>
            <a:r>
              <a:rPr lang="en-US" sz="900" b="1" kern="0" spc="180" dirty="0">
                <a:solidFill>
                  <a:srgbClr val="36D6C5"/>
                </a:solidFill>
                <a:latin typeface="Aptos" pitchFamily="34" charset="0"/>
                <a:ea typeface="Aptos" pitchFamily="34" charset="-122"/>
                <a:cs typeface="Aptos" pitchFamily="34" charset="-120"/>
              </a:rPr>
              <a:t>01  •  MOTIVATION</a:t>
            </a:r>
            <a:endParaRPr lang="en-US" sz="900" dirty="0"/>
          </a:p>
        </p:txBody>
      </p:sp>
      <p:sp>
        <p:nvSpPr>
          <p:cNvPr id="3" name="Text 1"/>
          <p:cNvSpPr txBox="1"/>
          <p:nvPr/>
        </p:nvSpPr>
        <p:spPr>
          <a:xfrm>
            <a:off x="621792" y="612648"/>
            <a:ext cx="10972800" cy="475488"/>
          </a:xfrm>
          <a:prstGeom prst="rect">
            <a:avLst/>
          </a:prstGeom>
          <a:noFill/>
        </p:spPr>
        <p:txBody>
          <a:bodyPr wrap="square" lIns="0" tIns="0" rIns="0" bIns="0" rtlCol="0" anchor="ctr">
            <a:normAutofit/>
          </a:bodyPr>
          <a:lstStyle/>
          <a:p>
            <a:pPr marL="0" indent="0" algn="l">
              <a:buNone/>
            </a:pPr>
            <a:r>
              <a:rPr lang="en-US" sz="2700" b="1" dirty="0">
                <a:solidFill>
                  <a:srgbClr val="F4F7FF"/>
                </a:solidFill>
                <a:latin typeface="Aptos" pitchFamily="34" charset="0"/>
                <a:ea typeface="Aptos" pitchFamily="34" charset="-122"/>
                <a:cs typeface="Aptos" pitchFamily="34" charset="-120"/>
              </a:rPr>
              <a:t>Why lithography hotspot detection?</a:t>
            </a:r>
            <a:endParaRPr lang="en-US" sz="2700" dirty="0"/>
          </a:p>
        </p:txBody>
      </p:sp>
      <p:sp>
        <p:nvSpPr>
          <p:cNvPr id="4" name="Text 2"/>
          <p:cNvSpPr txBox="1"/>
          <p:nvPr/>
        </p:nvSpPr>
        <p:spPr>
          <a:xfrm>
            <a:off x="640080" y="1106424"/>
            <a:ext cx="10789920" cy="292608"/>
          </a:xfrm>
          <a:prstGeom prst="rect">
            <a:avLst/>
          </a:prstGeom>
          <a:noFill/>
        </p:spPr>
        <p:txBody>
          <a:bodyPr wrap="square" lIns="0" tIns="0" rIns="0" bIns="0" rtlCol="0" anchor="ctr">
            <a:normAutofit/>
          </a:bodyPr>
          <a:lstStyle/>
          <a:p>
            <a:pPr marL="0" indent="0" algn="l">
              <a:buNone/>
            </a:pPr>
            <a:r>
              <a:rPr lang="en-US" sz="1200" dirty="0">
                <a:solidFill>
                  <a:srgbClr val="A7B4CE"/>
                </a:solidFill>
                <a:latin typeface="Aptos" pitchFamily="34" charset="0"/>
                <a:ea typeface="Aptos" pitchFamily="34" charset="-122"/>
                <a:cs typeface="Aptos" pitchFamily="34" charset="-120"/>
              </a:rPr>
              <a:t>A layout pattern classification task where both missed hotspots and false alarms matter. [1], [2]</a:t>
            </a:r>
            <a:endParaRPr lang="en-US" sz="1200" dirty="0"/>
          </a:p>
        </p:txBody>
      </p:sp>
      <p:sp>
        <p:nvSpPr>
          <p:cNvPr id="6" name="Shape 4"/>
          <p:cNvSpPr/>
          <p:nvPr/>
        </p:nvSpPr>
        <p:spPr>
          <a:xfrm>
            <a:off x="658368" y="1673352"/>
            <a:ext cx="4709160" cy="1417320"/>
          </a:xfrm>
          <a:prstGeom prst="roundRect">
            <a:avLst>
              <a:gd name="adj" fmla="val 5161"/>
            </a:avLst>
          </a:prstGeom>
          <a:solidFill>
            <a:srgbClr val="131D31"/>
          </a:solidFill>
          <a:ln w="10160">
            <a:solidFill>
              <a:srgbClr val="2B3B58"/>
            </a:solidFill>
            <a:prstDash val="solid"/>
          </a:ln>
        </p:spPr>
      </p:sp>
      <p:sp>
        <p:nvSpPr>
          <p:cNvPr id="7" name="Shape 5"/>
          <p:cNvSpPr/>
          <p:nvPr/>
        </p:nvSpPr>
        <p:spPr>
          <a:xfrm>
            <a:off x="658368" y="1673352"/>
            <a:ext cx="64008" cy="1417320"/>
          </a:xfrm>
          <a:prstGeom prst="rect">
            <a:avLst/>
          </a:prstGeom>
          <a:solidFill>
            <a:srgbClr val="36D6C5"/>
          </a:solidFill>
          <a:ln w="10160">
            <a:solidFill>
              <a:srgbClr val="36D6C5"/>
            </a:solidFill>
            <a:prstDash val="solid"/>
          </a:ln>
        </p:spPr>
      </p:sp>
      <p:sp>
        <p:nvSpPr>
          <p:cNvPr id="8" name="Text 6"/>
          <p:cNvSpPr txBox="1"/>
          <p:nvPr/>
        </p:nvSpPr>
        <p:spPr>
          <a:xfrm>
            <a:off x="859536" y="1828800"/>
            <a:ext cx="4343400" cy="292608"/>
          </a:xfrm>
          <a:prstGeom prst="rect">
            <a:avLst/>
          </a:prstGeom>
          <a:noFill/>
        </p:spPr>
        <p:txBody>
          <a:bodyPr wrap="square" lIns="0" tIns="0" rIns="0" bIns="0" rtlCol="0" anchor="ctr">
            <a:normAutofit/>
          </a:bodyPr>
          <a:lstStyle/>
          <a:p>
            <a:pPr marL="0" indent="0" algn="l">
              <a:buNone/>
            </a:pPr>
            <a:r>
              <a:rPr lang="en-US" sz="1500" b="1" dirty="0">
                <a:solidFill>
                  <a:srgbClr val="F4F7FF"/>
                </a:solidFill>
                <a:latin typeface="Aptos" pitchFamily="34" charset="0"/>
                <a:ea typeface="Aptos" pitchFamily="34" charset="-122"/>
                <a:cs typeface="Aptos" pitchFamily="34" charset="-120"/>
              </a:rPr>
              <a:t>THE TASK</a:t>
            </a:r>
            <a:endParaRPr lang="en-US" sz="1500" dirty="0"/>
          </a:p>
        </p:txBody>
      </p:sp>
      <p:sp>
        <p:nvSpPr>
          <p:cNvPr id="9" name="Text 7"/>
          <p:cNvSpPr txBox="1"/>
          <p:nvPr/>
        </p:nvSpPr>
        <p:spPr>
          <a:xfrm>
            <a:off x="859536" y="2185416"/>
            <a:ext cx="4343400" cy="804672"/>
          </a:xfrm>
          <a:prstGeom prst="rect">
            <a:avLst/>
          </a:prstGeom>
          <a:noFill/>
        </p:spPr>
        <p:txBody>
          <a:bodyPr wrap="square" lIns="0" tIns="0" rIns="0" bIns="0" rtlCol="0" anchor="t">
            <a:normAutofit/>
          </a:bodyPr>
          <a:lstStyle/>
          <a:p>
            <a:pPr marL="0" indent="0" algn="l">
              <a:lnSpc>
                <a:spcPct val="100000"/>
              </a:lnSpc>
              <a:buNone/>
            </a:pPr>
            <a:r>
              <a:rPr lang="en-US" sz="1600" dirty="0">
                <a:solidFill>
                  <a:srgbClr val="A7B4CE"/>
                </a:solidFill>
                <a:latin typeface="Aptos" pitchFamily="34" charset="0"/>
                <a:ea typeface="Aptos" pitchFamily="34" charset="-122"/>
                <a:cs typeface="Aptos" pitchFamily="34" charset="-120"/>
              </a:rPr>
              <a:t>Classify each 64 × 64 layout patch as hotspot (HS) or non hotspot (NHS).</a:t>
            </a:r>
            <a:endParaRPr lang="en-US" sz="1600" dirty="0"/>
          </a:p>
        </p:txBody>
      </p:sp>
      <p:sp>
        <p:nvSpPr>
          <p:cNvPr id="10" name="Shape 8"/>
          <p:cNvSpPr/>
          <p:nvPr/>
        </p:nvSpPr>
        <p:spPr>
          <a:xfrm>
            <a:off x="658368" y="3273552"/>
            <a:ext cx="4709160" cy="1417320"/>
          </a:xfrm>
          <a:prstGeom prst="roundRect">
            <a:avLst>
              <a:gd name="adj" fmla="val 5161"/>
            </a:avLst>
          </a:prstGeom>
          <a:solidFill>
            <a:srgbClr val="131D31"/>
          </a:solidFill>
          <a:ln w="10160">
            <a:solidFill>
              <a:srgbClr val="2B3B58"/>
            </a:solidFill>
            <a:prstDash val="solid"/>
          </a:ln>
        </p:spPr>
      </p:sp>
      <p:sp>
        <p:nvSpPr>
          <p:cNvPr id="11" name="Shape 9"/>
          <p:cNvSpPr/>
          <p:nvPr/>
        </p:nvSpPr>
        <p:spPr>
          <a:xfrm>
            <a:off x="658368" y="3273552"/>
            <a:ext cx="64008" cy="1417320"/>
          </a:xfrm>
          <a:prstGeom prst="rect">
            <a:avLst/>
          </a:prstGeom>
          <a:solidFill>
            <a:srgbClr val="FFB65E"/>
          </a:solidFill>
          <a:ln w="10160">
            <a:solidFill>
              <a:srgbClr val="FFB65E"/>
            </a:solidFill>
            <a:prstDash val="solid"/>
          </a:ln>
        </p:spPr>
      </p:sp>
      <p:sp>
        <p:nvSpPr>
          <p:cNvPr id="12" name="Text 10"/>
          <p:cNvSpPr txBox="1"/>
          <p:nvPr/>
        </p:nvSpPr>
        <p:spPr>
          <a:xfrm>
            <a:off x="859536" y="3429000"/>
            <a:ext cx="4343400" cy="292608"/>
          </a:xfrm>
          <a:prstGeom prst="rect">
            <a:avLst/>
          </a:prstGeom>
          <a:noFill/>
        </p:spPr>
        <p:txBody>
          <a:bodyPr wrap="square" lIns="0" tIns="0" rIns="0" bIns="0" rtlCol="0" anchor="ctr">
            <a:normAutofit/>
          </a:bodyPr>
          <a:lstStyle/>
          <a:p>
            <a:pPr marL="0" indent="0" algn="l">
              <a:buNone/>
            </a:pPr>
            <a:r>
              <a:rPr lang="en-US" sz="1500" b="1" dirty="0">
                <a:solidFill>
                  <a:srgbClr val="F4F7FF"/>
                </a:solidFill>
                <a:latin typeface="Aptos" pitchFamily="34" charset="0"/>
                <a:ea typeface="Aptos" pitchFamily="34" charset="-122"/>
                <a:cs typeface="Aptos" pitchFamily="34" charset="-120"/>
              </a:rPr>
              <a:t>THE CHALLENGE</a:t>
            </a:r>
            <a:endParaRPr lang="en-US" sz="1500" dirty="0"/>
          </a:p>
        </p:txBody>
      </p:sp>
      <p:sp>
        <p:nvSpPr>
          <p:cNvPr id="13" name="Text 11"/>
          <p:cNvSpPr txBox="1"/>
          <p:nvPr/>
        </p:nvSpPr>
        <p:spPr>
          <a:xfrm>
            <a:off x="859536" y="3785616"/>
            <a:ext cx="4343400" cy="804672"/>
          </a:xfrm>
          <a:prstGeom prst="rect">
            <a:avLst/>
          </a:prstGeom>
          <a:noFill/>
        </p:spPr>
        <p:txBody>
          <a:bodyPr wrap="square" lIns="0" tIns="0" rIns="0" bIns="0" rtlCol="0" anchor="t">
            <a:normAutofit/>
          </a:bodyPr>
          <a:lstStyle/>
          <a:p>
            <a:pPr marL="0" indent="0" algn="l">
              <a:lnSpc>
                <a:spcPct val="100000"/>
              </a:lnSpc>
              <a:buNone/>
            </a:pPr>
            <a:r>
              <a:rPr lang="en-US" sz="1500" dirty="0">
                <a:solidFill>
                  <a:srgbClr val="A7B4CE"/>
                </a:solidFill>
                <a:latin typeface="Aptos" pitchFamily="34" charset="0"/>
                <a:ea typeface="Aptos" pitchFamily="34" charset="-122"/>
                <a:cs typeface="Aptos" pitchFamily="34" charset="-120"/>
              </a:rPr>
              <a:t>Hotspots are rare relative to non hotspots. Accuracy alone can hide failure on the minority class.</a:t>
            </a:r>
            <a:endParaRPr lang="en-US" sz="1500" dirty="0"/>
          </a:p>
        </p:txBody>
      </p:sp>
      <p:sp>
        <p:nvSpPr>
          <p:cNvPr id="14" name="Shape 12"/>
          <p:cNvSpPr/>
          <p:nvPr/>
        </p:nvSpPr>
        <p:spPr>
          <a:xfrm>
            <a:off x="5715000" y="1673352"/>
            <a:ext cx="5760720" cy="3017520"/>
          </a:xfrm>
          <a:prstGeom prst="roundRect">
            <a:avLst>
              <a:gd name="adj" fmla="val 2424"/>
            </a:avLst>
          </a:prstGeom>
          <a:solidFill>
            <a:srgbClr val="131D31"/>
          </a:solidFill>
          <a:ln w="10160">
            <a:solidFill>
              <a:srgbClr val="2B3B58"/>
            </a:solidFill>
            <a:prstDash val="solid"/>
          </a:ln>
        </p:spPr>
      </p:sp>
      <p:sp>
        <p:nvSpPr>
          <p:cNvPr id="15" name="Text 13"/>
          <p:cNvSpPr txBox="1"/>
          <p:nvPr/>
        </p:nvSpPr>
        <p:spPr>
          <a:xfrm>
            <a:off x="5998464" y="1874520"/>
            <a:ext cx="3383280" cy="201168"/>
          </a:xfrm>
          <a:prstGeom prst="rect">
            <a:avLst/>
          </a:prstGeom>
          <a:noFill/>
        </p:spPr>
        <p:txBody>
          <a:bodyPr wrap="square" lIns="0" tIns="0" rIns="0" bIns="0" rtlCol="0" anchor="ctr">
            <a:normAutofit/>
          </a:bodyPr>
          <a:lstStyle/>
          <a:p>
            <a:pPr marL="0" indent="0" algn="l">
              <a:buNone/>
            </a:pPr>
            <a:r>
              <a:rPr lang="en-US" sz="900" b="1" kern="0" spc="120" dirty="0">
                <a:solidFill>
                  <a:srgbClr val="A7B4CE"/>
                </a:solidFill>
                <a:latin typeface="Aptos" pitchFamily="34" charset="0"/>
                <a:ea typeface="Aptos" pitchFamily="34" charset="-122"/>
                <a:cs typeface="Aptos" pitchFamily="34" charset="-120"/>
              </a:rPr>
              <a:t>ILLUSTRATIVE LAYOUT PATCH</a:t>
            </a:r>
            <a:endParaRPr lang="en-US" sz="900" dirty="0"/>
          </a:p>
        </p:txBody>
      </p:sp>
      <p:sp>
        <p:nvSpPr>
          <p:cNvPr id="16" name="Shape 14"/>
          <p:cNvSpPr/>
          <p:nvPr/>
        </p:nvSpPr>
        <p:spPr>
          <a:xfrm>
            <a:off x="6080760" y="2359152"/>
            <a:ext cx="201168" cy="192024"/>
          </a:xfrm>
          <a:prstGeom prst="rect">
            <a:avLst/>
          </a:prstGeom>
          <a:solidFill>
            <a:srgbClr val="3B5070"/>
          </a:solidFill>
          <a:ln w="2540">
            <a:solidFill>
              <a:srgbClr val="131D31"/>
            </a:solidFill>
            <a:prstDash val="solid"/>
          </a:ln>
        </p:spPr>
      </p:sp>
      <p:sp>
        <p:nvSpPr>
          <p:cNvPr id="17" name="Shape 15"/>
          <p:cNvSpPr/>
          <p:nvPr/>
        </p:nvSpPr>
        <p:spPr>
          <a:xfrm>
            <a:off x="6327648" y="2359152"/>
            <a:ext cx="201168" cy="192024"/>
          </a:xfrm>
          <a:prstGeom prst="rect">
            <a:avLst/>
          </a:prstGeom>
          <a:solidFill>
            <a:srgbClr val="263954"/>
          </a:solidFill>
          <a:ln w="2540">
            <a:solidFill>
              <a:srgbClr val="131D31"/>
            </a:solidFill>
            <a:prstDash val="solid"/>
          </a:ln>
        </p:spPr>
      </p:sp>
      <p:sp>
        <p:nvSpPr>
          <p:cNvPr id="18" name="Shape 16"/>
          <p:cNvSpPr/>
          <p:nvPr/>
        </p:nvSpPr>
        <p:spPr>
          <a:xfrm>
            <a:off x="6574536" y="2359152"/>
            <a:ext cx="201168" cy="192024"/>
          </a:xfrm>
          <a:prstGeom prst="rect">
            <a:avLst/>
          </a:prstGeom>
          <a:solidFill>
            <a:srgbClr val="263954"/>
          </a:solidFill>
          <a:ln w="2540">
            <a:solidFill>
              <a:srgbClr val="131D31"/>
            </a:solidFill>
            <a:prstDash val="solid"/>
          </a:ln>
        </p:spPr>
      </p:sp>
      <p:sp>
        <p:nvSpPr>
          <p:cNvPr id="19" name="Shape 17"/>
          <p:cNvSpPr/>
          <p:nvPr/>
        </p:nvSpPr>
        <p:spPr>
          <a:xfrm>
            <a:off x="6821424" y="2359152"/>
            <a:ext cx="201168" cy="192024"/>
          </a:xfrm>
          <a:prstGeom prst="rect">
            <a:avLst/>
          </a:prstGeom>
          <a:solidFill>
            <a:srgbClr val="3B5070"/>
          </a:solidFill>
          <a:ln w="2540">
            <a:solidFill>
              <a:srgbClr val="131D31"/>
            </a:solidFill>
            <a:prstDash val="solid"/>
          </a:ln>
        </p:spPr>
      </p:sp>
      <p:sp>
        <p:nvSpPr>
          <p:cNvPr id="20" name="Shape 18"/>
          <p:cNvSpPr/>
          <p:nvPr/>
        </p:nvSpPr>
        <p:spPr>
          <a:xfrm>
            <a:off x="7068312" y="2359152"/>
            <a:ext cx="201168" cy="192024"/>
          </a:xfrm>
          <a:prstGeom prst="rect">
            <a:avLst/>
          </a:prstGeom>
          <a:solidFill>
            <a:srgbClr val="263954"/>
          </a:solidFill>
          <a:ln w="2540">
            <a:solidFill>
              <a:srgbClr val="131D31"/>
            </a:solidFill>
            <a:prstDash val="solid"/>
          </a:ln>
        </p:spPr>
      </p:sp>
      <p:sp>
        <p:nvSpPr>
          <p:cNvPr id="21" name="Shape 19"/>
          <p:cNvSpPr/>
          <p:nvPr/>
        </p:nvSpPr>
        <p:spPr>
          <a:xfrm>
            <a:off x="7315200" y="2359152"/>
            <a:ext cx="201168" cy="192024"/>
          </a:xfrm>
          <a:prstGeom prst="rect">
            <a:avLst/>
          </a:prstGeom>
          <a:solidFill>
            <a:srgbClr val="263954"/>
          </a:solidFill>
          <a:ln w="2540">
            <a:solidFill>
              <a:srgbClr val="131D31"/>
            </a:solidFill>
            <a:prstDash val="solid"/>
          </a:ln>
        </p:spPr>
      </p:sp>
      <p:sp>
        <p:nvSpPr>
          <p:cNvPr id="22" name="Shape 20"/>
          <p:cNvSpPr/>
          <p:nvPr/>
        </p:nvSpPr>
        <p:spPr>
          <a:xfrm>
            <a:off x="7562088" y="2359152"/>
            <a:ext cx="201168" cy="192024"/>
          </a:xfrm>
          <a:prstGeom prst="rect">
            <a:avLst/>
          </a:prstGeom>
          <a:solidFill>
            <a:srgbClr val="3B5070"/>
          </a:solidFill>
          <a:ln w="2540">
            <a:solidFill>
              <a:srgbClr val="131D31"/>
            </a:solidFill>
            <a:prstDash val="solid"/>
          </a:ln>
        </p:spPr>
      </p:sp>
      <p:sp>
        <p:nvSpPr>
          <p:cNvPr id="23" name="Shape 21"/>
          <p:cNvSpPr/>
          <p:nvPr/>
        </p:nvSpPr>
        <p:spPr>
          <a:xfrm>
            <a:off x="7808976" y="2359152"/>
            <a:ext cx="201168" cy="192024"/>
          </a:xfrm>
          <a:prstGeom prst="rect">
            <a:avLst/>
          </a:prstGeom>
          <a:solidFill>
            <a:srgbClr val="263954"/>
          </a:solidFill>
          <a:ln w="2540">
            <a:solidFill>
              <a:srgbClr val="131D31"/>
            </a:solidFill>
            <a:prstDash val="solid"/>
          </a:ln>
        </p:spPr>
      </p:sp>
      <p:sp>
        <p:nvSpPr>
          <p:cNvPr id="24" name="Shape 22"/>
          <p:cNvSpPr/>
          <p:nvPr/>
        </p:nvSpPr>
        <p:spPr>
          <a:xfrm>
            <a:off x="8055864" y="2359152"/>
            <a:ext cx="201168" cy="192024"/>
          </a:xfrm>
          <a:prstGeom prst="rect">
            <a:avLst/>
          </a:prstGeom>
          <a:solidFill>
            <a:srgbClr val="263954"/>
          </a:solidFill>
          <a:ln w="2540">
            <a:solidFill>
              <a:srgbClr val="131D31"/>
            </a:solidFill>
            <a:prstDash val="solid"/>
          </a:ln>
        </p:spPr>
      </p:sp>
      <p:sp>
        <p:nvSpPr>
          <p:cNvPr id="25" name="Shape 23"/>
          <p:cNvSpPr/>
          <p:nvPr/>
        </p:nvSpPr>
        <p:spPr>
          <a:xfrm>
            <a:off x="8302752" y="2359152"/>
            <a:ext cx="201168" cy="192024"/>
          </a:xfrm>
          <a:prstGeom prst="rect">
            <a:avLst/>
          </a:prstGeom>
          <a:solidFill>
            <a:srgbClr val="3B5070"/>
          </a:solidFill>
          <a:ln w="2540">
            <a:solidFill>
              <a:srgbClr val="131D31"/>
            </a:solidFill>
            <a:prstDash val="solid"/>
          </a:ln>
        </p:spPr>
      </p:sp>
      <p:sp>
        <p:nvSpPr>
          <p:cNvPr id="26" name="Shape 24"/>
          <p:cNvSpPr/>
          <p:nvPr/>
        </p:nvSpPr>
        <p:spPr>
          <a:xfrm>
            <a:off x="6080760" y="2606040"/>
            <a:ext cx="201168" cy="192024"/>
          </a:xfrm>
          <a:prstGeom prst="rect">
            <a:avLst/>
          </a:prstGeom>
          <a:solidFill>
            <a:srgbClr val="263954"/>
          </a:solidFill>
          <a:ln w="2540">
            <a:solidFill>
              <a:srgbClr val="131D31"/>
            </a:solidFill>
            <a:prstDash val="solid"/>
          </a:ln>
        </p:spPr>
      </p:sp>
      <p:sp>
        <p:nvSpPr>
          <p:cNvPr id="27" name="Shape 25"/>
          <p:cNvSpPr/>
          <p:nvPr/>
        </p:nvSpPr>
        <p:spPr>
          <a:xfrm>
            <a:off x="6327648" y="2606040"/>
            <a:ext cx="201168" cy="192024"/>
          </a:xfrm>
          <a:prstGeom prst="rect">
            <a:avLst/>
          </a:prstGeom>
          <a:solidFill>
            <a:srgbClr val="263954"/>
          </a:solidFill>
          <a:ln w="2540">
            <a:solidFill>
              <a:srgbClr val="131D31"/>
            </a:solidFill>
            <a:prstDash val="solid"/>
          </a:ln>
        </p:spPr>
      </p:sp>
      <p:sp>
        <p:nvSpPr>
          <p:cNvPr id="28" name="Shape 26"/>
          <p:cNvSpPr/>
          <p:nvPr/>
        </p:nvSpPr>
        <p:spPr>
          <a:xfrm>
            <a:off x="6574536" y="2606040"/>
            <a:ext cx="201168" cy="192024"/>
          </a:xfrm>
          <a:prstGeom prst="rect">
            <a:avLst/>
          </a:prstGeom>
          <a:solidFill>
            <a:srgbClr val="3B5070"/>
          </a:solidFill>
          <a:ln w="2540">
            <a:solidFill>
              <a:srgbClr val="131D31"/>
            </a:solidFill>
            <a:prstDash val="solid"/>
          </a:ln>
        </p:spPr>
      </p:sp>
      <p:sp>
        <p:nvSpPr>
          <p:cNvPr id="29" name="Shape 27"/>
          <p:cNvSpPr/>
          <p:nvPr/>
        </p:nvSpPr>
        <p:spPr>
          <a:xfrm>
            <a:off x="6821424" y="2606040"/>
            <a:ext cx="201168" cy="192024"/>
          </a:xfrm>
          <a:prstGeom prst="rect">
            <a:avLst/>
          </a:prstGeom>
          <a:solidFill>
            <a:srgbClr val="263954"/>
          </a:solidFill>
          <a:ln w="2540">
            <a:solidFill>
              <a:srgbClr val="131D31"/>
            </a:solidFill>
            <a:prstDash val="solid"/>
          </a:ln>
        </p:spPr>
      </p:sp>
      <p:sp>
        <p:nvSpPr>
          <p:cNvPr id="30" name="Shape 28"/>
          <p:cNvSpPr/>
          <p:nvPr/>
        </p:nvSpPr>
        <p:spPr>
          <a:xfrm>
            <a:off x="7068312" y="2606040"/>
            <a:ext cx="201168" cy="192024"/>
          </a:xfrm>
          <a:prstGeom prst="rect">
            <a:avLst/>
          </a:prstGeom>
          <a:solidFill>
            <a:srgbClr val="263954"/>
          </a:solidFill>
          <a:ln w="2540">
            <a:solidFill>
              <a:srgbClr val="131D31"/>
            </a:solidFill>
            <a:prstDash val="solid"/>
          </a:ln>
        </p:spPr>
      </p:sp>
      <p:sp>
        <p:nvSpPr>
          <p:cNvPr id="31" name="Shape 29"/>
          <p:cNvSpPr/>
          <p:nvPr/>
        </p:nvSpPr>
        <p:spPr>
          <a:xfrm>
            <a:off x="7315200" y="2606040"/>
            <a:ext cx="201168" cy="192024"/>
          </a:xfrm>
          <a:prstGeom prst="rect">
            <a:avLst/>
          </a:prstGeom>
          <a:solidFill>
            <a:srgbClr val="3B5070"/>
          </a:solidFill>
          <a:ln w="2540">
            <a:solidFill>
              <a:srgbClr val="131D31"/>
            </a:solidFill>
            <a:prstDash val="solid"/>
          </a:ln>
        </p:spPr>
      </p:sp>
      <p:sp>
        <p:nvSpPr>
          <p:cNvPr id="32" name="Shape 30"/>
          <p:cNvSpPr/>
          <p:nvPr/>
        </p:nvSpPr>
        <p:spPr>
          <a:xfrm>
            <a:off x="7562088" y="2606040"/>
            <a:ext cx="201168" cy="192024"/>
          </a:xfrm>
          <a:prstGeom prst="rect">
            <a:avLst/>
          </a:prstGeom>
          <a:solidFill>
            <a:srgbClr val="263954"/>
          </a:solidFill>
          <a:ln w="2540">
            <a:solidFill>
              <a:srgbClr val="131D31"/>
            </a:solidFill>
            <a:prstDash val="solid"/>
          </a:ln>
        </p:spPr>
      </p:sp>
      <p:sp>
        <p:nvSpPr>
          <p:cNvPr id="33" name="Shape 31"/>
          <p:cNvSpPr/>
          <p:nvPr/>
        </p:nvSpPr>
        <p:spPr>
          <a:xfrm>
            <a:off x="7808976" y="2606040"/>
            <a:ext cx="201168" cy="192024"/>
          </a:xfrm>
          <a:prstGeom prst="rect">
            <a:avLst/>
          </a:prstGeom>
          <a:solidFill>
            <a:srgbClr val="263954"/>
          </a:solidFill>
          <a:ln w="2540">
            <a:solidFill>
              <a:srgbClr val="131D31"/>
            </a:solidFill>
            <a:prstDash val="solid"/>
          </a:ln>
        </p:spPr>
      </p:sp>
      <p:sp>
        <p:nvSpPr>
          <p:cNvPr id="34" name="Shape 32"/>
          <p:cNvSpPr/>
          <p:nvPr/>
        </p:nvSpPr>
        <p:spPr>
          <a:xfrm>
            <a:off x="8055864" y="2606040"/>
            <a:ext cx="201168" cy="192024"/>
          </a:xfrm>
          <a:prstGeom prst="rect">
            <a:avLst/>
          </a:prstGeom>
          <a:solidFill>
            <a:srgbClr val="3B5070"/>
          </a:solidFill>
          <a:ln w="2540">
            <a:solidFill>
              <a:srgbClr val="131D31"/>
            </a:solidFill>
            <a:prstDash val="solid"/>
          </a:ln>
        </p:spPr>
      </p:sp>
      <p:sp>
        <p:nvSpPr>
          <p:cNvPr id="35" name="Shape 33"/>
          <p:cNvSpPr/>
          <p:nvPr/>
        </p:nvSpPr>
        <p:spPr>
          <a:xfrm>
            <a:off x="8302752" y="2606040"/>
            <a:ext cx="201168" cy="192024"/>
          </a:xfrm>
          <a:prstGeom prst="rect">
            <a:avLst/>
          </a:prstGeom>
          <a:solidFill>
            <a:srgbClr val="263954"/>
          </a:solidFill>
          <a:ln w="2540">
            <a:solidFill>
              <a:srgbClr val="131D31"/>
            </a:solidFill>
            <a:prstDash val="solid"/>
          </a:ln>
        </p:spPr>
      </p:sp>
      <p:sp>
        <p:nvSpPr>
          <p:cNvPr id="36" name="Shape 34"/>
          <p:cNvSpPr/>
          <p:nvPr/>
        </p:nvSpPr>
        <p:spPr>
          <a:xfrm>
            <a:off x="6080760" y="2852928"/>
            <a:ext cx="201168" cy="192024"/>
          </a:xfrm>
          <a:prstGeom prst="rect">
            <a:avLst/>
          </a:prstGeom>
          <a:solidFill>
            <a:srgbClr val="263954"/>
          </a:solidFill>
          <a:ln w="2540">
            <a:solidFill>
              <a:srgbClr val="131D31"/>
            </a:solidFill>
            <a:prstDash val="solid"/>
          </a:ln>
        </p:spPr>
      </p:sp>
      <p:sp>
        <p:nvSpPr>
          <p:cNvPr id="37" name="Shape 35"/>
          <p:cNvSpPr/>
          <p:nvPr/>
        </p:nvSpPr>
        <p:spPr>
          <a:xfrm>
            <a:off x="6327648" y="2852928"/>
            <a:ext cx="201168" cy="192024"/>
          </a:xfrm>
          <a:prstGeom prst="rect">
            <a:avLst/>
          </a:prstGeom>
          <a:solidFill>
            <a:srgbClr val="3B5070"/>
          </a:solidFill>
          <a:ln w="2540">
            <a:solidFill>
              <a:srgbClr val="131D31"/>
            </a:solidFill>
            <a:prstDash val="solid"/>
          </a:ln>
        </p:spPr>
      </p:sp>
      <p:sp>
        <p:nvSpPr>
          <p:cNvPr id="38" name="Shape 36"/>
          <p:cNvSpPr/>
          <p:nvPr/>
        </p:nvSpPr>
        <p:spPr>
          <a:xfrm>
            <a:off x="6574536" y="2852928"/>
            <a:ext cx="201168" cy="192024"/>
          </a:xfrm>
          <a:prstGeom prst="rect">
            <a:avLst/>
          </a:prstGeom>
          <a:solidFill>
            <a:srgbClr val="263954"/>
          </a:solidFill>
          <a:ln w="2540">
            <a:solidFill>
              <a:srgbClr val="131D31"/>
            </a:solidFill>
            <a:prstDash val="solid"/>
          </a:ln>
        </p:spPr>
      </p:sp>
      <p:sp>
        <p:nvSpPr>
          <p:cNvPr id="39" name="Shape 37"/>
          <p:cNvSpPr/>
          <p:nvPr/>
        </p:nvSpPr>
        <p:spPr>
          <a:xfrm>
            <a:off x="6821424" y="2852928"/>
            <a:ext cx="201168" cy="192024"/>
          </a:xfrm>
          <a:prstGeom prst="rect">
            <a:avLst/>
          </a:prstGeom>
          <a:solidFill>
            <a:srgbClr val="263954"/>
          </a:solidFill>
          <a:ln w="2540">
            <a:solidFill>
              <a:srgbClr val="131D31"/>
            </a:solidFill>
            <a:prstDash val="solid"/>
          </a:ln>
        </p:spPr>
      </p:sp>
      <p:sp>
        <p:nvSpPr>
          <p:cNvPr id="40" name="Shape 38"/>
          <p:cNvSpPr/>
          <p:nvPr/>
        </p:nvSpPr>
        <p:spPr>
          <a:xfrm>
            <a:off x="7068312" y="2852928"/>
            <a:ext cx="201168" cy="192024"/>
          </a:xfrm>
          <a:prstGeom prst="rect">
            <a:avLst/>
          </a:prstGeom>
          <a:solidFill>
            <a:srgbClr val="3B5070"/>
          </a:solidFill>
          <a:ln w="2540">
            <a:solidFill>
              <a:srgbClr val="131D31"/>
            </a:solidFill>
            <a:prstDash val="solid"/>
          </a:ln>
        </p:spPr>
      </p:sp>
      <p:sp>
        <p:nvSpPr>
          <p:cNvPr id="41" name="Shape 39"/>
          <p:cNvSpPr/>
          <p:nvPr/>
        </p:nvSpPr>
        <p:spPr>
          <a:xfrm>
            <a:off x="7315200" y="2852928"/>
            <a:ext cx="201168" cy="192024"/>
          </a:xfrm>
          <a:prstGeom prst="rect">
            <a:avLst/>
          </a:prstGeom>
          <a:solidFill>
            <a:srgbClr val="263954"/>
          </a:solidFill>
          <a:ln w="2540">
            <a:solidFill>
              <a:srgbClr val="131D31"/>
            </a:solidFill>
            <a:prstDash val="solid"/>
          </a:ln>
        </p:spPr>
      </p:sp>
      <p:sp>
        <p:nvSpPr>
          <p:cNvPr id="42" name="Shape 40"/>
          <p:cNvSpPr/>
          <p:nvPr/>
        </p:nvSpPr>
        <p:spPr>
          <a:xfrm>
            <a:off x="7562088" y="2852928"/>
            <a:ext cx="201168" cy="192024"/>
          </a:xfrm>
          <a:prstGeom prst="rect">
            <a:avLst/>
          </a:prstGeom>
          <a:solidFill>
            <a:srgbClr val="FF707C"/>
          </a:solidFill>
          <a:ln w="2540">
            <a:solidFill>
              <a:srgbClr val="131D31"/>
            </a:solidFill>
            <a:prstDash val="solid"/>
          </a:ln>
        </p:spPr>
      </p:sp>
      <p:sp>
        <p:nvSpPr>
          <p:cNvPr id="43" name="Shape 41"/>
          <p:cNvSpPr/>
          <p:nvPr/>
        </p:nvSpPr>
        <p:spPr>
          <a:xfrm>
            <a:off x="7808976" y="2852928"/>
            <a:ext cx="201168" cy="192024"/>
          </a:xfrm>
          <a:prstGeom prst="rect">
            <a:avLst/>
          </a:prstGeom>
          <a:solidFill>
            <a:srgbClr val="3B5070"/>
          </a:solidFill>
          <a:ln w="2540">
            <a:solidFill>
              <a:srgbClr val="131D31"/>
            </a:solidFill>
            <a:prstDash val="solid"/>
          </a:ln>
        </p:spPr>
      </p:sp>
      <p:sp>
        <p:nvSpPr>
          <p:cNvPr id="44" name="Shape 42"/>
          <p:cNvSpPr/>
          <p:nvPr/>
        </p:nvSpPr>
        <p:spPr>
          <a:xfrm>
            <a:off x="8055864" y="2852928"/>
            <a:ext cx="201168" cy="192024"/>
          </a:xfrm>
          <a:prstGeom prst="rect">
            <a:avLst/>
          </a:prstGeom>
          <a:solidFill>
            <a:srgbClr val="263954"/>
          </a:solidFill>
          <a:ln w="2540">
            <a:solidFill>
              <a:srgbClr val="131D31"/>
            </a:solidFill>
            <a:prstDash val="solid"/>
          </a:ln>
        </p:spPr>
      </p:sp>
      <p:sp>
        <p:nvSpPr>
          <p:cNvPr id="45" name="Shape 43"/>
          <p:cNvSpPr/>
          <p:nvPr/>
        </p:nvSpPr>
        <p:spPr>
          <a:xfrm>
            <a:off x="8302752" y="2852928"/>
            <a:ext cx="201168" cy="192024"/>
          </a:xfrm>
          <a:prstGeom prst="rect">
            <a:avLst/>
          </a:prstGeom>
          <a:solidFill>
            <a:srgbClr val="263954"/>
          </a:solidFill>
          <a:ln w="2540">
            <a:solidFill>
              <a:srgbClr val="131D31"/>
            </a:solidFill>
            <a:prstDash val="solid"/>
          </a:ln>
        </p:spPr>
      </p:sp>
      <p:sp>
        <p:nvSpPr>
          <p:cNvPr id="46" name="Shape 44"/>
          <p:cNvSpPr/>
          <p:nvPr/>
        </p:nvSpPr>
        <p:spPr>
          <a:xfrm>
            <a:off x="6080760" y="3099816"/>
            <a:ext cx="201168" cy="192024"/>
          </a:xfrm>
          <a:prstGeom prst="rect">
            <a:avLst/>
          </a:prstGeom>
          <a:solidFill>
            <a:srgbClr val="3B5070"/>
          </a:solidFill>
          <a:ln w="2540">
            <a:solidFill>
              <a:srgbClr val="131D31"/>
            </a:solidFill>
            <a:prstDash val="solid"/>
          </a:ln>
        </p:spPr>
      </p:sp>
      <p:sp>
        <p:nvSpPr>
          <p:cNvPr id="47" name="Shape 45"/>
          <p:cNvSpPr/>
          <p:nvPr/>
        </p:nvSpPr>
        <p:spPr>
          <a:xfrm>
            <a:off x="6327648" y="3099816"/>
            <a:ext cx="201168" cy="192024"/>
          </a:xfrm>
          <a:prstGeom prst="rect">
            <a:avLst/>
          </a:prstGeom>
          <a:solidFill>
            <a:srgbClr val="263954"/>
          </a:solidFill>
          <a:ln w="2540">
            <a:solidFill>
              <a:srgbClr val="131D31"/>
            </a:solidFill>
            <a:prstDash val="solid"/>
          </a:ln>
        </p:spPr>
      </p:sp>
      <p:sp>
        <p:nvSpPr>
          <p:cNvPr id="48" name="Shape 46"/>
          <p:cNvSpPr/>
          <p:nvPr/>
        </p:nvSpPr>
        <p:spPr>
          <a:xfrm>
            <a:off x="6574536" y="3099816"/>
            <a:ext cx="201168" cy="192024"/>
          </a:xfrm>
          <a:prstGeom prst="rect">
            <a:avLst/>
          </a:prstGeom>
          <a:solidFill>
            <a:srgbClr val="263954"/>
          </a:solidFill>
          <a:ln w="2540">
            <a:solidFill>
              <a:srgbClr val="131D31"/>
            </a:solidFill>
            <a:prstDash val="solid"/>
          </a:ln>
        </p:spPr>
      </p:sp>
      <p:sp>
        <p:nvSpPr>
          <p:cNvPr id="49" name="Shape 47"/>
          <p:cNvSpPr/>
          <p:nvPr/>
        </p:nvSpPr>
        <p:spPr>
          <a:xfrm>
            <a:off x="6821424" y="3099816"/>
            <a:ext cx="201168" cy="192024"/>
          </a:xfrm>
          <a:prstGeom prst="rect">
            <a:avLst/>
          </a:prstGeom>
          <a:solidFill>
            <a:srgbClr val="3B5070"/>
          </a:solidFill>
          <a:ln w="2540">
            <a:solidFill>
              <a:srgbClr val="131D31"/>
            </a:solidFill>
            <a:prstDash val="solid"/>
          </a:ln>
        </p:spPr>
      </p:sp>
      <p:sp>
        <p:nvSpPr>
          <p:cNvPr id="50" name="Shape 48"/>
          <p:cNvSpPr/>
          <p:nvPr/>
        </p:nvSpPr>
        <p:spPr>
          <a:xfrm>
            <a:off x="7068312" y="3099816"/>
            <a:ext cx="201168" cy="192024"/>
          </a:xfrm>
          <a:prstGeom prst="rect">
            <a:avLst/>
          </a:prstGeom>
          <a:solidFill>
            <a:srgbClr val="263954"/>
          </a:solidFill>
          <a:ln w="2540">
            <a:solidFill>
              <a:srgbClr val="131D31"/>
            </a:solidFill>
            <a:prstDash val="solid"/>
          </a:ln>
        </p:spPr>
      </p:sp>
      <p:sp>
        <p:nvSpPr>
          <p:cNvPr id="51" name="Shape 49"/>
          <p:cNvSpPr/>
          <p:nvPr/>
        </p:nvSpPr>
        <p:spPr>
          <a:xfrm>
            <a:off x="7315200" y="3099816"/>
            <a:ext cx="201168" cy="192024"/>
          </a:xfrm>
          <a:prstGeom prst="rect">
            <a:avLst/>
          </a:prstGeom>
          <a:solidFill>
            <a:srgbClr val="FF707C"/>
          </a:solidFill>
          <a:ln w="2540">
            <a:solidFill>
              <a:srgbClr val="131D31"/>
            </a:solidFill>
            <a:prstDash val="solid"/>
          </a:ln>
        </p:spPr>
      </p:sp>
      <p:sp>
        <p:nvSpPr>
          <p:cNvPr id="52" name="Shape 50"/>
          <p:cNvSpPr/>
          <p:nvPr/>
        </p:nvSpPr>
        <p:spPr>
          <a:xfrm>
            <a:off x="7562088" y="3099816"/>
            <a:ext cx="201168" cy="192024"/>
          </a:xfrm>
          <a:prstGeom prst="rect">
            <a:avLst/>
          </a:prstGeom>
          <a:solidFill>
            <a:srgbClr val="FF707C"/>
          </a:solidFill>
          <a:ln w="2540">
            <a:solidFill>
              <a:srgbClr val="131D31"/>
            </a:solidFill>
            <a:prstDash val="solid"/>
          </a:ln>
        </p:spPr>
      </p:sp>
      <p:sp>
        <p:nvSpPr>
          <p:cNvPr id="53" name="Shape 51"/>
          <p:cNvSpPr/>
          <p:nvPr/>
        </p:nvSpPr>
        <p:spPr>
          <a:xfrm>
            <a:off x="7808976" y="3099816"/>
            <a:ext cx="201168" cy="192024"/>
          </a:xfrm>
          <a:prstGeom prst="rect">
            <a:avLst/>
          </a:prstGeom>
          <a:solidFill>
            <a:srgbClr val="FF707C"/>
          </a:solidFill>
          <a:ln w="2540">
            <a:solidFill>
              <a:srgbClr val="131D31"/>
            </a:solidFill>
            <a:prstDash val="solid"/>
          </a:ln>
        </p:spPr>
      </p:sp>
      <p:sp>
        <p:nvSpPr>
          <p:cNvPr id="54" name="Shape 52"/>
          <p:cNvSpPr/>
          <p:nvPr/>
        </p:nvSpPr>
        <p:spPr>
          <a:xfrm>
            <a:off x="8055864" y="3099816"/>
            <a:ext cx="201168" cy="192024"/>
          </a:xfrm>
          <a:prstGeom prst="rect">
            <a:avLst/>
          </a:prstGeom>
          <a:solidFill>
            <a:srgbClr val="263954"/>
          </a:solidFill>
          <a:ln w="2540">
            <a:solidFill>
              <a:srgbClr val="131D31"/>
            </a:solidFill>
            <a:prstDash val="solid"/>
          </a:ln>
        </p:spPr>
      </p:sp>
      <p:sp>
        <p:nvSpPr>
          <p:cNvPr id="55" name="Shape 53"/>
          <p:cNvSpPr/>
          <p:nvPr/>
        </p:nvSpPr>
        <p:spPr>
          <a:xfrm>
            <a:off x="8302752" y="3099816"/>
            <a:ext cx="201168" cy="192024"/>
          </a:xfrm>
          <a:prstGeom prst="rect">
            <a:avLst/>
          </a:prstGeom>
          <a:solidFill>
            <a:srgbClr val="3B5070"/>
          </a:solidFill>
          <a:ln w="2540">
            <a:solidFill>
              <a:srgbClr val="131D31"/>
            </a:solidFill>
            <a:prstDash val="solid"/>
          </a:ln>
        </p:spPr>
      </p:sp>
      <p:sp>
        <p:nvSpPr>
          <p:cNvPr id="56" name="Shape 54"/>
          <p:cNvSpPr/>
          <p:nvPr/>
        </p:nvSpPr>
        <p:spPr>
          <a:xfrm>
            <a:off x="6080760" y="3346704"/>
            <a:ext cx="201168" cy="192024"/>
          </a:xfrm>
          <a:prstGeom prst="rect">
            <a:avLst/>
          </a:prstGeom>
          <a:solidFill>
            <a:srgbClr val="263954"/>
          </a:solidFill>
          <a:ln w="2540">
            <a:solidFill>
              <a:srgbClr val="131D31"/>
            </a:solidFill>
            <a:prstDash val="solid"/>
          </a:ln>
        </p:spPr>
      </p:sp>
      <p:sp>
        <p:nvSpPr>
          <p:cNvPr id="57" name="Shape 55"/>
          <p:cNvSpPr/>
          <p:nvPr/>
        </p:nvSpPr>
        <p:spPr>
          <a:xfrm>
            <a:off x="6327648" y="3346704"/>
            <a:ext cx="201168" cy="192024"/>
          </a:xfrm>
          <a:prstGeom prst="rect">
            <a:avLst/>
          </a:prstGeom>
          <a:solidFill>
            <a:srgbClr val="263954"/>
          </a:solidFill>
          <a:ln w="2540">
            <a:solidFill>
              <a:srgbClr val="131D31"/>
            </a:solidFill>
            <a:prstDash val="solid"/>
          </a:ln>
        </p:spPr>
      </p:sp>
      <p:sp>
        <p:nvSpPr>
          <p:cNvPr id="58" name="Shape 56"/>
          <p:cNvSpPr/>
          <p:nvPr/>
        </p:nvSpPr>
        <p:spPr>
          <a:xfrm>
            <a:off x="6574536" y="3346704"/>
            <a:ext cx="201168" cy="192024"/>
          </a:xfrm>
          <a:prstGeom prst="rect">
            <a:avLst/>
          </a:prstGeom>
          <a:solidFill>
            <a:srgbClr val="3B5070"/>
          </a:solidFill>
          <a:ln w="2540">
            <a:solidFill>
              <a:srgbClr val="131D31"/>
            </a:solidFill>
            <a:prstDash val="solid"/>
          </a:ln>
        </p:spPr>
      </p:sp>
      <p:sp>
        <p:nvSpPr>
          <p:cNvPr id="59" name="Shape 57"/>
          <p:cNvSpPr/>
          <p:nvPr/>
        </p:nvSpPr>
        <p:spPr>
          <a:xfrm>
            <a:off x="6821424" y="3346704"/>
            <a:ext cx="201168" cy="192024"/>
          </a:xfrm>
          <a:prstGeom prst="rect">
            <a:avLst/>
          </a:prstGeom>
          <a:solidFill>
            <a:srgbClr val="263954"/>
          </a:solidFill>
          <a:ln w="2540">
            <a:solidFill>
              <a:srgbClr val="131D31"/>
            </a:solidFill>
            <a:prstDash val="solid"/>
          </a:ln>
        </p:spPr>
      </p:sp>
      <p:sp>
        <p:nvSpPr>
          <p:cNvPr id="60" name="Shape 58"/>
          <p:cNvSpPr/>
          <p:nvPr/>
        </p:nvSpPr>
        <p:spPr>
          <a:xfrm>
            <a:off x="7068312" y="3346704"/>
            <a:ext cx="201168" cy="192024"/>
          </a:xfrm>
          <a:prstGeom prst="rect">
            <a:avLst/>
          </a:prstGeom>
          <a:solidFill>
            <a:srgbClr val="263954"/>
          </a:solidFill>
          <a:ln w="2540">
            <a:solidFill>
              <a:srgbClr val="131D31"/>
            </a:solidFill>
            <a:prstDash val="solid"/>
          </a:ln>
        </p:spPr>
      </p:sp>
      <p:sp>
        <p:nvSpPr>
          <p:cNvPr id="61" name="Shape 59"/>
          <p:cNvSpPr/>
          <p:nvPr/>
        </p:nvSpPr>
        <p:spPr>
          <a:xfrm>
            <a:off x="7315200" y="3346704"/>
            <a:ext cx="201168" cy="192024"/>
          </a:xfrm>
          <a:prstGeom prst="rect">
            <a:avLst/>
          </a:prstGeom>
          <a:solidFill>
            <a:srgbClr val="3B5070"/>
          </a:solidFill>
          <a:ln w="2540">
            <a:solidFill>
              <a:srgbClr val="131D31"/>
            </a:solidFill>
            <a:prstDash val="solid"/>
          </a:ln>
        </p:spPr>
      </p:sp>
      <p:sp>
        <p:nvSpPr>
          <p:cNvPr id="62" name="Shape 60"/>
          <p:cNvSpPr/>
          <p:nvPr/>
        </p:nvSpPr>
        <p:spPr>
          <a:xfrm>
            <a:off x="7562088" y="3346704"/>
            <a:ext cx="201168" cy="192024"/>
          </a:xfrm>
          <a:prstGeom prst="rect">
            <a:avLst/>
          </a:prstGeom>
          <a:solidFill>
            <a:srgbClr val="263954"/>
          </a:solidFill>
          <a:ln w="2540">
            <a:solidFill>
              <a:srgbClr val="131D31"/>
            </a:solidFill>
            <a:prstDash val="solid"/>
          </a:ln>
        </p:spPr>
      </p:sp>
      <p:sp>
        <p:nvSpPr>
          <p:cNvPr id="63" name="Shape 61"/>
          <p:cNvSpPr/>
          <p:nvPr/>
        </p:nvSpPr>
        <p:spPr>
          <a:xfrm>
            <a:off x="7808976" y="3346704"/>
            <a:ext cx="201168" cy="192024"/>
          </a:xfrm>
          <a:prstGeom prst="rect">
            <a:avLst/>
          </a:prstGeom>
          <a:solidFill>
            <a:srgbClr val="FF707C"/>
          </a:solidFill>
          <a:ln w="2540">
            <a:solidFill>
              <a:srgbClr val="131D31"/>
            </a:solidFill>
            <a:prstDash val="solid"/>
          </a:ln>
        </p:spPr>
      </p:sp>
      <p:sp>
        <p:nvSpPr>
          <p:cNvPr id="64" name="Shape 62"/>
          <p:cNvSpPr/>
          <p:nvPr/>
        </p:nvSpPr>
        <p:spPr>
          <a:xfrm>
            <a:off x="8055864" y="3346704"/>
            <a:ext cx="201168" cy="192024"/>
          </a:xfrm>
          <a:prstGeom prst="rect">
            <a:avLst/>
          </a:prstGeom>
          <a:solidFill>
            <a:srgbClr val="3B5070"/>
          </a:solidFill>
          <a:ln w="2540">
            <a:solidFill>
              <a:srgbClr val="131D31"/>
            </a:solidFill>
            <a:prstDash val="solid"/>
          </a:ln>
        </p:spPr>
      </p:sp>
      <p:sp>
        <p:nvSpPr>
          <p:cNvPr id="65" name="Shape 63"/>
          <p:cNvSpPr/>
          <p:nvPr/>
        </p:nvSpPr>
        <p:spPr>
          <a:xfrm>
            <a:off x="8302752" y="3346704"/>
            <a:ext cx="201168" cy="192024"/>
          </a:xfrm>
          <a:prstGeom prst="rect">
            <a:avLst/>
          </a:prstGeom>
          <a:solidFill>
            <a:srgbClr val="263954"/>
          </a:solidFill>
          <a:ln w="2540">
            <a:solidFill>
              <a:srgbClr val="131D31"/>
            </a:solidFill>
            <a:prstDash val="solid"/>
          </a:ln>
        </p:spPr>
      </p:sp>
      <p:sp>
        <p:nvSpPr>
          <p:cNvPr id="66" name="Shape 64"/>
          <p:cNvSpPr/>
          <p:nvPr/>
        </p:nvSpPr>
        <p:spPr>
          <a:xfrm>
            <a:off x="6080760" y="3593592"/>
            <a:ext cx="201168" cy="192024"/>
          </a:xfrm>
          <a:prstGeom prst="rect">
            <a:avLst/>
          </a:prstGeom>
          <a:solidFill>
            <a:srgbClr val="263954"/>
          </a:solidFill>
          <a:ln w="2540">
            <a:solidFill>
              <a:srgbClr val="131D31"/>
            </a:solidFill>
            <a:prstDash val="solid"/>
          </a:ln>
        </p:spPr>
      </p:sp>
      <p:sp>
        <p:nvSpPr>
          <p:cNvPr id="67" name="Shape 65"/>
          <p:cNvSpPr/>
          <p:nvPr/>
        </p:nvSpPr>
        <p:spPr>
          <a:xfrm>
            <a:off x="6327648" y="3593592"/>
            <a:ext cx="201168" cy="192024"/>
          </a:xfrm>
          <a:prstGeom prst="rect">
            <a:avLst/>
          </a:prstGeom>
          <a:solidFill>
            <a:srgbClr val="3B5070"/>
          </a:solidFill>
          <a:ln w="2540">
            <a:solidFill>
              <a:srgbClr val="131D31"/>
            </a:solidFill>
            <a:prstDash val="solid"/>
          </a:ln>
        </p:spPr>
      </p:sp>
      <p:sp>
        <p:nvSpPr>
          <p:cNvPr id="68" name="Shape 66"/>
          <p:cNvSpPr/>
          <p:nvPr/>
        </p:nvSpPr>
        <p:spPr>
          <a:xfrm>
            <a:off x="6574536" y="3593592"/>
            <a:ext cx="201168" cy="192024"/>
          </a:xfrm>
          <a:prstGeom prst="rect">
            <a:avLst/>
          </a:prstGeom>
          <a:solidFill>
            <a:srgbClr val="263954"/>
          </a:solidFill>
          <a:ln w="2540">
            <a:solidFill>
              <a:srgbClr val="131D31"/>
            </a:solidFill>
            <a:prstDash val="solid"/>
          </a:ln>
        </p:spPr>
      </p:sp>
      <p:sp>
        <p:nvSpPr>
          <p:cNvPr id="69" name="Shape 67"/>
          <p:cNvSpPr/>
          <p:nvPr/>
        </p:nvSpPr>
        <p:spPr>
          <a:xfrm>
            <a:off x="6821424" y="3593592"/>
            <a:ext cx="201168" cy="192024"/>
          </a:xfrm>
          <a:prstGeom prst="rect">
            <a:avLst/>
          </a:prstGeom>
          <a:solidFill>
            <a:srgbClr val="263954"/>
          </a:solidFill>
          <a:ln w="2540">
            <a:solidFill>
              <a:srgbClr val="131D31"/>
            </a:solidFill>
            <a:prstDash val="solid"/>
          </a:ln>
        </p:spPr>
      </p:sp>
      <p:sp>
        <p:nvSpPr>
          <p:cNvPr id="70" name="Shape 68"/>
          <p:cNvSpPr/>
          <p:nvPr/>
        </p:nvSpPr>
        <p:spPr>
          <a:xfrm>
            <a:off x="7068312" y="3593592"/>
            <a:ext cx="201168" cy="192024"/>
          </a:xfrm>
          <a:prstGeom prst="rect">
            <a:avLst/>
          </a:prstGeom>
          <a:solidFill>
            <a:srgbClr val="3B5070"/>
          </a:solidFill>
          <a:ln w="2540">
            <a:solidFill>
              <a:srgbClr val="131D31"/>
            </a:solidFill>
            <a:prstDash val="solid"/>
          </a:ln>
        </p:spPr>
      </p:sp>
      <p:sp>
        <p:nvSpPr>
          <p:cNvPr id="71" name="Shape 69"/>
          <p:cNvSpPr/>
          <p:nvPr/>
        </p:nvSpPr>
        <p:spPr>
          <a:xfrm>
            <a:off x="7315200" y="3593592"/>
            <a:ext cx="201168" cy="192024"/>
          </a:xfrm>
          <a:prstGeom prst="rect">
            <a:avLst/>
          </a:prstGeom>
          <a:solidFill>
            <a:srgbClr val="263954"/>
          </a:solidFill>
          <a:ln w="2540">
            <a:solidFill>
              <a:srgbClr val="131D31"/>
            </a:solidFill>
            <a:prstDash val="solid"/>
          </a:ln>
        </p:spPr>
      </p:sp>
      <p:sp>
        <p:nvSpPr>
          <p:cNvPr id="72" name="Shape 70"/>
          <p:cNvSpPr/>
          <p:nvPr/>
        </p:nvSpPr>
        <p:spPr>
          <a:xfrm>
            <a:off x="7562088" y="3593592"/>
            <a:ext cx="201168" cy="192024"/>
          </a:xfrm>
          <a:prstGeom prst="rect">
            <a:avLst/>
          </a:prstGeom>
          <a:solidFill>
            <a:srgbClr val="263954"/>
          </a:solidFill>
          <a:ln w="2540">
            <a:solidFill>
              <a:srgbClr val="131D31"/>
            </a:solidFill>
            <a:prstDash val="solid"/>
          </a:ln>
        </p:spPr>
      </p:sp>
      <p:sp>
        <p:nvSpPr>
          <p:cNvPr id="73" name="Shape 71"/>
          <p:cNvSpPr/>
          <p:nvPr/>
        </p:nvSpPr>
        <p:spPr>
          <a:xfrm>
            <a:off x="7808976" y="3593592"/>
            <a:ext cx="201168" cy="192024"/>
          </a:xfrm>
          <a:prstGeom prst="rect">
            <a:avLst/>
          </a:prstGeom>
          <a:solidFill>
            <a:srgbClr val="3B5070"/>
          </a:solidFill>
          <a:ln w="2540">
            <a:solidFill>
              <a:srgbClr val="131D31"/>
            </a:solidFill>
            <a:prstDash val="solid"/>
          </a:ln>
        </p:spPr>
      </p:sp>
      <p:sp>
        <p:nvSpPr>
          <p:cNvPr id="74" name="Shape 72"/>
          <p:cNvSpPr/>
          <p:nvPr/>
        </p:nvSpPr>
        <p:spPr>
          <a:xfrm>
            <a:off x="8055864" y="3593592"/>
            <a:ext cx="201168" cy="192024"/>
          </a:xfrm>
          <a:prstGeom prst="rect">
            <a:avLst/>
          </a:prstGeom>
          <a:solidFill>
            <a:srgbClr val="263954"/>
          </a:solidFill>
          <a:ln w="2540">
            <a:solidFill>
              <a:srgbClr val="131D31"/>
            </a:solidFill>
            <a:prstDash val="solid"/>
          </a:ln>
        </p:spPr>
      </p:sp>
      <p:sp>
        <p:nvSpPr>
          <p:cNvPr id="75" name="Shape 73"/>
          <p:cNvSpPr/>
          <p:nvPr/>
        </p:nvSpPr>
        <p:spPr>
          <a:xfrm>
            <a:off x="8302752" y="3593592"/>
            <a:ext cx="201168" cy="192024"/>
          </a:xfrm>
          <a:prstGeom prst="rect">
            <a:avLst/>
          </a:prstGeom>
          <a:solidFill>
            <a:srgbClr val="263954"/>
          </a:solidFill>
          <a:ln w="2540">
            <a:solidFill>
              <a:srgbClr val="131D31"/>
            </a:solidFill>
            <a:prstDash val="solid"/>
          </a:ln>
        </p:spPr>
      </p:sp>
      <p:sp>
        <p:nvSpPr>
          <p:cNvPr id="76" name="Shape 74"/>
          <p:cNvSpPr/>
          <p:nvPr/>
        </p:nvSpPr>
        <p:spPr>
          <a:xfrm>
            <a:off x="6080760" y="3840480"/>
            <a:ext cx="201168" cy="192024"/>
          </a:xfrm>
          <a:prstGeom prst="rect">
            <a:avLst/>
          </a:prstGeom>
          <a:solidFill>
            <a:srgbClr val="3B5070"/>
          </a:solidFill>
          <a:ln w="2540">
            <a:solidFill>
              <a:srgbClr val="131D31"/>
            </a:solidFill>
            <a:prstDash val="solid"/>
          </a:ln>
        </p:spPr>
      </p:sp>
      <p:sp>
        <p:nvSpPr>
          <p:cNvPr id="77" name="Shape 75"/>
          <p:cNvSpPr/>
          <p:nvPr/>
        </p:nvSpPr>
        <p:spPr>
          <a:xfrm>
            <a:off x="6327648" y="3840480"/>
            <a:ext cx="201168" cy="192024"/>
          </a:xfrm>
          <a:prstGeom prst="rect">
            <a:avLst/>
          </a:prstGeom>
          <a:solidFill>
            <a:srgbClr val="263954"/>
          </a:solidFill>
          <a:ln w="2540">
            <a:solidFill>
              <a:srgbClr val="131D31"/>
            </a:solidFill>
            <a:prstDash val="solid"/>
          </a:ln>
        </p:spPr>
      </p:sp>
      <p:sp>
        <p:nvSpPr>
          <p:cNvPr id="78" name="Shape 76"/>
          <p:cNvSpPr/>
          <p:nvPr/>
        </p:nvSpPr>
        <p:spPr>
          <a:xfrm>
            <a:off x="6574536" y="3840480"/>
            <a:ext cx="201168" cy="192024"/>
          </a:xfrm>
          <a:prstGeom prst="rect">
            <a:avLst/>
          </a:prstGeom>
          <a:solidFill>
            <a:srgbClr val="263954"/>
          </a:solidFill>
          <a:ln w="2540">
            <a:solidFill>
              <a:srgbClr val="131D31"/>
            </a:solidFill>
            <a:prstDash val="solid"/>
          </a:ln>
        </p:spPr>
      </p:sp>
      <p:sp>
        <p:nvSpPr>
          <p:cNvPr id="79" name="Shape 77"/>
          <p:cNvSpPr/>
          <p:nvPr/>
        </p:nvSpPr>
        <p:spPr>
          <a:xfrm>
            <a:off x="6821424" y="3840480"/>
            <a:ext cx="201168" cy="192024"/>
          </a:xfrm>
          <a:prstGeom prst="rect">
            <a:avLst/>
          </a:prstGeom>
          <a:solidFill>
            <a:srgbClr val="3B5070"/>
          </a:solidFill>
          <a:ln w="2540">
            <a:solidFill>
              <a:srgbClr val="131D31"/>
            </a:solidFill>
            <a:prstDash val="solid"/>
          </a:ln>
        </p:spPr>
      </p:sp>
      <p:sp>
        <p:nvSpPr>
          <p:cNvPr id="80" name="Shape 78"/>
          <p:cNvSpPr/>
          <p:nvPr/>
        </p:nvSpPr>
        <p:spPr>
          <a:xfrm>
            <a:off x="7068312" y="3840480"/>
            <a:ext cx="201168" cy="192024"/>
          </a:xfrm>
          <a:prstGeom prst="rect">
            <a:avLst/>
          </a:prstGeom>
          <a:solidFill>
            <a:srgbClr val="263954"/>
          </a:solidFill>
          <a:ln w="2540">
            <a:solidFill>
              <a:srgbClr val="131D31"/>
            </a:solidFill>
            <a:prstDash val="solid"/>
          </a:ln>
        </p:spPr>
      </p:sp>
      <p:sp>
        <p:nvSpPr>
          <p:cNvPr id="81" name="Shape 79"/>
          <p:cNvSpPr/>
          <p:nvPr/>
        </p:nvSpPr>
        <p:spPr>
          <a:xfrm>
            <a:off x="7315200" y="3840480"/>
            <a:ext cx="201168" cy="192024"/>
          </a:xfrm>
          <a:prstGeom prst="rect">
            <a:avLst/>
          </a:prstGeom>
          <a:solidFill>
            <a:srgbClr val="263954"/>
          </a:solidFill>
          <a:ln w="2540">
            <a:solidFill>
              <a:srgbClr val="131D31"/>
            </a:solidFill>
            <a:prstDash val="solid"/>
          </a:ln>
        </p:spPr>
      </p:sp>
      <p:sp>
        <p:nvSpPr>
          <p:cNvPr id="82" name="Shape 80"/>
          <p:cNvSpPr/>
          <p:nvPr/>
        </p:nvSpPr>
        <p:spPr>
          <a:xfrm>
            <a:off x="7562088" y="3840480"/>
            <a:ext cx="201168" cy="192024"/>
          </a:xfrm>
          <a:prstGeom prst="rect">
            <a:avLst/>
          </a:prstGeom>
          <a:solidFill>
            <a:srgbClr val="3B5070"/>
          </a:solidFill>
          <a:ln w="2540">
            <a:solidFill>
              <a:srgbClr val="131D31"/>
            </a:solidFill>
            <a:prstDash val="solid"/>
          </a:ln>
        </p:spPr>
      </p:sp>
      <p:sp>
        <p:nvSpPr>
          <p:cNvPr id="83" name="Shape 81"/>
          <p:cNvSpPr/>
          <p:nvPr/>
        </p:nvSpPr>
        <p:spPr>
          <a:xfrm>
            <a:off x="7808976" y="3840480"/>
            <a:ext cx="201168" cy="192024"/>
          </a:xfrm>
          <a:prstGeom prst="rect">
            <a:avLst/>
          </a:prstGeom>
          <a:solidFill>
            <a:srgbClr val="263954"/>
          </a:solidFill>
          <a:ln w="2540">
            <a:solidFill>
              <a:srgbClr val="131D31"/>
            </a:solidFill>
            <a:prstDash val="solid"/>
          </a:ln>
        </p:spPr>
      </p:sp>
      <p:sp>
        <p:nvSpPr>
          <p:cNvPr id="84" name="Shape 82"/>
          <p:cNvSpPr/>
          <p:nvPr/>
        </p:nvSpPr>
        <p:spPr>
          <a:xfrm>
            <a:off x="8055864" y="3840480"/>
            <a:ext cx="201168" cy="192024"/>
          </a:xfrm>
          <a:prstGeom prst="rect">
            <a:avLst/>
          </a:prstGeom>
          <a:solidFill>
            <a:srgbClr val="263954"/>
          </a:solidFill>
          <a:ln w="2540">
            <a:solidFill>
              <a:srgbClr val="131D31"/>
            </a:solidFill>
            <a:prstDash val="solid"/>
          </a:ln>
        </p:spPr>
      </p:sp>
      <p:sp>
        <p:nvSpPr>
          <p:cNvPr id="85" name="Shape 83"/>
          <p:cNvSpPr/>
          <p:nvPr/>
        </p:nvSpPr>
        <p:spPr>
          <a:xfrm>
            <a:off x="8302752" y="3840480"/>
            <a:ext cx="201168" cy="192024"/>
          </a:xfrm>
          <a:prstGeom prst="rect">
            <a:avLst/>
          </a:prstGeom>
          <a:solidFill>
            <a:srgbClr val="3B5070"/>
          </a:solidFill>
          <a:ln w="2540">
            <a:solidFill>
              <a:srgbClr val="131D31"/>
            </a:solidFill>
            <a:prstDash val="solid"/>
          </a:ln>
        </p:spPr>
      </p:sp>
      <p:sp>
        <p:nvSpPr>
          <p:cNvPr id="86" name="Shape 84"/>
          <p:cNvSpPr/>
          <p:nvPr/>
        </p:nvSpPr>
        <p:spPr>
          <a:xfrm>
            <a:off x="8915400" y="2395728"/>
            <a:ext cx="1965960" cy="1024128"/>
          </a:xfrm>
          <a:prstGeom prst="roundRect">
            <a:avLst>
              <a:gd name="adj" fmla="val 7143"/>
            </a:avLst>
          </a:prstGeom>
          <a:solidFill>
            <a:srgbClr val="302333"/>
          </a:solidFill>
          <a:ln w="10160">
            <a:solidFill>
              <a:srgbClr val="693641"/>
            </a:solidFill>
            <a:prstDash val="solid"/>
          </a:ln>
        </p:spPr>
      </p:sp>
      <p:sp>
        <p:nvSpPr>
          <p:cNvPr id="87" name="Text 85"/>
          <p:cNvSpPr txBox="1"/>
          <p:nvPr/>
        </p:nvSpPr>
        <p:spPr>
          <a:xfrm>
            <a:off x="9070848" y="2542032"/>
            <a:ext cx="1645920" cy="228600"/>
          </a:xfrm>
          <a:prstGeom prst="rect">
            <a:avLst/>
          </a:prstGeom>
          <a:noFill/>
        </p:spPr>
        <p:txBody>
          <a:bodyPr wrap="square" lIns="0" tIns="0" rIns="0" bIns="0" rtlCol="0" anchor="ctr">
            <a:normAutofit/>
          </a:bodyPr>
          <a:lstStyle/>
          <a:p>
            <a:pPr marL="0" indent="0" algn="ctr">
              <a:buNone/>
            </a:pPr>
            <a:r>
              <a:rPr lang="en-US" sz="1400" b="1" dirty="0">
                <a:solidFill>
                  <a:srgbClr val="FF707C"/>
                </a:solidFill>
                <a:latin typeface="Aptos" pitchFamily="34" charset="0"/>
                <a:ea typeface="Aptos" pitchFamily="34" charset="-122"/>
                <a:cs typeface="Aptos" pitchFamily="34" charset="-120"/>
              </a:rPr>
              <a:t>HOTSPOT</a:t>
            </a:r>
            <a:endParaRPr lang="en-US" sz="1400" dirty="0"/>
          </a:p>
        </p:txBody>
      </p:sp>
      <p:sp>
        <p:nvSpPr>
          <p:cNvPr id="88" name="Text 86"/>
          <p:cNvSpPr txBox="1"/>
          <p:nvPr/>
        </p:nvSpPr>
        <p:spPr>
          <a:xfrm>
            <a:off x="9070848" y="2880360"/>
            <a:ext cx="1645920" cy="201168"/>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rare positive class</a:t>
            </a:r>
            <a:endParaRPr lang="en-US" sz="1000" dirty="0"/>
          </a:p>
        </p:txBody>
      </p:sp>
      <p:sp>
        <p:nvSpPr>
          <p:cNvPr id="89" name="Text 87"/>
          <p:cNvSpPr txBox="1"/>
          <p:nvPr/>
        </p:nvSpPr>
        <p:spPr>
          <a:xfrm>
            <a:off x="5989320" y="4279392"/>
            <a:ext cx="5166360" cy="292608"/>
          </a:xfrm>
          <a:prstGeom prst="rect">
            <a:avLst/>
          </a:prstGeom>
          <a:noFill/>
        </p:spPr>
        <p:txBody>
          <a:bodyPr wrap="square" lIns="0" tIns="0" rIns="0" bIns="0" rtlCol="0" anchor="ctr"/>
          <a:lstStyle/>
          <a:p>
            <a:pPr marL="0" indent="0" algn="l">
              <a:buNone/>
            </a:pPr>
            <a:r>
              <a:rPr lang="en-US" sz="900" b="1" dirty="0">
                <a:solidFill>
                  <a:srgbClr val="F4F7FF"/>
                </a:solidFill>
                <a:latin typeface="Aptos" pitchFamily="34" charset="0"/>
                <a:ea typeface="Aptos" pitchFamily="34" charset="-122"/>
                <a:cs typeface="Aptos" pitchFamily="34" charset="-120"/>
              </a:rPr>
              <a:t>Evaluation must report balanced accuracy, recall, precision and specificity not one score alone.</a:t>
            </a:r>
            <a:endParaRPr lang="en-US" sz="900" b="1" dirty="0">
              <a:solidFill>
                <a:srgbClr val="F4F7FF"/>
              </a:solidFill>
              <a:latin typeface="Aptos" pitchFamily="34" charset="0"/>
              <a:ea typeface="Aptos" pitchFamily="34" charset="-122"/>
              <a:cs typeface="Aptos" pitchFamily="34" charset="-120"/>
            </a:endParaRPr>
          </a:p>
        </p:txBody>
      </p:sp>
      <p:sp>
        <p:nvSpPr>
          <p:cNvPr id="90" name="Shape 88"/>
          <p:cNvSpPr/>
          <p:nvPr/>
        </p:nvSpPr>
        <p:spPr>
          <a:xfrm>
            <a:off x="713232" y="5074920"/>
            <a:ext cx="1645920" cy="713232"/>
          </a:xfrm>
          <a:prstGeom prst="roundRect">
            <a:avLst>
              <a:gd name="adj" fmla="val 10256"/>
            </a:avLst>
          </a:prstGeom>
          <a:solidFill>
            <a:srgbClr val="192640"/>
          </a:solidFill>
          <a:ln w="10160">
            <a:solidFill>
              <a:srgbClr val="2B3B58"/>
            </a:solidFill>
            <a:prstDash val="solid"/>
          </a:ln>
        </p:spPr>
      </p:sp>
      <p:sp>
        <p:nvSpPr>
          <p:cNvPr id="91" name="Text 89"/>
          <p:cNvSpPr txBox="1"/>
          <p:nvPr/>
        </p:nvSpPr>
        <p:spPr>
          <a:xfrm>
            <a:off x="822960" y="5157216"/>
            <a:ext cx="1426464" cy="164592"/>
          </a:xfrm>
          <a:prstGeom prst="rect">
            <a:avLst/>
          </a:prstGeom>
          <a:noFill/>
        </p:spPr>
        <p:txBody>
          <a:bodyPr wrap="square" lIns="0" tIns="0" rIns="0" bIns="0" rtlCol="0" anchor="ctr">
            <a:normAutofit/>
          </a:bodyPr>
          <a:lstStyle/>
          <a:p>
            <a:pPr marL="0" indent="0" algn="l">
              <a:buNone/>
            </a:pPr>
            <a:r>
              <a:rPr lang="en-US" sz="800" b="1" kern="0" spc="70" dirty="0">
                <a:solidFill>
                  <a:srgbClr val="A7B4CE"/>
                </a:solidFill>
                <a:latin typeface="Aptos" pitchFamily="34" charset="0"/>
                <a:ea typeface="Aptos" pitchFamily="34" charset="-122"/>
                <a:cs typeface="Aptos" pitchFamily="34" charset="-120"/>
              </a:rPr>
              <a:t>BENCHMARKS</a:t>
            </a:r>
            <a:endParaRPr lang="en-US" sz="800" dirty="0"/>
          </a:p>
        </p:txBody>
      </p:sp>
      <p:sp>
        <p:nvSpPr>
          <p:cNvPr id="92" name="Text 90"/>
          <p:cNvSpPr txBox="1"/>
          <p:nvPr/>
        </p:nvSpPr>
        <p:spPr>
          <a:xfrm>
            <a:off x="822960" y="5349240"/>
            <a:ext cx="1426464" cy="329184"/>
          </a:xfrm>
          <a:prstGeom prst="rect">
            <a:avLst/>
          </a:prstGeom>
          <a:noFill/>
        </p:spPr>
        <p:txBody>
          <a:bodyPr wrap="square" lIns="0" tIns="0" rIns="0" bIns="0" rtlCol="0" anchor="ctr">
            <a:normAutofit/>
          </a:bodyPr>
          <a:lstStyle/>
          <a:p>
            <a:pPr marL="0" indent="0" algn="l">
              <a:buNone/>
            </a:pPr>
            <a:r>
              <a:rPr lang="en-US" sz="1900" b="1" dirty="0">
                <a:solidFill>
                  <a:srgbClr val="36D6C5"/>
                </a:solidFill>
                <a:latin typeface="Aptos" pitchFamily="34" charset="0"/>
                <a:ea typeface="Aptos" pitchFamily="34" charset="-122"/>
                <a:cs typeface="Aptos" pitchFamily="34" charset="-120"/>
              </a:rPr>
              <a:t>5</a:t>
            </a:r>
            <a:endParaRPr lang="en-US" sz="1900" dirty="0"/>
          </a:p>
        </p:txBody>
      </p:sp>
      <p:sp>
        <p:nvSpPr>
          <p:cNvPr id="93" name="Shape 91"/>
          <p:cNvSpPr/>
          <p:nvPr/>
        </p:nvSpPr>
        <p:spPr>
          <a:xfrm>
            <a:off x="2542032" y="5074920"/>
            <a:ext cx="1645920" cy="713232"/>
          </a:xfrm>
          <a:prstGeom prst="roundRect">
            <a:avLst>
              <a:gd name="adj" fmla="val 10256"/>
            </a:avLst>
          </a:prstGeom>
          <a:solidFill>
            <a:srgbClr val="192640"/>
          </a:solidFill>
          <a:ln w="10160">
            <a:solidFill>
              <a:srgbClr val="2B3B58"/>
            </a:solidFill>
            <a:prstDash val="solid"/>
          </a:ln>
        </p:spPr>
      </p:sp>
      <p:sp>
        <p:nvSpPr>
          <p:cNvPr id="94" name="Text 92"/>
          <p:cNvSpPr txBox="1"/>
          <p:nvPr/>
        </p:nvSpPr>
        <p:spPr>
          <a:xfrm>
            <a:off x="2651760" y="5157216"/>
            <a:ext cx="1426464" cy="164592"/>
          </a:xfrm>
          <a:prstGeom prst="rect">
            <a:avLst/>
          </a:prstGeom>
          <a:noFill/>
        </p:spPr>
        <p:txBody>
          <a:bodyPr wrap="square" lIns="0" tIns="0" rIns="0" bIns="0" rtlCol="0" anchor="ctr">
            <a:normAutofit/>
          </a:bodyPr>
          <a:lstStyle/>
          <a:p>
            <a:pPr marL="0" indent="0" algn="l">
              <a:buNone/>
            </a:pPr>
            <a:r>
              <a:rPr lang="en-US" sz="800" b="1" kern="0" spc="70" dirty="0">
                <a:solidFill>
                  <a:srgbClr val="A7B4CE"/>
                </a:solidFill>
                <a:latin typeface="Aptos" pitchFamily="34" charset="0"/>
                <a:ea typeface="Aptos" pitchFamily="34" charset="-122"/>
                <a:cs typeface="Aptos" pitchFamily="34" charset="-120"/>
              </a:rPr>
              <a:t>INPUT</a:t>
            </a:r>
            <a:endParaRPr lang="en-US" sz="800" dirty="0"/>
          </a:p>
        </p:txBody>
      </p:sp>
      <p:sp>
        <p:nvSpPr>
          <p:cNvPr id="95" name="Text 93"/>
          <p:cNvSpPr txBox="1"/>
          <p:nvPr/>
        </p:nvSpPr>
        <p:spPr>
          <a:xfrm>
            <a:off x="2651760" y="5349240"/>
            <a:ext cx="1426464" cy="329184"/>
          </a:xfrm>
          <a:prstGeom prst="rect">
            <a:avLst/>
          </a:prstGeom>
          <a:noFill/>
        </p:spPr>
        <p:txBody>
          <a:bodyPr wrap="square" lIns="0" tIns="0" rIns="0" bIns="0" rtlCol="0" anchor="ctr">
            <a:normAutofit/>
          </a:bodyPr>
          <a:lstStyle/>
          <a:p>
            <a:pPr marL="0" indent="0" algn="l">
              <a:buNone/>
            </a:pPr>
            <a:r>
              <a:rPr lang="en-US" sz="1900" b="1" dirty="0">
                <a:solidFill>
                  <a:srgbClr val="6B9BFF"/>
                </a:solidFill>
                <a:latin typeface="Aptos" pitchFamily="34" charset="0"/>
                <a:ea typeface="Aptos" pitchFamily="34" charset="-122"/>
                <a:cs typeface="Aptos" pitchFamily="34" charset="-120"/>
              </a:rPr>
              <a:t>64×64</a:t>
            </a:r>
            <a:endParaRPr lang="en-US" sz="1900" dirty="0"/>
          </a:p>
        </p:txBody>
      </p:sp>
      <p:sp>
        <p:nvSpPr>
          <p:cNvPr id="96" name="Shape 94"/>
          <p:cNvSpPr/>
          <p:nvPr/>
        </p:nvSpPr>
        <p:spPr>
          <a:xfrm>
            <a:off x="4370832" y="5074920"/>
            <a:ext cx="1828800" cy="713232"/>
          </a:xfrm>
          <a:prstGeom prst="roundRect">
            <a:avLst>
              <a:gd name="adj" fmla="val 10256"/>
            </a:avLst>
          </a:prstGeom>
          <a:solidFill>
            <a:srgbClr val="192640"/>
          </a:solidFill>
          <a:ln w="10160">
            <a:solidFill>
              <a:srgbClr val="2B3B58"/>
            </a:solidFill>
            <a:prstDash val="solid"/>
          </a:ln>
        </p:spPr>
      </p:sp>
      <p:sp>
        <p:nvSpPr>
          <p:cNvPr id="97" name="Text 95"/>
          <p:cNvSpPr txBox="1"/>
          <p:nvPr/>
        </p:nvSpPr>
        <p:spPr>
          <a:xfrm>
            <a:off x="4480560" y="5157216"/>
            <a:ext cx="1609344" cy="164592"/>
          </a:xfrm>
          <a:prstGeom prst="rect">
            <a:avLst/>
          </a:prstGeom>
          <a:noFill/>
        </p:spPr>
        <p:txBody>
          <a:bodyPr wrap="square" lIns="0" tIns="0" rIns="0" bIns="0" rtlCol="0" anchor="ctr">
            <a:normAutofit/>
          </a:bodyPr>
          <a:lstStyle/>
          <a:p>
            <a:pPr marL="0" indent="0" algn="l">
              <a:buNone/>
            </a:pPr>
            <a:r>
              <a:rPr lang="en-US" sz="800" b="1" kern="0" spc="70" dirty="0">
                <a:solidFill>
                  <a:srgbClr val="A7B4CE"/>
                </a:solidFill>
                <a:latin typeface="Aptos" pitchFamily="34" charset="0"/>
                <a:ea typeface="Aptos" pitchFamily="34" charset="-122"/>
                <a:cs typeface="Aptos" pitchFamily="34" charset="-120"/>
              </a:rPr>
              <a:t>LABELS</a:t>
            </a:r>
            <a:endParaRPr lang="en-US" sz="800" dirty="0"/>
          </a:p>
        </p:txBody>
      </p:sp>
      <p:sp>
        <p:nvSpPr>
          <p:cNvPr id="98" name="Text 96"/>
          <p:cNvSpPr txBox="1"/>
          <p:nvPr/>
        </p:nvSpPr>
        <p:spPr>
          <a:xfrm>
            <a:off x="4480560" y="5349240"/>
            <a:ext cx="1609344" cy="329184"/>
          </a:xfrm>
          <a:prstGeom prst="rect">
            <a:avLst/>
          </a:prstGeom>
          <a:noFill/>
        </p:spPr>
        <p:txBody>
          <a:bodyPr wrap="square" lIns="0" tIns="0" rIns="0" bIns="0" rtlCol="0" anchor="ctr">
            <a:normAutofit/>
          </a:bodyPr>
          <a:lstStyle/>
          <a:p>
            <a:pPr marL="0" indent="0" algn="l">
              <a:buNone/>
            </a:pPr>
            <a:r>
              <a:rPr lang="en-US" sz="1900" b="1" dirty="0">
                <a:solidFill>
                  <a:srgbClr val="FFB65E"/>
                </a:solidFill>
                <a:latin typeface="Aptos" pitchFamily="34" charset="0"/>
                <a:ea typeface="Aptos" pitchFamily="34" charset="-122"/>
                <a:cs typeface="Aptos" pitchFamily="34" charset="-120"/>
              </a:rPr>
              <a:t>HS / NHS</a:t>
            </a:r>
            <a:endParaRPr lang="en-US" sz="1900" dirty="0"/>
          </a:p>
        </p:txBody>
      </p:sp>
      <p:sp>
        <p:nvSpPr>
          <p:cNvPr id="99" name="Text 97"/>
          <p:cNvSpPr txBox="1"/>
          <p:nvPr/>
        </p:nvSpPr>
        <p:spPr>
          <a:xfrm>
            <a:off x="713232" y="5998464"/>
            <a:ext cx="7498080" cy="201168"/>
          </a:xfrm>
          <a:prstGeom prst="rect">
            <a:avLst/>
          </a:prstGeom>
          <a:noFill/>
        </p:spPr>
        <p:txBody>
          <a:bodyPr wrap="square" lIns="0" tIns="0" rIns="0" bIns="0" rtlCol="0" anchor="ctr">
            <a:normAutofit/>
          </a:bodyPr>
          <a:lstStyle/>
          <a:p>
            <a:pPr marL="0" indent="0" algn="l">
              <a:buNone/>
            </a:pPr>
            <a:r>
              <a:rPr lang="en-US" sz="900" dirty="0">
                <a:solidFill>
                  <a:srgbClr val="7D8BAB"/>
                </a:solidFill>
                <a:latin typeface="Aptos" pitchFamily="34" charset="0"/>
                <a:ea typeface="Aptos" pitchFamily="34" charset="-122"/>
                <a:cs typeface="Aptos" pitchFamily="34" charset="-120"/>
              </a:rPr>
              <a:t>[1] ICCAD-2012 contest/benchmark  •  [2] Liao et al., Applied Sciences, 2022</a:t>
            </a:r>
            <a:endParaRPr lang="en-US" sz="900" dirty="0"/>
          </a:p>
        </p:txBody>
      </p:sp>
      <p:sp>
        <p:nvSpPr>
          <p:cNvPr id="100" name="Slide Number Placeholder 0"/>
          <p:cNvSpPr>
            <a:spLocks noGrp="1"/>
          </p:cNvSpPr>
          <p:nvPr>
            <p:ph type="sldNum" sz="quarter" idx="4294967295"/>
          </p:nvPr>
        </p:nvSpPr>
        <p:spPr>
          <a:xfrm>
            <a:off x="11292840" y="6510528"/>
            <a:ext cx="800000" cy="300000"/>
          </a:xfrm>
          <a:prstGeom prst="rect">
            <a:avLst/>
          </a:prstGeom>
        </p:spPr>
        <p:txBody>
          <a:bodyPr/>
          <a:lstStyle>
            <a:lvl1pPr>
              <a:defRPr sz="800">
                <a:solidFill>
                  <a:srgbClr val="8090B0"/>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0"/>
          <p:cNvSpPr txBox="1"/>
          <p:nvPr/>
        </p:nvSpPr>
        <p:spPr>
          <a:xfrm>
            <a:off x="621792" y="292608"/>
            <a:ext cx="4572000" cy="219456"/>
          </a:xfrm>
          <a:prstGeom prst="rect">
            <a:avLst/>
          </a:prstGeom>
          <a:noFill/>
        </p:spPr>
        <p:txBody>
          <a:bodyPr wrap="square" lIns="0" tIns="0" rIns="0" bIns="0" rtlCol="0" anchor="ctr">
            <a:normAutofit/>
          </a:bodyPr>
          <a:lstStyle/>
          <a:p>
            <a:pPr marL="0" indent="0" algn="l">
              <a:buNone/>
            </a:pPr>
            <a:r>
              <a:rPr lang="en-US" sz="900" b="1" kern="0" spc="180" dirty="0">
                <a:solidFill>
                  <a:srgbClr val="36D6C5"/>
                </a:solidFill>
                <a:latin typeface="Aptos" pitchFamily="34" charset="0"/>
                <a:ea typeface="Aptos" pitchFamily="34" charset="-122"/>
                <a:cs typeface="Aptos" pitchFamily="34" charset="-120"/>
              </a:rPr>
              <a:t>02  •  APPROACH</a:t>
            </a:r>
            <a:endParaRPr lang="en-US" sz="900" dirty="0"/>
          </a:p>
        </p:txBody>
      </p:sp>
      <p:sp>
        <p:nvSpPr>
          <p:cNvPr id="3" name="Text 1"/>
          <p:cNvSpPr txBox="1"/>
          <p:nvPr/>
        </p:nvSpPr>
        <p:spPr>
          <a:xfrm>
            <a:off x="621792" y="612648"/>
            <a:ext cx="10972800" cy="475488"/>
          </a:xfrm>
          <a:prstGeom prst="rect">
            <a:avLst/>
          </a:prstGeom>
          <a:noFill/>
        </p:spPr>
        <p:txBody>
          <a:bodyPr wrap="square" lIns="0" tIns="0" rIns="0" bIns="0" rtlCol="0" anchor="ctr">
            <a:normAutofit/>
          </a:bodyPr>
          <a:lstStyle/>
          <a:p>
            <a:pPr marL="0" indent="0" algn="l">
              <a:buNone/>
            </a:pPr>
            <a:r>
              <a:rPr lang="en-US" sz="2700" b="1" dirty="0">
                <a:solidFill>
                  <a:srgbClr val="F4F7FF"/>
                </a:solidFill>
                <a:latin typeface="Aptos" pitchFamily="34" charset="0"/>
                <a:ea typeface="Aptos" pitchFamily="34" charset="-122"/>
                <a:cs typeface="Aptos" pitchFamily="34" charset="-120"/>
              </a:rPr>
              <a:t>Workflow and contribution</a:t>
            </a:r>
            <a:endParaRPr lang="en-US" sz="2700" dirty="0"/>
          </a:p>
        </p:txBody>
      </p:sp>
      <p:sp>
        <p:nvSpPr>
          <p:cNvPr id="4" name="Text 2"/>
          <p:cNvSpPr txBox="1"/>
          <p:nvPr/>
        </p:nvSpPr>
        <p:spPr>
          <a:xfrm>
            <a:off x="640080" y="1106424"/>
            <a:ext cx="10789920" cy="292608"/>
          </a:xfrm>
          <a:prstGeom prst="rect">
            <a:avLst/>
          </a:prstGeom>
          <a:noFill/>
        </p:spPr>
        <p:txBody>
          <a:bodyPr wrap="square" lIns="0" tIns="0" rIns="0" bIns="0" rtlCol="0" anchor="ctr">
            <a:normAutofit/>
          </a:bodyPr>
          <a:lstStyle/>
          <a:p>
            <a:pPr marL="0" indent="0" algn="l">
              <a:buNone/>
            </a:pPr>
            <a:r>
              <a:rPr lang="en-US" sz="1200" dirty="0">
                <a:solidFill>
                  <a:srgbClr val="A7B4CE"/>
                </a:solidFill>
                <a:latin typeface="Aptos" pitchFamily="34" charset="0"/>
                <a:ea typeface="Aptos" pitchFamily="34" charset="-122"/>
                <a:cs typeface="Aptos" pitchFamily="34" charset="-120"/>
              </a:rPr>
              <a:t>The contribution is a reproducible optimization study not a claim of a new CNN architecture.</a:t>
            </a:r>
            <a:endParaRPr lang="en-US" sz="1200" dirty="0"/>
          </a:p>
        </p:txBody>
      </p:sp>
      <p:sp>
        <p:nvSpPr>
          <p:cNvPr id="6" name="Shape 4"/>
          <p:cNvSpPr/>
          <p:nvPr/>
        </p:nvSpPr>
        <p:spPr>
          <a:xfrm>
            <a:off x="658368" y="1828800"/>
            <a:ext cx="2331720" cy="1444752"/>
          </a:xfrm>
          <a:prstGeom prst="roundRect">
            <a:avLst>
              <a:gd name="adj" fmla="val 5063"/>
            </a:avLst>
          </a:prstGeom>
          <a:solidFill>
            <a:srgbClr val="131D31"/>
          </a:solidFill>
          <a:ln w="10160">
            <a:solidFill>
              <a:srgbClr val="2B3B58"/>
            </a:solidFill>
            <a:prstDash val="solid"/>
          </a:ln>
        </p:spPr>
      </p:sp>
      <p:sp>
        <p:nvSpPr>
          <p:cNvPr id="7" name="Shape 5"/>
          <p:cNvSpPr/>
          <p:nvPr/>
        </p:nvSpPr>
        <p:spPr>
          <a:xfrm>
            <a:off x="822960" y="1993392"/>
            <a:ext cx="347472" cy="347472"/>
          </a:xfrm>
          <a:prstGeom prst="ellipse">
            <a:avLst/>
          </a:prstGeom>
          <a:solidFill>
            <a:srgbClr val="6B9BFF"/>
          </a:solidFill>
          <a:ln w="12700">
            <a:solidFill>
              <a:srgbClr val="6B9BFF"/>
            </a:solidFill>
            <a:prstDash val="solid"/>
          </a:ln>
        </p:spPr>
      </p:sp>
      <p:sp>
        <p:nvSpPr>
          <p:cNvPr id="8" name="Text 6"/>
          <p:cNvSpPr txBox="1"/>
          <p:nvPr/>
        </p:nvSpPr>
        <p:spPr>
          <a:xfrm>
            <a:off x="822960" y="2016252"/>
            <a:ext cx="347472" cy="228600"/>
          </a:xfrm>
          <a:prstGeom prst="rect">
            <a:avLst/>
          </a:prstGeom>
          <a:noFill/>
        </p:spPr>
        <p:txBody>
          <a:bodyPr wrap="square" lIns="0" tIns="0" rIns="0" bIns="0" rtlCol="0" anchor="ctr">
            <a:normAutofit/>
          </a:bodyPr>
          <a:lstStyle/>
          <a:p>
            <a:pPr marL="0" indent="0" algn="ctr">
              <a:buNone/>
            </a:pPr>
            <a:r>
              <a:rPr lang="en-US" sz="1100" b="1" dirty="0">
                <a:solidFill>
                  <a:srgbClr val="0B1020"/>
                </a:solidFill>
                <a:latin typeface="Aptos" pitchFamily="34" charset="0"/>
                <a:ea typeface="Aptos" pitchFamily="34" charset="-122"/>
                <a:cs typeface="Aptos" pitchFamily="34" charset="-120"/>
              </a:rPr>
              <a:t>1</a:t>
            </a:r>
            <a:endParaRPr lang="en-US" sz="1100" dirty="0"/>
          </a:p>
        </p:txBody>
      </p:sp>
      <p:sp>
        <p:nvSpPr>
          <p:cNvPr id="9" name="Text 7"/>
          <p:cNvSpPr txBox="1"/>
          <p:nvPr/>
        </p:nvSpPr>
        <p:spPr>
          <a:xfrm>
            <a:off x="822960" y="2450592"/>
            <a:ext cx="2002536" cy="210312"/>
          </a:xfrm>
          <a:prstGeom prst="rect">
            <a:avLst/>
          </a:prstGeom>
          <a:noFill/>
        </p:spPr>
        <p:txBody>
          <a:bodyPr wrap="square" lIns="0" tIns="0" rIns="0" bIns="0" rtlCol="0" anchor="ctr">
            <a:normAutofit/>
          </a:bodyPr>
          <a:lstStyle/>
          <a:p>
            <a:pPr marL="0" indent="0" algn="l">
              <a:buNone/>
            </a:pPr>
            <a:r>
              <a:rPr lang="en-US" sz="1000" b="1" kern="0" spc="70" dirty="0">
                <a:solidFill>
                  <a:srgbClr val="6B9BFF"/>
                </a:solidFill>
                <a:latin typeface="Aptos" pitchFamily="34" charset="0"/>
                <a:ea typeface="Aptos" pitchFamily="34" charset="-122"/>
                <a:cs typeface="Aptos" pitchFamily="34" charset="-120"/>
              </a:rPr>
              <a:t>TRAIN DATA</a:t>
            </a:r>
            <a:endParaRPr lang="en-US" sz="1000" dirty="0"/>
          </a:p>
        </p:txBody>
      </p:sp>
      <p:sp>
        <p:nvSpPr>
          <p:cNvPr id="10" name="Text 8"/>
          <p:cNvSpPr txBox="1"/>
          <p:nvPr/>
        </p:nvSpPr>
        <p:spPr>
          <a:xfrm>
            <a:off x="822960" y="2742438"/>
            <a:ext cx="2020824" cy="429768"/>
          </a:xfrm>
          <a:prstGeom prst="rect">
            <a:avLst/>
          </a:prstGeom>
          <a:noFill/>
        </p:spPr>
        <p:txBody>
          <a:bodyPr wrap="square" lIns="0" tIns="0" rIns="0" bIns="0" rtlCol="0" anchor="t">
            <a:normAutofit fontScale="80000"/>
          </a:bodyPr>
          <a:lstStyle/>
          <a:p>
            <a:pPr marL="0" indent="0" algn="l">
              <a:buNone/>
            </a:pPr>
            <a:r>
              <a:rPr lang="en-US" sz="1200" dirty="0">
                <a:solidFill>
                  <a:srgbClr val="F4F7FF"/>
                </a:solidFill>
                <a:latin typeface="Aptos" pitchFamily="34" charset="0"/>
                <a:ea typeface="Aptos" pitchFamily="34" charset="-122"/>
                <a:cs typeface="Aptos" pitchFamily="34" charset="-120"/>
              </a:rPr>
              <a:t>Train folder images only</a:t>
            </a:r>
            <a:endParaRPr lang="en-US" sz="1200" dirty="0"/>
          </a:p>
          <a:p>
            <a:pPr marL="0" indent="0" algn="l">
              <a:buNone/>
            </a:pPr>
            <a:r>
              <a:rPr lang="en-US" sz="1200" dirty="0">
                <a:solidFill>
                  <a:srgbClr val="F4F7FF"/>
                </a:solidFill>
                <a:latin typeface="Aptos" pitchFamily="34" charset="0"/>
                <a:ea typeface="Aptos" pitchFamily="34" charset="-122"/>
                <a:cs typeface="Aptos" pitchFamily="34" charset="-120"/>
              </a:rPr>
              <a:t>Stratified 80/20 train validation split</a:t>
            </a:r>
            <a:endParaRPr lang="en-US" sz="1200" dirty="0"/>
          </a:p>
        </p:txBody>
      </p:sp>
      <p:sp>
        <p:nvSpPr>
          <p:cNvPr id="11" name="Shape 9"/>
          <p:cNvSpPr/>
          <p:nvPr/>
        </p:nvSpPr>
        <p:spPr>
          <a:xfrm>
            <a:off x="3063240" y="2542032"/>
            <a:ext cx="320040" cy="0"/>
          </a:xfrm>
          <a:prstGeom prst="line">
            <a:avLst/>
          </a:prstGeom>
          <a:noFill/>
          <a:ln w="19050">
            <a:solidFill>
              <a:srgbClr val="7D8BAB"/>
            </a:solidFill>
            <a:prstDash val="solid"/>
          </a:ln>
        </p:spPr>
      </p:sp>
      <p:sp>
        <p:nvSpPr>
          <p:cNvPr id="12" name="Shape 10"/>
          <p:cNvSpPr/>
          <p:nvPr/>
        </p:nvSpPr>
        <p:spPr>
          <a:xfrm>
            <a:off x="3273552" y="2450592"/>
            <a:ext cx="164592" cy="182880"/>
          </a:xfrm>
          <a:prstGeom prst="chevron">
            <a:avLst/>
          </a:prstGeom>
          <a:solidFill>
            <a:srgbClr val="7D8BAB"/>
          </a:solidFill>
          <a:ln w="12700">
            <a:solidFill>
              <a:srgbClr val="7D8BAB"/>
            </a:solidFill>
            <a:prstDash val="solid"/>
          </a:ln>
        </p:spPr>
      </p:sp>
      <p:sp>
        <p:nvSpPr>
          <p:cNvPr id="13" name="Shape 11"/>
          <p:cNvSpPr/>
          <p:nvPr/>
        </p:nvSpPr>
        <p:spPr>
          <a:xfrm>
            <a:off x="3493008" y="1828800"/>
            <a:ext cx="2331720" cy="1444752"/>
          </a:xfrm>
          <a:prstGeom prst="roundRect">
            <a:avLst>
              <a:gd name="adj" fmla="val 5063"/>
            </a:avLst>
          </a:prstGeom>
          <a:solidFill>
            <a:srgbClr val="131D31"/>
          </a:solidFill>
          <a:ln w="10160">
            <a:solidFill>
              <a:srgbClr val="2B3B58"/>
            </a:solidFill>
            <a:prstDash val="solid"/>
          </a:ln>
        </p:spPr>
      </p:sp>
      <p:sp>
        <p:nvSpPr>
          <p:cNvPr id="14" name="Shape 12"/>
          <p:cNvSpPr/>
          <p:nvPr/>
        </p:nvSpPr>
        <p:spPr>
          <a:xfrm>
            <a:off x="3657600" y="1993392"/>
            <a:ext cx="347472" cy="347472"/>
          </a:xfrm>
          <a:prstGeom prst="ellipse">
            <a:avLst/>
          </a:prstGeom>
          <a:solidFill>
            <a:srgbClr val="36D6C5"/>
          </a:solidFill>
          <a:ln w="12700">
            <a:solidFill>
              <a:srgbClr val="36D6C5"/>
            </a:solidFill>
            <a:prstDash val="solid"/>
          </a:ln>
        </p:spPr>
      </p:sp>
      <p:sp>
        <p:nvSpPr>
          <p:cNvPr id="15" name="Text 13"/>
          <p:cNvSpPr txBox="1"/>
          <p:nvPr/>
        </p:nvSpPr>
        <p:spPr>
          <a:xfrm>
            <a:off x="3657600" y="2016252"/>
            <a:ext cx="347472" cy="228600"/>
          </a:xfrm>
          <a:prstGeom prst="rect">
            <a:avLst/>
          </a:prstGeom>
          <a:noFill/>
        </p:spPr>
        <p:txBody>
          <a:bodyPr wrap="square" lIns="0" tIns="0" rIns="0" bIns="0" rtlCol="0" anchor="ctr">
            <a:normAutofit/>
          </a:bodyPr>
          <a:lstStyle/>
          <a:p>
            <a:pPr marL="0" indent="0" algn="ctr">
              <a:buNone/>
            </a:pPr>
            <a:r>
              <a:rPr lang="en-US" sz="1100" b="1" dirty="0">
                <a:solidFill>
                  <a:srgbClr val="0B1020"/>
                </a:solidFill>
                <a:latin typeface="Aptos" pitchFamily="34" charset="0"/>
                <a:ea typeface="Aptos" pitchFamily="34" charset="-122"/>
                <a:cs typeface="Aptos" pitchFamily="34" charset="-120"/>
              </a:rPr>
              <a:t>2</a:t>
            </a:r>
            <a:endParaRPr lang="en-US" sz="1100" dirty="0"/>
          </a:p>
        </p:txBody>
      </p:sp>
      <p:sp>
        <p:nvSpPr>
          <p:cNvPr id="16" name="Text 14"/>
          <p:cNvSpPr txBox="1"/>
          <p:nvPr/>
        </p:nvSpPr>
        <p:spPr>
          <a:xfrm>
            <a:off x="3657600" y="2450592"/>
            <a:ext cx="2002536" cy="210312"/>
          </a:xfrm>
          <a:prstGeom prst="rect">
            <a:avLst/>
          </a:prstGeom>
          <a:noFill/>
        </p:spPr>
        <p:txBody>
          <a:bodyPr wrap="square" lIns="0" tIns="0" rIns="0" bIns="0" rtlCol="0" anchor="ctr">
            <a:normAutofit/>
          </a:bodyPr>
          <a:lstStyle/>
          <a:p>
            <a:pPr marL="0" indent="0" algn="l">
              <a:buNone/>
            </a:pPr>
            <a:r>
              <a:rPr lang="en-US" sz="1000" b="1" kern="0" spc="70" dirty="0">
                <a:solidFill>
                  <a:srgbClr val="36D6C5"/>
                </a:solidFill>
                <a:latin typeface="Aptos" pitchFamily="34" charset="0"/>
                <a:ea typeface="Aptos" pitchFamily="34" charset="-122"/>
                <a:cs typeface="Aptos" pitchFamily="34" charset="-120"/>
              </a:rPr>
              <a:t>VALIDATION SEARCH</a:t>
            </a:r>
            <a:endParaRPr lang="en-US" sz="1000" dirty="0"/>
          </a:p>
        </p:txBody>
      </p:sp>
      <p:sp>
        <p:nvSpPr>
          <p:cNvPr id="17" name="Text 15"/>
          <p:cNvSpPr txBox="1"/>
          <p:nvPr/>
        </p:nvSpPr>
        <p:spPr>
          <a:xfrm>
            <a:off x="3657600" y="2761488"/>
            <a:ext cx="2020824" cy="429768"/>
          </a:xfrm>
          <a:prstGeom prst="rect">
            <a:avLst/>
          </a:prstGeom>
          <a:noFill/>
        </p:spPr>
        <p:txBody>
          <a:bodyPr wrap="square" lIns="0" tIns="0" rIns="0" bIns="0" rtlCol="0" anchor="t">
            <a:normAutofit/>
          </a:bodyPr>
          <a:lstStyle/>
          <a:p>
            <a:pPr marL="0" indent="0" algn="l">
              <a:buNone/>
            </a:pPr>
            <a:r>
              <a:rPr lang="en-US" sz="1200" dirty="0">
                <a:solidFill>
                  <a:srgbClr val="F4F7FF"/>
                </a:solidFill>
                <a:latin typeface="Aptos" pitchFamily="34" charset="0"/>
                <a:ea typeface="Aptos" pitchFamily="34" charset="-122"/>
                <a:cs typeface="Aptos" pitchFamily="34" charset="-120"/>
              </a:rPr>
              <a:t>Validation balanced accuracy</a:t>
            </a:r>
            <a:endParaRPr lang="en-US" sz="1200" dirty="0"/>
          </a:p>
          <a:p>
            <a:pPr marL="0" indent="0" algn="l">
              <a:buNone/>
            </a:pPr>
            <a:r>
              <a:rPr lang="en-US" sz="1200" dirty="0">
                <a:solidFill>
                  <a:srgbClr val="F4F7FF"/>
                </a:solidFill>
                <a:latin typeface="Aptos" pitchFamily="34" charset="0"/>
                <a:ea typeface="Aptos" pitchFamily="34" charset="-122"/>
                <a:cs typeface="Aptos" pitchFamily="34" charset="-120"/>
              </a:rPr>
              <a:t>GA • Random • TPE</a:t>
            </a:r>
            <a:endParaRPr lang="en-US" sz="1200" dirty="0"/>
          </a:p>
        </p:txBody>
      </p:sp>
      <p:sp>
        <p:nvSpPr>
          <p:cNvPr id="18" name="Shape 16"/>
          <p:cNvSpPr/>
          <p:nvPr/>
        </p:nvSpPr>
        <p:spPr>
          <a:xfrm>
            <a:off x="5897880" y="2542032"/>
            <a:ext cx="320040" cy="0"/>
          </a:xfrm>
          <a:prstGeom prst="line">
            <a:avLst/>
          </a:prstGeom>
          <a:noFill/>
          <a:ln w="19050">
            <a:solidFill>
              <a:srgbClr val="7D8BAB"/>
            </a:solidFill>
            <a:prstDash val="solid"/>
          </a:ln>
        </p:spPr>
      </p:sp>
      <p:sp>
        <p:nvSpPr>
          <p:cNvPr id="19" name="Shape 17"/>
          <p:cNvSpPr/>
          <p:nvPr/>
        </p:nvSpPr>
        <p:spPr>
          <a:xfrm>
            <a:off x="6108192" y="2450592"/>
            <a:ext cx="164592" cy="182880"/>
          </a:xfrm>
          <a:prstGeom prst="chevron">
            <a:avLst/>
          </a:prstGeom>
          <a:solidFill>
            <a:srgbClr val="7D8BAB"/>
          </a:solidFill>
          <a:ln w="12700">
            <a:solidFill>
              <a:srgbClr val="7D8BAB"/>
            </a:solidFill>
            <a:prstDash val="solid"/>
          </a:ln>
        </p:spPr>
      </p:sp>
      <p:sp>
        <p:nvSpPr>
          <p:cNvPr id="20" name="Shape 18"/>
          <p:cNvSpPr/>
          <p:nvPr/>
        </p:nvSpPr>
        <p:spPr>
          <a:xfrm>
            <a:off x="6327648" y="1828800"/>
            <a:ext cx="2331720" cy="1444752"/>
          </a:xfrm>
          <a:prstGeom prst="roundRect">
            <a:avLst>
              <a:gd name="adj" fmla="val 5063"/>
            </a:avLst>
          </a:prstGeom>
          <a:solidFill>
            <a:srgbClr val="131D31"/>
          </a:solidFill>
          <a:ln w="10160">
            <a:solidFill>
              <a:srgbClr val="2B3B58"/>
            </a:solidFill>
            <a:prstDash val="solid"/>
          </a:ln>
        </p:spPr>
      </p:sp>
      <p:sp>
        <p:nvSpPr>
          <p:cNvPr id="21" name="Shape 19"/>
          <p:cNvSpPr/>
          <p:nvPr/>
        </p:nvSpPr>
        <p:spPr>
          <a:xfrm>
            <a:off x="6492240" y="1993392"/>
            <a:ext cx="347472" cy="347472"/>
          </a:xfrm>
          <a:prstGeom prst="ellipse">
            <a:avLst/>
          </a:prstGeom>
          <a:solidFill>
            <a:srgbClr val="B09AFF"/>
          </a:solidFill>
          <a:ln w="12700">
            <a:solidFill>
              <a:srgbClr val="B09AFF"/>
            </a:solidFill>
            <a:prstDash val="solid"/>
          </a:ln>
        </p:spPr>
      </p:sp>
      <p:sp>
        <p:nvSpPr>
          <p:cNvPr id="22" name="Text 20"/>
          <p:cNvSpPr txBox="1"/>
          <p:nvPr/>
        </p:nvSpPr>
        <p:spPr>
          <a:xfrm>
            <a:off x="6492240" y="2016252"/>
            <a:ext cx="347472" cy="228600"/>
          </a:xfrm>
          <a:prstGeom prst="rect">
            <a:avLst/>
          </a:prstGeom>
          <a:noFill/>
        </p:spPr>
        <p:txBody>
          <a:bodyPr wrap="square" lIns="0" tIns="0" rIns="0" bIns="0" rtlCol="0" anchor="ctr">
            <a:normAutofit/>
          </a:bodyPr>
          <a:lstStyle/>
          <a:p>
            <a:pPr marL="0" indent="0" algn="ctr">
              <a:buNone/>
            </a:pPr>
            <a:r>
              <a:rPr lang="en-US" sz="1100" b="1" dirty="0">
                <a:solidFill>
                  <a:srgbClr val="0B1020"/>
                </a:solidFill>
                <a:latin typeface="Aptos" pitchFamily="34" charset="0"/>
                <a:ea typeface="Aptos" pitchFamily="34" charset="-122"/>
                <a:cs typeface="Aptos" pitchFamily="34" charset="-120"/>
              </a:rPr>
              <a:t>3</a:t>
            </a:r>
            <a:endParaRPr lang="en-US" sz="1100" dirty="0"/>
          </a:p>
        </p:txBody>
      </p:sp>
      <p:sp>
        <p:nvSpPr>
          <p:cNvPr id="23" name="Text 21"/>
          <p:cNvSpPr txBox="1"/>
          <p:nvPr/>
        </p:nvSpPr>
        <p:spPr>
          <a:xfrm>
            <a:off x="6492240" y="2450592"/>
            <a:ext cx="2002536" cy="210312"/>
          </a:xfrm>
          <a:prstGeom prst="rect">
            <a:avLst/>
          </a:prstGeom>
          <a:noFill/>
        </p:spPr>
        <p:txBody>
          <a:bodyPr wrap="square" lIns="0" tIns="0" rIns="0" bIns="0" rtlCol="0" anchor="ctr">
            <a:normAutofit/>
          </a:bodyPr>
          <a:lstStyle/>
          <a:p>
            <a:pPr marL="0" indent="0" algn="l">
              <a:buNone/>
            </a:pPr>
            <a:r>
              <a:rPr lang="en-US" sz="1000" b="1" kern="0" spc="70" dirty="0">
                <a:solidFill>
                  <a:srgbClr val="B09AFF"/>
                </a:solidFill>
                <a:latin typeface="Aptos" pitchFamily="34" charset="0"/>
                <a:ea typeface="Aptos" pitchFamily="34" charset="-122"/>
                <a:cs typeface="Aptos" pitchFamily="34" charset="-120"/>
              </a:rPr>
              <a:t>SELECT CONFIG</a:t>
            </a:r>
            <a:endParaRPr lang="en-US" sz="1000" dirty="0"/>
          </a:p>
        </p:txBody>
      </p:sp>
      <p:sp>
        <p:nvSpPr>
          <p:cNvPr id="24" name="Text 22"/>
          <p:cNvSpPr txBox="1"/>
          <p:nvPr/>
        </p:nvSpPr>
        <p:spPr>
          <a:xfrm>
            <a:off x="6492240" y="2761488"/>
            <a:ext cx="2020824" cy="429768"/>
          </a:xfrm>
          <a:prstGeom prst="rect">
            <a:avLst/>
          </a:prstGeom>
          <a:noFill/>
        </p:spPr>
        <p:txBody>
          <a:bodyPr wrap="square" lIns="0" tIns="0" rIns="0" bIns="0" rtlCol="0" anchor="t">
            <a:normAutofit/>
          </a:bodyPr>
          <a:lstStyle/>
          <a:p>
            <a:pPr marL="0" indent="0" algn="l">
              <a:buNone/>
            </a:pPr>
            <a:r>
              <a:rPr lang="en-US" sz="1200" dirty="0">
                <a:solidFill>
                  <a:srgbClr val="F4F7FF"/>
                </a:solidFill>
                <a:latin typeface="Aptos" pitchFamily="34" charset="0"/>
                <a:ea typeface="Aptos" pitchFamily="34" charset="-122"/>
                <a:cs typeface="Aptos" pitchFamily="34" charset="-120"/>
              </a:rPr>
              <a:t>Best observed candidate</a:t>
            </a:r>
            <a:endParaRPr lang="en-US" sz="1200" dirty="0"/>
          </a:p>
          <a:p>
            <a:pPr marL="0" indent="0" algn="l">
              <a:buNone/>
            </a:pPr>
            <a:r>
              <a:rPr lang="en-US" sz="1200" dirty="0">
                <a:solidFill>
                  <a:srgbClr val="F4F7FF"/>
                </a:solidFill>
                <a:latin typeface="Aptos" pitchFamily="34" charset="0"/>
                <a:ea typeface="Aptos" pitchFamily="34" charset="-122"/>
                <a:cs typeface="Aptos" pitchFamily="34" charset="-120"/>
              </a:rPr>
              <a:t>Chosen without test scores</a:t>
            </a:r>
            <a:endParaRPr lang="en-US" sz="1200" dirty="0"/>
          </a:p>
        </p:txBody>
      </p:sp>
      <p:sp>
        <p:nvSpPr>
          <p:cNvPr id="25" name="Shape 23"/>
          <p:cNvSpPr/>
          <p:nvPr/>
        </p:nvSpPr>
        <p:spPr>
          <a:xfrm>
            <a:off x="8732520" y="2542032"/>
            <a:ext cx="320040" cy="0"/>
          </a:xfrm>
          <a:prstGeom prst="line">
            <a:avLst/>
          </a:prstGeom>
          <a:noFill/>
          <a:ln w="19050">
            <a:solidFill>
              <a:srgbClr val="7D8BAB"/>
            </a:solidFill>
            <a:prstDash val="solid"/>
          </a:ln>
        </p:spPr>
      </p:sp>
      <p:sp>
        <p:nvSpPr>
          <p:cNvPr id="26" name="Shape 24"/>
          <p:cNvSpPr/>
          <p:nvPr/>
        </p:nvSpPr>
        <p:spPr>
          <a:xfrm>
            <a:off x="8942832" y="2450592"/>
            <a:ext cx="164592" cy="182880"/>
          </a:xfrm>
          <a:prstGeom prst="chevron">
            <a:avLst/>
          </a:prstGeom>
          <a:solidFill>
            <a:srgbClr val="7D8BAB"/>
          </a:solidFill>
          <a:ln w="12700">
            <a:solidFill>
              <a:srgbClr val="7D8BAB"/>
            </a:solidFill>
            <a:prstDash val="solid"/>
          </a:ln>
        </p:spPr>
      </p:sp>
      <p:sp>
        <p:nvSpPr>
          <p:cNvPr id="27" name="Shape 25"/>
          <p:cNvSpPr/>
          <p:nvPr/>
        </p:nvSpPr>
        <p:spPr>
          <a:xfrm>
            <a:off x="9162288" y="1828800"/>
            <a:ext cx="2331720" cy="1444752"/>
          </a:xfrm>
          <a:prstGeom prst="roundRect">
            <a:avLst>
              <a:gd name="adj" fmla="val 5063"/>
            </a:avLst>
          </a:prstGeom>
          <a:solidFill>
            <a:srgbClr val="131D31"/>
          </a:solidFill>
          <a:ln w="10160">
            <a:solidFill>
              <a:srgbClr val="2B3B58"/>
            </a:solidFill>
            <a:prstDash val="solid"/>
          </a:ln>
        </p:spPr>
      </p:sp>
      <p:sp>
        <p:nvSpPr>
          <p:cNvPr id="28" name="Shape 26"/>
          <p:cNvSpPr/>
          <p:nvPr/>
        </p:nvSpPr>
        <p:spPr>
          <a:xfrm>
            <a:off x="9326880" y="1993392"/>
            <a:ext cx="347472" cy="347472"/>
          </a:xfrm>
          <a:prstGeom prst="ellipse">
            <a:avLst/>
          </a:prstGeom>
          <a:solidFill>
            <a:srgbClr val="FFB65E"/>
          </a:solidFill>
          <a:ln w="12700">
            <a:solidFill>
              <a:srgbClr val="FFB65E"/>
            </a:solidFill>
            <a:prstDash val="solid"/>
          </a:ln>
        </p:spPr>
      </p:sp>
      <p:sp>
        <p:nvSpPr>
          <p:cNvPr id="29" name="Text 27"/>
          <p:cNvSpPr txBox="1"/>
          <p:nvPr/>
        </p:nvSpPr>
        <p:spPr>
          <a:xfrm>
            <a:off x="9326880" y="2016252"/>
            <a:ext cx="347472" cy="228600"/>
          </a:xfrm>
          <a:prstGeom prst="rect">
            <a:avLst/>
          </a:prstGeom>
          <a:noFill/>
        </p:spPr>
        <p:txBody>
          <a:bodyPr wrap="square" lIns="0" tIns="0" rIns="0" bIns="0" rtlCol="0" anchor="ctr">
            <a:normAutofit/>
          </a:bodyPr>
          <a:lstStyle/>
          <a:p>
            <a:pPr marL="0" indent="0" algn="ctr">
              <a:buNone/>
            </a:pPr>
            <a:r>
              <a:rPr lang="en-US" sz="1100" b="1" dirty="0">
                <a:solidFill>
                  <a:srgbClr val="0B1020"/>
                </a:solidFill>
                <a:latin typeface="Aptos" pitchFamily="34" charset="0"/>
                <a:ea typeface="Aptos" pitchFamily="34" charset="-122"/>
                <a:cs typeface="Aptos" pitchFamily="34" charset="-120"/>
              </a:rPr>
              <a:t>4</a:t>
            </a:r>
            <a:endParaRPr lang="en-US" sz="1100" dirty="0"/>
          </a:p>
        </p:txBody>
      </p:sp>
      <p:sp>
        <p:nvSpPr>
          <p:cNvPr id="30" name="Text 28"/>
          <p:cNvSpPr txBox="1"/>
          <p:nvPr/>
        </p:nvSpPr>
        <p:spPr>
          <a:xfrm>
            <a:off x="9326880" y="2450592"/>
            <a:ext cx="2002536" cy="210312"/>
          </a:xfrm>
          <a:prstGeom prst="rect">
            <a:avLst/>
          </a:prstGeom>
          <a:noFill/>
        </p:spPr>
        <p:txBody>
          <a:bodyPr wrap="square" lIns="0" tIns="0" rIns="0" bIns="0" rtlCol="0" anchor="ctr">
            <a:normAutofit/>
          </a:bodyPr>
          <a:lstStyle/>
          <a:p>
            <a:pPr marL="0" indent="0" algn="l">
              <a:buNone/>
            </a:pPr>
            <a:r>
              <a:rPr lang="en-US" sz="1000" b="1" kern="0" spc="70" dirty="0">
                <a:solidFill>
                  <a:srgbClr val="FFB65E"/>
                </a:solidFill>
                <a:latin typeface="Aptos" pitchFamily="34" charset="0"/>
                <a:ea typeface="Aptos" pitchFamily="34" charset="-122"/>
                <a:cs typeface="Aptos" pitchFamily="34" charset="-120"/>
              </a:rPr>
              <a:t>FINAL EVALUATION</a:t>
            </a:r>
            <a:endParaRPr lang="en-US" sz="1000" dirty="0"/>
          </a:p>
        </p:txBody>
      </p:sp>
      <p:sp>
        <p:nvSpPr>
          <p:cNvPr id="31" name="Text 29"/>
          <p:cNvSpPr txBox="1"/>
          <p:nvPr/>
        </p:nvSpPr>
        <p:spPr>
          <a:xfrm>
            <a:off x="9326880" y="2761488"/>
            <a:ext cx="2020824" cy="429768"/>
          </a:xfrm>
          <a:prstGeom prst="rect">
            <a:avLst/>
          </a:prstGeom>
          <a:noFill/>
        </p:spPr>
        <p:txBody>
          <a:bodyPr wrap="square" lIns="0" tIns="0" rIns="0" bIns="0" rtlCol="0" anchor="t">
            <a:normAutofit/>
          </a:bodyPr>
          <a:lstStyle/>
          <a:p>
            <a:pPr marL="0" indent="0" algn="l">
              <a:buNone/>
            </a:pPr>
            <a:r>
              <a:rPr lang="en-US" sz="1200" dirty="0">
                <a:solidFill>
                  <a:srgbClr val="F4F7FF"/>
                </a:solidFill>
                <a:latin typeface="Aptos" pitchFamily="34" charset="0"/>
                <a:ea typeface="Aptos" pitchFamily="34" charset="-122"/>
                <a:cs typeface="Aptos" pitchFamily="34" charset="-120"/>
              </a:rPr>
              <a:t>Five benchmarks</a:t>
            </a:r>
            <a:endParaRPr lang="en-US" sz="1200" dirty="0"/>
          </a:p>
          <a:p>
            <a:pPr marL="0" indent="0" algn="l">
              <a:buNone/>
            </a:pPr>
            <a:r>
              <a:rPr lang="en-US" sz="1200" dirty="0">
                <a:solidFill>
                  <a:srgbClr val="F4F7FF"/>
                </a:solidFill>
                <a:latin typeface="Aptos" pitchFamily="34" charset="0"/>
                <a:ea typeface="Aptos" pitchFamily="34" charset="-122"/>
                <a:cs typeface="Aptos" pitchFamily="34" charset="-120"/>
              </a:rPr>
              <a:t>Specificity + TP/FP/FN/TN</a:t>
            </a:r>
            <a:endParaRPr lang="en-US" sz="1200" dirty="0"/>
          </a:p>
        </p:txBody>
      </p:sp>
      <p:sp>
        <p:nvSpPr>
          <p:cNvPr id="32" name="Shape 30"/>
          <p:cNvSpPr/>
          <p:nvPr/>
        </p:nvSpPr>
        <p:spPr>
          <a:xfrm>
            <a:off x="658368" y="3767328"/>
            <a:ext cx="10899648" cy="1371600"/>
          </a:xfrm>
          <a:prstGeom prst="roundRect">
            <a:avLst>
              <a:gd name="adj" fmla="val 5333"/>
            </a:avLst>
          </a:prstGeom>
          <a:solidFill>
            <a:srgbClr val="16273B"/>
          </a:solidFill>
          <a:ln w="10160">
            <a:solidFill>
              <a:srgbClr val="2B6571"/>
            </a:solidFill>
            <a:prstDash val="solid"/>
          </a:ln>
        </p:spPr>
      </p:sp>
      <p:sp>
        <p:nvSpPr>
          <p:cNvPr id="33" name="Text 31"/>
          <p:cNvSpPr txBox="1"/>
          <p:nvPr/>
        </p:nvSpPr>
        <p:spPr>
          <a:xfrm>
            <a:off x="896112" y="4005072"/>
            <a:ext cx="2286000" cy="219456"/>
          </a:xfrm>
          <a:prstGeom prst="rect">
            <a:avLst/>
          </a:prstGeom>
          <a:noFill/>
        </p:spPr>
        <p:txBody>
          <a:bodyPr wrap="square" lIns="0" tIns="0" rIns="0" bIns="0" rtlCol="0" anchor="ctr">
            <a:normAutofit/>
          </a:bodyPr>
          <a:lstStyle/>
          <a:p>
            <a:pPr marL="0" indent="0" algn="l">
              <a:buNone/>
            </a:pPr>
            <a:r>
              <a:rPr lang="en-US" sz="1000" b="1" kern="0" spc="110" dirty="0">
                <a:solidFill>
                  <a:srgbClr val="36D6C5"/>
                </a:solidFill>
                <a:latin typeface="Aptos" pitchFamily="34" charset="0"/>
                <a:ea typeface="Aptos" pitchFamily="34" charset="-122"/>
                <a:cs typeface="Aptos" pitchFamily="34" charset="-120"/>
              </a:rPr>
              <a:t>WHAT IS NOVEL HERE?</a:t>
            </a:r>
            <a:endParaRPr lang="en-US" sz="1000" dirty="0"/>
          </a:p>
        </p:txBody>
      </p:sp>
      <p:sp>
        <p:nvSpPr>
          <p:cNvPr id="34" name="Text 32"/>
          <p:cNvSpPr txBox="1"/>
          <p:nvPr/>
        </p:nvSpPr>
        <p:spPr>
          <a:xfrm>
            <a:off x="896112" y="4343400"/>
            <a:ext cx="10241280" cy="429768"/>
          </a:xfrm>
          <a:prstGeom prst="rect">
            <a:avLst/>
          </a:prstGeom>
          <a:noFill/>
        </p:spPr>
        <p:txBody>
          <a:bodyPr wrap="square" lIns="0" tIns="0" rIns="0" bIns="0" rtlCol="0" anchor="ctr">
            <a:normAutofit fontScale="90000" lnSpcReduction="20000"/>
          </a:bodyPr>
          <a:lstStyle/>
          <a:p>
            <a:pPr marL="0" indent="0" algn="ctr">
              <a:buNone/>
            </a:pPr>
            <a:r>
              <a:rPr lang="en-US" sz="1700" b="1" dirty="0">
                <a:solidFill>
                  <a:srgbClr val="F4F7FF"/>
                </a:solidFill>
                <a:latin typeface="Aptos" pitchFamily="34" charset="0"/>
                <a:ea typeface="Aptos" pitchFamily="34" charset="-122"/>
                <a:cs typeface="Aptos" pitchFamily="34" charset="-120"/>
              </a:rPr>
              <a:t>Seven gene CNN search + repeated seeds + equal evaluation budget + per gene sensitivity </a:t>
            </a:r>
            <a:endParaRPr lang="en-US" sz="1700" b="1" dirty="0">
              <a:solidFill>
                <a:srgbClr val="F4F7FF"/>
              </a:solidFill>
              <a:latin typeface="Aptos" pitchFamily="34" charset="0"/>
              <a:ea typeface="Aptos" pitchFamily="34" charset="-122"/>
              <a:cs typeface="Aptos" pitchFamily="34" charset="-120"/>
            </a:endParaRPr>
          </a:p>
          <a:p>
            <a:pPr marL="0" indent="0" algn="ctr">
              <a:buNone/>
            </a:pPr>
            <a:r>
              <a:rPr lang="en-US" sz="1700" b="1" dirty="0">
                <a:solidFill>
                  <a:srgbClr val="F4F7FF"/>
                </a:solidFill>
                <a:latin typeface="Aptos" pitchFamily="34" charset="0"/>
                <a:ea typeface="Aptos" pitchFamily="34" charset="-122"/>
                <a:cs typeface="Aptos" pitchFamily="34" charset="-120"/>
              </a:rPr>
              <a:t>+ cross benchmark testing.</a:t>
            </a:r>
            <a:endParaRPr lang="en-US" sz="1700" dirty="0"/>
          </a:p>
        </p:txBody>
      </p:sp>
      <p:sp>
        <p:nvSpPr>
          <p:cNvPr id="35" name="Text 33"/>
          <p:cNvSpPr txBox="1"/>
          <p:nvPr/>
        </p:nvSpPr>
        <p:spPr>
          <a:xfrm>
            <a:off x="896112" y="4901184"/>
            <a:ext cx="9966960" cy="210312"/>
          </a:xfrm>
          <a:prstGeom prst="rect">
            <a:avLst/>
          </a:prstGeom>
          <a:noFill/>
        </p:spPr>
        <p:txBody>
          <a:bodyPr wrap="square" lIns="0" tIns="0" rIns="0" bIns="0" rtlCol="0" anchor="ctr">
            <a:normAutofit/>
          </a:bodyPr>
          <a:lstStyle/>
          <a:p>
            <a:pPr marL="0" indent="0" algn="l">
              <a:buNone/>
            </a:pPr>
            <a:r>
              <a:rPr lang="en-US" sz="1100" dirty="0">
                <a:solidFill>
                  <a:srgbClr val="A7B4CE"/>
                </a:solidFill>
                <a:latin typeface="Aptos" pitchFamily="34" charset="0"/>
                <a:ea typeface="Aptos" pitchFamily="34" charset="-122"/>
                <a:cs typeface="Aptos" pitchFamily="34" charset="-120"/>
              </a:rPr>
              <a:t>The revision makes the selection criterion explicit and compares three optimizers under the same nominal trial budget.</a:t>
            </a:r>
            <a:endParaRPr lang="en-US" sz="1100" dirty="0"/>
          </a:p>
        </p:txBody>
      </p:sp>
      <p:sp>
        <p:nvSpPr>
          <p:cNvPr id="36" name="Slide Number Placeholder 0"/>
          <p:cNvSpPr>
            <a:spLocks noGrp="1"/>
          </p:cNvSpPr>
          <p:nvPr>
            <p:ph type="sldNum" sz="quarter" idx="4294967295"/>
          </p:nvPr>
        </p:nvSpPr>
        <p:spPr>
          <a:xfrm>
            <a:off x="11292840" y="6510528"/>
            <a:ext cx="800000" cy="300000"/>
          </a:xfrm>
          <a:prstGeom prst="rect">
            <a:avLst/>
          </a:prstGeom>
        </p:spPr>
        <p:txBody>
          <a:bodyPr/>
          <a:lstStyle>
            <a:lvl1pPr>
              <a:defRPr sz="800">
                <a:solidFill>
                  <a:srgbClr val="8090B0"/>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0"/>
          <p:cNvSpPr txBox="1"/>
          <p:nvPr/>
        </p:nvSpPr>
        <p:spPr>
          <a:xfrm>
            <a:off x="621792" y="292608"/>
            <a:ext cx="4572000" cy="219456"/>
          </a:xfrm>
          <a:prstGeom prst="rect">
            <a:avLst/>
          </a:prstGeom>
          <a:noFill/>
        </p:spPr>
        <p:txBody>
          <a:bodyPr wrap="square" lIns="0" tIns="0" rIns="0" bIns="0" rtlCol="0" anchor="ctr">
            <a:normAutofit/>
          </a:bodyPr>
          <a:lstStyle/>
          <a:p>
            <a:pPr marL="0" indent="0" algn="l">
              <a:buNone/>
            </a:pPr>
            <a:r>
              <a:rPr lang="en-US" sz="900" b="1" kern="0" spc="180" dirty="0">
                <a:solidFill>
                  <a:srgbClr val="36D6C5"/>
                </a:solidFill>
                <a:latin typeface="Aptos" pitchFamily="34" charset="0"/>
                <a:ea typeface="Aptos" pitchFamily="34" charset="-122"/>
                <a:cs typeface="Aptos" pitchFamily="34" charset="-120"/>
              </a:rPr>
              <a:t>03  •  EXPERIMENT DESIGN</a:t>
            </a:r>
            <a:endParaRPr lang="en-US" sz="900" dirty="0"/>
          </a:p>
        </p:txBody>
      </p:sp>
      <p:sp>
        <p:nvSpPr>
          <p:cNvPr id="3" name="Text 1"/>
          <p:cNvSpPr txBox="1"/>
          <p:nvPr/>
        </p:nvSpPr>
        <p:spPr>
          <a:xfrm>
            <a:off x="621792" y="612648"/>
            <a:ext cx="10972800" cy="475488"/>
          </a:xfrm>
          <a:prstGeom prst="rect">
            <a:avLst/>
          </a:prstGeom>
          <a:noFill/>
        </p:spPr>
        <p:txBody>
          <a:bodyPr wrap="square" lIns="0" tIns="0" rIns="0" bIns="0" rtlCol="0" anchor="ctr">
            <a:normAutofit/>
          </a:bodyPr>
          <a:lstStyle/>
          <a:p>
            <a:pPr marL="0" indent="0" algn="l">
              <a:buNone/>
            </a:pPr>
            <a:r>
              <a:rPr lang="en-US" sz="2700" b="1" dirty="0">
                <a:solidFill>
                  <a:srgbClr val="F4F7FF"/>
                </a:solidFill>
                <a:latin typeface="Aptos" pitchFamily="34" charset="0"/>
                <a:ea typeface="Aptos" pitchFamily="34" charset="-122"/>
                <a:cs typeface="Aptos" pitchFamily="34" charset="-120"/>
              </a:rPr>
              <a:t>Seven gene search space and equal budget</a:t>
            </a:r>
            <a:endParaRPr lang="en-US" sz="2700" dirty="0"/>
          </a:p>
        </p:txBody>
      </p:sp>
      <p:sp>
        <p:nvSpPr>
          <p:cNvPr id="4" name="Text 2"/>
          <p:cNvSpPr txBox="1"/>
          <p:nvPr/>
        </p:nvSpPr>
        <p:spPr>
          <a:xfrm>
            <a:off x="640080" y="1106424"/>
            <a:ext cx="10789920" cy="292608"/>
          </a:xfrm>
          <a:prstGeom prst="rect">
            <a:avLst/>
          </a:prstGeom>
          <a:noFill/>
        </p:spPr>
        <p:txBody>
          <a:bodyPr wrap="square" lIns="0" tIns="0" rIns="0" bIns="0" rtlCol="0" anchor="ctr">
            <a:normAutofit/>
          </a:bodyPr>
          <a:lstStyle/>
          <a:p>
            <a:pPr marL="0" indent="0" algn="l">
              <a:buNone/>
            </a:pPr>
            <a:r>
              <a:rPr lang="en-US" sz="1200" dirty="0">
                <a:solidFill>
                  <a:srgbClr val="A7B4CE"/>
                </a:solidFill>
                <a:latin typeface="Aptos" pitchFamily="34" charset="0"/>
                <a:ea typeface="Aptos" pitchFamily="34" charset="-122"/>
                <a:cs typeface="Aptos" pitchFamily="34" charset="-120"/>
              </a:rPr>
              <a:t>All candidates use gradient clipping (clipnorm = 1.0); fitness is validation balanced accuracy.</a:t>
            </a:r>
            <a:endParaRPr lang="en-US" sz="1200" dirty="0"/>
          </a:p>
        </p:txBody>
      </p:sp>
      <p:sp>
        <p:nvSpPr>
          <p:cNvPr id="6" name="Shape 4"/>
          <p:cNvSpPr/>
          <p:nvPr/>
        </p:nvSpPr>
        <p:spPr>
          <a:xfrm>
            <a:off x="658368" y="1664208"/>
            <a:ext cx="6126480" cy="3529584"/>
          </a:xfrm>
          <a:prstGeom prst="roundRect">
            <a:avLst>
              <a:gd name="adj" fmla="val 2073"/>
            </a:avLst>
          </a:prstGeom>
          <a:solidFill>
            <a:srgbClr val="131D31"/>
          </a:solidFill>
          <a:ln w="10160">
            <a:solidFill>
              <a:srgbClr val="2B3B58"/>
            </a:solidFill>
            <a:prstDash val="solid"/>
          </a:ln>
        </p:spPr>
      </p:sp>
      <p:sp>
        <p:nvSpPr>
          <p:cNvPr id="7" name="Text 5"/>
          <p:cNvSpPr txBox="1"/>
          <p:nvPr/>
        </p:nvSpPr>
        <p:spPr>
          <a:xfrm>
            <a:off x="896112" y="1865376"/>
            <a:ext cx="4114800" cy="219456"/>
          </a:xfrm>
          <a:prstGeom prst="rect">
            <a:avLst/>
          </a:prstGeom>
          <a:noFill/>
        </p:spPr>
        <p:txBody>
          <a:bodyPr wrap="square" lIns="0" tIns="0" rIns="0" bIns="0" rtlCol="0" anchor="ctr">
            <a:normAutofit/>
          </a:bodyPr>
          <a:lstStyle/>
          <a:p>
            <a:pPr marL="0" indent="0" algn="l">
              <a:buNone/>
            </a:pPr>
            <a:r>
              <a:rPr lang="en-US" sz="1000" b="1" kern="0" spc="110" dirty="0">
                <a:solidFill>
                  <a:srgbClr val="36D6C5"/>
                </a:solidFill>
                <a:latin typeface="Aptos" pitchFamily="34" charset="0"/>
                <a:ea typeface="Aptos" pitchFamily="34" charset="-122"/>
                <a:cs typeface="Aptos" pitchFamily="34" charset="-120"/>
              </a:rPr>
              <a:t>HYPERPARAMETERS SEARCHED</a:t>
            </a:r>
            <a:endParaRPr lang="en-US" sz="1000" dirty="0"/>
          </a:p>
        </p:txBody>
      </p:sp>
      <p:sp>
        <p:nvSpPr>
          <p:cNvPr id="8" name="Text 6"/>
          <p:cNvSpPr txBox="1"/>
          <p:nvPr/>
        </p:nvSpPr>
        <p:spPr>
          <a:xfrm>
            <a:off x="896112" y="2231136"/>
            <a:ext cx="2377440" cy="182880"/>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Convolution blocks</a:t>
            </a:r>
            <a:endParaRPr lang="en-US" sz="1100" dirty="0"/>
          </a:p>
        </p:txBody>
      </p:sp>
      <p:sp>
        <p:nvSpPr>
          <p:cNvPr id="9" name="Text 7"/>
          <p:cNvSpPr txBox="1"/>
          <p:nvPr/>
        </p:nvSpPr>
        <p:spPr>
          <a:xfrm>
            <a:off x="896112" y="2441448"/>
            <a:ext cx="2560320" cy="228600"/>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2 or 3</a:t>
            </a:r>
            <a:endParaRPr lang="en-US" sz="1000" dirty="0"/>
          </a:p>
        </p:txBody>
      </p:sp>
      <p:sp>
        <p:nvSpPr>
          <p:cNvPr id="10" name="Text 8"/>
          <p:cNvSpPr txBox="1"/>
          <p:nvPr/>
        </p:nvSpPr>
        <p:spPr>
          <a:xfrm>
            <a:off x="3749040" y="2231136"/>
            <a:ext cx="2377440" cy="182880"/>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Base filters</a:t>
            </a:r>
            <a:endParaRPr lang="en-US" sz="1100" dirty="0"/>
          </a:p>
        </p:txBody>
      </p:sp>
      <p:sp>
        <p:nvSpPr>
          <p:cNvPr id="11" name="Text 9"/>
          <p:cNvSpPr txBox="1"/>
          <p:nvPr/>
        </p:nvSpPr>
        <p:spPr>
          <a:xfrm>
            <a:off x="3749040" y="2441448"/>
            <a:ext cx="2560320" cy="228600"/>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8, 16, 32</a:t>
            </a:r>
            <a:endParaRPr lang="en-US" sz="1000" dirty="0"/>
          </a:p>
        </p:txBody>
      </p:sp>
      <p:sp>
        <p:nvSpPr>
          <p:cNvPr id="12" name="Text 10"/>
          <p:cNvSpPr txBox="1"/>
          <p:nvPr/>
        </p:nvSpPr>
        <p:spPr>
          <a:xfrm>
            <a:off x="896112" y="2889504"/>
            <a:ext cx="2377440" cy="182880"/>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Kernel size</a:t>
            </a:r>
            <a:endParaRPr lang="en-US" sz="1100" dirty="0"/>
          </a:p>
        </p:txBody>
      </p:sp>
      <p:sp>
        <p:nvSpPr>
          <p:cNvPr id="13" name="Text 11"/>
          <p:cNvSpPr txBox="1"/>
          <p:nvPr/>
        </p:nvSpPr>
        <p:spPr>
          <a:xfrm>
            <a:off x="896112" y="3099816"/>
            <a:ext cx="2560320" cy="228600"/>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3 × 3 or 5 × 5</a:t>
            </a:r>
            <a:endParaRPr lang="en-US" sz="1000" dirty="0"/>
          </a:p>
        </p:txBody>
      </p:sp>
      <p:sp>
        <p:nvSpPr>
          <p:cNvPr id="14" name="Text 12"/>
          <p:cNvSpPr txBox="1"/>
          <p:nvPr/>
        </p:nvSpPr>
        <p:spPr>
          <a:xfrm>
            <a:off x="3749040" y="2889504"/>
            <a:ext cx="2377440" cy="182880"/>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Dropout</a:t>
            </a:r>
            <a:endParaRPr lang="en-US" sz="1100" dirty="0"/>
          </a:p>
        </p:txBody>
      </p:sp>
      <p:sp>
        <p:nvSpPr>
          <p:cNvPr id="15" name="Text 13"/>
          <p:cNvSpPr txBox="1"/>
          <p:nvPr/>
        </p:nvSpPr>
        <p:spPr>
          <a:xfrm>
            <a:off x="3749040" y="3099816"/>
            <a:ext cx="2560320" cy="228600"/>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0.2–0.5</a:t>
            </a:r>
            <a:endParaRPr lang="en-US" sz="1000" dirty="0"/>
          </a:p>
        </p:txBody>
      </p:sp>
      <p:sp>
        <p:nvSpPr>
          <p:cNvPr id="16" name="Text 14"/>
          <p:cNvSpPr txBox="1"/>
          <p:nvPr/>
        </p:nvSpPr>
        <p:spPr>
          <a:xfrm>
            <a:off x="896112" y="3547872"/>
            <a:ext cx="2377440" cy="182880"/>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Learning rate</a:t>
            </a:r>
            <a:endParaRPr lang="en-US" sz="1100" dirty="0"/>
          </a:p>
        </p:txBody>
      </p:sp>
      <p:sp>
        <p:nvSpPr>
          <p:cNvPr id="17" name="Text 15"/>
          <p:cNvSpPr txBox="1"/>
          <p:nvPr/>
        </p:nvSpPr>
        <p:spPr>
          <a:xfrm>
            <a:off x="896112" y="3758184"/>
            <a:ext cx="2560320" cy="228600"/>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0.01, 0.005, 0.001, 0.0005, 0.0001</a:t>
            </a:r>
            <a:endParaRPr lang="en-US" sz="1000" dirty="0"/>
          </a:p>
        </p:txBody>
      </p:sp>
      <p:sp>
        <p:nvSpPr>
          <p:cNvPr id="18" name="Text 16"/>
          <p:cNvSpPr txBox="1"/>
          <p:nvPr/>
        </p:nvSpPr>
        <p:spPr>
          <a:xfrm>
            <a:off x="3749040" y="3547872"/>
            <a:ext cx="2377440" cy="182880"/>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Dense units</a:t>
            </a:r>
            <a:endParaRPr lang="en-US" sz="1100" dirty="0"/>
          </a:p>
        </p:txBody>
      </p:sp>
      <p:sp>
        <p:nvSpPr>
          <p:cNvPr id="19" name="Text 17"/>
          <p:cNvSpPr txBox="1"/>
          <p:nvPr/>
        </p:nvSpPr>
        <p:spPr>
          <a:xfrm>
            <a:off x="3749040" y="3758184"/>
            <a:ext cx="2560320" cy="228600"/>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32, 64, 128</a:t>
            </a:r>
            <a:endParaRPr lang="en-US" sz="1000" dirty="0"/>
          </a:p>
        </p:txBody>
      </p:sp>
      <p:sp>
        <p:nvSpPr>
          <p:cNvPr id="20" name="Text 18"/>
          <p:cNvSpPr txBox="1"/>
          <p:nvPr/>
        </p:nvSpPr>
        <p:spPr>
          <a:xfrm>
            <a:off x="896112" y="4206240"/>
            <a:ext cx="2377440" cy="182880"/>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Batch size</a:t>
            </a:r>
            <a:endParaRPr lang="en-US" sz="1100" dirty="0"/>
          </a:p>
        </p:txBody>
      </p:sp>
      <p:sp>
        <p:nvSpPr>
          <p:cNvPr id="21" name="Text 19"/>
          <p:cNvSpPr txBox="1"/>
          <p:nvPr/>
        </p:nvSpPr>
        <p:spPr>
          <a:xfrm>
            <a:off x="896112" y="4416552"/>
            <a:ext cx="2560320" cy="228600"/>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16, 32, 64</a:t>
            </a:r>
            <a:endParaRPr lang="en-US" sz="1000" dirty="0"/>
          </a:p>
        </p:txBody>
      </p:sp>
      <p:sp>
        <p:nvSpPr>
          <p:cNvPr id="22" name="Shape 20"/>
          <p:cNvSpPr/>
          <p:nvPr/>
        </p:nvSpPr>
        <p:spPr>
          <a:xfrm>
            <a:off x="7059168" y="1664208"/>
            <a:ext cx="4480560" cy="3529584"/>
          </a:xfrm>
          <a:prstGeom prst="roundRect">
            <a:avLst>
              <a:gd name="adj" fmla="val 2073"/>
            </a:avLst>
          </a:prstGeom>
          <a:solidFill>
            <a:srgbClr val="131D31"/>
          </a:solidFill>
          <a:ln w="10160">
            <a:solidFill>
              <a:srgbClr val="2B3B58"/>
            </a:solidFill>
            <a:prstDash val="solid"/>
          </a:ln>
        </p:spPr>
      </p:sp>
      <p:sp>
        <p:nvSpPr>
          <p:cNvPr id="23" name="Text 21"/>
          <p:cNvSpPr txBox="1"/>
          <p:nvPr/>
        </p:nvSpPr>
        <p:spPr>
          <a:xfrm>
            <a:off x="7296912" y="1865376"/>
            <a:ext cx="2926080" cy="219456"/>
          </a:xfrm>
          <a:prstGeom prst="rect">
            <a:avLst/>
          </a:prstGeom>
          <a:noFill/>
        </p:spPr>
        <p:txBody>
          <a:bodyPr wrap="square" lIns="0" tIns="0" rIns="0" bIns="0" rtlCol="0" anchor="ctr">
            <a:normAutofit/>
          </a:bodyPr>
          <a:lstStyle/>
          <a:p>
            <a:pPr marL="0" indent="0" algn="l">
              <a:buNone/>
            </a:pPr>
            <a:r>
              <a:rPr lang="en-US" sz="1000" b="1" kern="0" spc="110" dirty="0">
                <a:solidFill>
                  <a:srgbClr val="FFB65E"/>
                </a:solidFill>
                <a:latin typeface="Aptos" pitchFamily="34" charset="0"/>
                <a:ea typeface="Aptos" pitchFamily="34" charset="-122"/>
                <a:cs typeface="Aptos" pitchFamily="34" charset="-120"/>
              </a:rPr>
              <a:t>OPTIMIZER BUDGET</a:t>
            </a:r>
            <a:endParaRPr lang="en-US" sz="1000" dirty="0"/>
          </a:p>
        </p:txBody>
      </p:sp>
      <p:sp>
        <p:nvSpPr>
          <p:cNvPr id="24" name="Shape 22"/>
          <p:cNvSpPr/>
          <p:nvPr/>
        </p:nvSpPr>
        <p:spPr>
          <a:xfrm>
            <a:off x="7296912" y="2240280"/>
            <a:ext cx="3968496" cy="576072"/>
          </a:xfrm>
          <a:prstGeom prst="roundRect">
            <a:avLst>
              <a:gd name="adj" fmla="val 12698"/>
            </a:avLst>
          </a:prstGeom>
          <a:solidFill>
            <a:srgbClr val="192640"/>
          </a:solidFill>
          <a:ln w="10160">
            <a:solidFill>
              <a:srgbClr val="2B3B58"/>
            </a:solidFill>
            <a:prstDash val="solid"/>
          </a:ln>
        </p:spPr>
      </p:sp>
      <p:sp>
        <p:nvSpPr>
          <p:cNvPr id="25" name="Text 23"/>
          <p:cNvSpPr txBox="1"/>
          <p:nvPr/>
        </p:nvSpPr>
        <p:spPr>
          <a:xfrm>
            <a:off x="7452360" y="2313432"/>
            <a:ext cx="1463040" cy="201168"/>
          </a:xfrm>
          <a:prstGeom prst="rect">
            <a:avLst/>
          </a:prstGeom>
          <a:noFill/>
        </p:spPr>
        <p:txBody>
          <a:bodyPr wrap="square" lIns="0" tIns="0" rIns="0" bIns="0" rtlCol="0" anchor="ctr">
            <a:normAutofit/>
          </a:bodyPr>
          <a:lstStyle/>
          <a:p>
            <a:pPr marL="0" indent="0" algn="l">
              <a:buNone/>
            </a:pPr>
            <a:r>
              <a:rPr lang="en-US" sz="1200" b="1" dirty="0">
                <a:solidFill>
                  <a:srgbClr val="FFB65E"/>
                </a:solidFill>
                <a:latin typeface="Aptos" pitchFamily="34" charset="0"/>
                <a:ea typeface="Aptos" pitchFamily="34" charset="-122"/>
                <a:cs typeface="Aptos" pitchFamily="34" charset="-120"/>
              </a:rPr>
              <a:t>GA</a:t>
            </a:r>
            <a:endParaRPr lang="en-US" sz="1200" dirty="0"/>
          </a:p>
        </p:txBody>
      </p:sp>
      <p:sp>
        <p:nvSpPr>
          <p:cNvPr id="26" name="Text 24"/>
          <p:cNvSpPr txBox="1"/>
          <p:nvPr/>
        </p:nvSpPr>
        <p:spPr>
          <a:xfrm>
            <a:off x="8915400" y="2313432"/>
            <a:ext cx="2011680" cy="182880"/>
          </a:xfrm>
          <a:prstGeom prst="rect">
            <a:avLst/>
          </a:prstGeom>
          <a:noFill/>
        </p:spPr>
        <p:txBody>
          <a:bodyPr wrap="square" lIns="0" tIns="0" rIns="0" bIns="0" rtlCol="0" anchor="ctr">
            <a:normAutofit/>
          </a:bodyPr>
          <a:lstStyle/>
          <a:p>
            <a:pPr marL="0" indent="0" algn="r">
              <a:buNone/>
            </a:pPr>
            <a:r>
              <a:rPr lang="en-US" sz="1000" b="1" dirty="0">
                <a:solidFill>
                  <a:srgbClr val="F4F7FF"/>
                </a:solidFill>
                <a:latin typeface="Aptos" pitchFamily="34" charset="0"/>
                <a:ea typeface="Aptos" pitchFamily="34" charset="-122"/>
                <a:cs typeface="Aptos" pitchFamily="34" charset="-120"/>
              </a:rPr>
              <a:t>300 evaluations</a:t>
            </a:r>
            <a:endParaRPr lang="en-US" sz="1000" dirty="0"/>
          </a:p>
        </p:txBody>
      </p:sp>
      <p:sp>
        <p:nvSpPr>
          <p:cNvPr id="27" name="Text 25"/>
          <p:cNvSpPr txBox="1"/>
          <p:nvPr/>
        </p:nvSpPr>
        <p:spPr>
          <a:xfrm>
            <a:off x="8641080" y="2551176"/>
            <a:ext cx="2286000" cy="155448"/>
          </a:xfrm>
          <a:prstGeom prst="rect">
            <a:avLst/>
          </a:prstGeom>
          <a:noFill/>
        </p:spPr>
        <p:txBody>
          <a:bodyPr wrap="square" lIns="0" tIns="0" rIns="0" bIns="0" rtlCol="0" anchor="ctr">
            <a:normAutofit/>
          </a:bodyPr>
          <a:lstStyle/>
          <a:p>
            <a:pPr marL="0" indent="0" algn="r">
              <a:buNone/>
            </a:pPr>
            <a:r>
              <a:rPr lang="en-US" sz="900" dirty="0">
                <a:solidFill>
                  <a:srgbClr val="A7B4CE"/>
                </a:solidFill>
                <a:latin typeface="Aptos" pitchFamily="34" charset="0"/>
                <a:ea typeface="Aptos" pitchFamily="34" charset="-122"/>
                <a:cs typeface="Aptos" pitchFamily="34" charset="-120"/>
              </a:rPr>
              <a:t>0.97437 ± 0.00282</a:t>
            </a:r>
            <a:endParaRPr lang="en-US" sz="900" dirty="0"/>
          </a:p>
        </p:txBody>
      </p:sp>
      <p:sp>
        <p:nvSpPr>
          <p:cNvPr id="28" name="Shape 26"/>
          <p:cNvSpPr/>
          <p:nvPr/>
        </p:nvSpPr>
        <p:spPr>
          <a:xfrm>
            <a:off x="7296912" y="2971800"/>
            <a:ext cx="3968496" cy="576072"/>
          </a:xfrm>
          <a:prstGeom prst="roundRect">
            <a:avLst>
              <a:gd name="adj" fmla="val 12698"/>
            </a:avLst>
          </a:prstGeom>
          <a:solidFill>
            <a:srgbClr val="192640"/>
          </a:solidFill>
          <a:ln w="10160">
            <a:solidFill>
              <a:srgbClr val="2B3B58"/>
            </a:solidFill>
            <a:prstDash val="solid"/>
          </a:ln>
        </p:spPr>
      </p:sp>
      <p:sp>
        <p:nvSpPr>
          <p:cNvPr id="29" name="Text 27"/>
          <p:cNvSpPr txBox="1"/>
          <p:nvPr/>
        </p:nvSpPr>
        <p:spPr>
          <a:xfrm>
            <a:off x="7452360" y="3044952"/>
            <a:ext cx="1463040" cy="201168"/>
          </a:xfrm>
          <a:prstGeom prst="rect">
            <a:avLst/>
          </a:prstGeom>
          <a:noFill/>
        </p:spPr>
        <p:txBody>
          <a:bodyPr wrap="square" lIns="0" tIns="0" rIns="0" bIns="0" rtlCol="0" anchor="ctr">
            <a:normAutofit/>
          </a:bodyPr>
          <a:lstStyle/>
          <a:p>
            <a:pPr marL="0" indent="0" algn="l">
              <a:buNone/>
            </a:pPr>
            <a:r>
              <a:rPr lang="en-US" sz="1200" b="1" dirty="0">
                <a:solidFill>
                  <a:srgbClr val="6B9BFF"/>
                </a:solidFill>
                <a:latin typeface="Aptos" pitchFamily="34" charset="0"/>
                <a:ea typeface="Aptos" pitchFamily="34" charset="-122"/>
                <a:cs typeface="Aptos" pitchFamily="34" charset="-120"/>
              </a:rPr>
              <a:t>Random Search</a:t>
            </a:r>
            <a:endParaRPr lang="en-US" sz="1200" dirty="0"/>
          </a:p>
        </p:txBody>
      </p:sp>
      <p:sp>
        <p:nvSpPr>
          <p:cNvPr id="30" name="Text 28"/>
          <p:cNvSpPr txBox="1"/>
          <p:nvPr/>
        </p:nvSpPr>
        <p:spPr>
          <a:xfrm>
            <a:off x="8915400" y="3044952"/>
            <a:ext cx="2011680" cy="182880"/>
          </a:xfrm>
          <a:prstGeom prst="rect">
            <a:avLst/>
          </a:prstGeom>
          <a:noFill/>
        </p:spPr>
        <p:txBody>
          <a:bodyPr wrap="square" lIns="0" tIns="0" rIns="0" bIns="0" rtlCol="0" anchor="ctr">
            <a:normAutofit/>
          </a:bodyPr>
          <a:lstStyle/>
          <a:p>
            <a:pPr marL="0" indent="0" algn="r">
              <a:buNone/>
            </a:pPr>
            <a:r>
              <a:rPr lang="en-US" sz="1000" b="1" dirty="0">
                <a:solidFill>
                  <a:srgbClr val="F4F7FF"/>
                </a:solidFill>
                <a:latin typeface="Aptos" pitchFamily="34" charset="0"/>
                <a:ea typeface="Aptos" pitchFamily="34" charset="-122"/>
                <a:cs typeface="Aptos" pitchFamily="34" charset="-120"/>
              </a:rPr>
              <a:t>300 evaluations</a:t>
            </a:r>
            <a:endParaRPr lang="en-US" sz="1000" dirty="0"/>
          </a:p>
        </p:txBody>
      </p:sp>
      <p:sp>
        <p:nvSpPr>
          <p:cNvPr id="31" name="Text 29"/>
          <p:cNvSpPr txBox="1"/>
          <p:nvPr/>
        </p:nvSpPr>
        <p:spPr>
          <a:xfrm>
            <a:off x="8641080" y="3282696"/>
            <a:ext cx="2286000" cy="155448"/>
          </a:xfrm>
          <a:prstGeom prst="rect">
            <a:avLst/>
          </a:prstGeom>
          <a:noFill/>
        </p:spPr>
        <p:txBody>
          <a:bodyPr wrap="square" lIns="0" tIns="0" rIns="0" bIns="0" rtlCol="0" anchor="ctr">
            <a:normAutofit/>
          </a:bodyPr>
          <a:lstStyle/>
          <a:p>
            <a:pPr marL="0" indent="0" algn="r">
              <a:buNone/>
            </a:pPr>
            <a:r>
              <a:rPr lang="en-US" sz="900" dirty="0">
                <a:solidFill>
                  <a:srgbClr val="A7B4CE"/>
                </a:solidFill>
                <a:latin typeface="Aptos" pitchFamily="34" charset="0"/>
                <a:ea typeface="Aptos" pitchFamily="34" charset="-122"/>
                <a:cs typeface="Aptos" pitchFamily="34" charset="-120"/>
              </a:rPr>
              <a:t>0.97550 ± 0.00227</a:t>
            </a:r>
            <a:endParaRPr lang="en-US" sz="900" dirty="0"/>
          </a:p>
        </p:txBody>
      </p:sp>
      <p:sp>
        <p:nvSpPr>
          <p:cNvPr id="32" name="Shape 30"/>
          <p:cNvSpPr/>
          <p:nvPr/>
        </p:nvSpPr>
        <p:spPr>
          <a:xfrm>
            <a:off x="7296912" y="3703320"/>
            <a:ext cx="3968496" cy="576072"/>
          </a:xfrm>
          <a:prstGeom prst="roundRect">
            <a:avLst>
              <a:gd name="adj" fmla="val 12698"/>
            </a:avLst>
          </a:prstGeom>
          <a:solidFill>
            <a:srgbClr val="192640"/>
          </a:solidFill>
          <a:ln w="10160">
            <a:solidFill>
              <a:srgbClr val="2B3B58"/>
            </a:solidFill>
            <a:prstDash val="solid"/>
          </a:ln>
        </p:spPr>
      </p:sp>
      <p:sp>
        <p:nvSpPr>
          <p:cNvPr id="33" name="Text 31"/>
          <p:cNvSpPr txBox="1"/>
          <p:nvPr/>
        </p:nvSpPr>
        <p:spPr>
          <a:xfrm>
            <a:off x="7452360" y="3776472"/>
            <a:ext cx="1463040" cy="201168"/>
          </a:xfrm>
          <a:prstGeom prst="rect">
            <a:avLst/>
          </a:prstGeom>
          <a:noFill/>
        </p:spPr>
        <p:txBody>
          <a:bodyPr wrap="square" lIns="0" tIns="0" rIns="0" bIns="0" rtlCol="0" anchor="ctr">
            <a:normAutofit/>
          </a:bodyPr>
          <a:lstStyle/>
          <a:p>
            <a:pPr marL="0" indent="0" algn="l">
              <a:buNone/>
            </a:pPr>
            <a:r>
              <a:rPr lang="en-US" sz="1200" b="1" dirty="0">
                <a:solidFill>
                  <a:srgbClr val="36D6C5"/>
                </a:solidFill>
                <a:latin typeface="Aptos" pitchFamily="34" charset="0"/>
                <a:ea typeface="Aptos" pitchFamily="34" charset="-122"/>
                <a:cs typeface="Aptos" pitchFamily="34" charset="-120"/>
              </a:rPr>
              <a:t>Bayesian / TPE</a:t>
            </a:r>
            <a:endParaRPr lang="en-US" sz="1200" dirty="0"/>
          </a:p>
        </p:txBody>
      </p:sp>
      <p:sp>
        <p:nvSpPr>
          <p:cNvPr id="34" name="Text 32"/>
          <p:cNvSpPr txBox="1"/>
          <p:nvPr/>
        </p:nvSpPr>
        <p:spPr>
          <a:xfrm>
            <a:off x="8915400" y="3776472"/>
            <a:ext cx="2011680" cy="182880"/>
          </a:xfrm>
          <a:prstGeom prst="rect">
            <a:avLst/>
          </a:prstGeom>
          <a:noFill/>
        </p:spPr>
        <p:txBody>
          <a:bodyPr wrap="square" lIns="0" tIns="0" rIns="0" bIns="0" rtlCol="0" anchor="ctr">
            <a:normAutofit/>
          </a:bodyPr>
          <a:lstStyle/>
          <a:p>
            <a:pPr marL="0" indent="0" algn="r">
              <a:buNone/>
            </a:pPr>
            <a:r>
              <a:rPr lang="en-US" sz="1000" b="1" dirty="0">
                <a:solidFill>
                  <a:srgbClr val="F4F7FF"/>
                </a:solidFill>
                <a:latin typeface="Aptos" pitchFamily="34" charset="0"/>
                <a:ea typeface="Aptos" pitchFamily="34" charset="-122"/>
                <a:cs typeface="Aptos" pitchFamily="34" charset="-120"/>
              </a:rPr>
              <a:t>300 evaluations</a:t>
            </a:r>
            <a:endParaRPr lang="en-US" sz="1000" dirty="0"/>
          </a:p>
        </p:txBody>
      </p:sp>
      <p:sp>
        <p:nvSpPr>
          <p:cNvPr id="35" name="Text 33"/>
          <p:cNvSpPr txBox="1"/>
          <p:nvPr/>
        </p:nvSpPr>
        <p:spPr>
          <a:xfrm>
            <a:off x="8641080" y="4014216"/>
            <a:ext cx="2286000" cy="155448"/>
          </a:xfrm>
          <a:prstGeom prst="rect">
            <a:avLst/>
          </a:prstGeom>
          <a:noFill/>
        </p:spPr>
        <p:txBody>
          <a:bodyPr wrap="square" lIns="0" tIns="0" rIns="0" bIns="0" rtlCol="0" anchor="ctr">
            <a:normAutofit/>
          </a:bodyPr>
          <a:lstStyle/>
          <a:p>
            <a:pPr marL="0" indent="0" algn="r">
              <a:buNone/>
            </a:pPr>
            <a:r>
              <a:rPr lang="en-US" sz="900" dirty="0">
                <a:solidFill>
                  <a:srgbClr val="A7B4CE"/>
                </a:solidFill>
                <a:latin typeface="Aptos" pitchFamily="34" charset="0"/>
                <a:ea typeface="Aptos" pitchFamily="34" charset="-122"/>
                <a:cs typeface="Aptos" pitchFamily="34" charset="-120"/>
              </a:rPr>
              <a:t>0.98129 ± 0.00477</a:t>
            </a:r>
            <a:endParaRPr lang="en-US" sz="900" dirty="0"/>
          </a:p>
        </p:txBody>
      </p:sp>
      <p:sp>
        <p:nvSpPr>
          <p:cNvPr id="36" name="Shape 34"/>
          <p:cNvSpPr/>
          <p:nvPr/>
        </p:nvSpPr>
        <p:spPr>
          <a:xfrm>
            <a:off x="7315200" y="4599432"/>
            <a:ext cx="3611880" cy="256032"/>
          </a:xfrm>
          <a:prstGeom prst="roundRect">
            <a:avLst>
              <a:gd name="adj" fmla="val 28571"/>
            </a:avLst>
          </a:prstGeom>
          <a:solidFill>
            <a:srgbClr val="17323B"/>
          </a:solidFill>
          <a:ln w="10160">
            <a:solidFill>
              <a:srgbClr val="17323B"/>
            </a:solidFill>
            <a:prstDash val="solid"/>
          </a:ln>
        </p:spPr>
      </p:sp>
      <p:sp>
        <p:nvSpPr>
          <p:cNvPr id="37" name="Text 35"/>
          <p:cNvSpPr txBox="1"/>
          <p:nvPr/>
        </p:nvSpPr>
        <p:spPr>
          <a:xfrm>
            <a:off x="7379208" y="4608576"/>
            <a:ext cx="3483864" cy="228600"/>
          </a:xfrm>
          <a:prstGeom prst="rect">
            <a:avLst/>
          </a:prstGeom>
          <a:noFill/>
        </p:spPr>
        <p:txBody>
          <a:bodyPr wrap="square" lIns="0" tIns="0" rIns="0" bIns="0" rtlCol="0" anchor="ctr">
            <a:normAutofit/>
          </a:bodyPr>
          <a:lstStyle/>
          <a:p>
            <a:pPr marL="0" indent="0" algn="ctr">
              <a:buNone/>
            </a:pPr>
            <a:r>
              <a:rPr lang="en-US" sz="900" b="1" kern="0" spc="30" dirty="0">
                <a:solidFill>
                  <a:srgbClr val="36D6C5"/>
                </a:solidFill>
                <a:latin typeface="Aptos" pitchFamily="34" charset="0"/>
                <a:ea typeface="Aptos" pitchFamily="34" charset="-122"/>
                <a:cs typeface="Aptos" pitchFamily="34" charset="-120"/>
              </a:rPr>
              <a:t>100 evaluations × 3 seeds per optimizer</a:t>
            </a:r>
            <a:endParaRPr lang="en-US" sz="900" dirty="0"/>
          </a:p>
        </p:txBody>
      </p:sp>
      <p:sp>
        <p:nvSpPr>
          <p:cNvPr id="38" name="Shape 36"/>
          <p:cNvSpPr/>
          <p:nvPr/>
        </p:nvSpPr>
        <p:spPr>
          <a:xfrm>
            <a:off x="658368" y="5413248"/>
            <a:ext cx="10881360" cy="640080"/>
          </a:xfrm>
          <a:prstGeom prst="roundRect">
            <a:avLst>
              <a:gd name="adj" fmla="val 11429"/>
            </a:avLst>
          </a:prstGeom>
          <a:solidFill>
            <a:srgbClr val="192640"/>
          </a:solidFill>
          <a:ln w="10160">
            <a:solidFill>
              <a:srgbClr val="2B3B58"/>
            </a:solidFill>
            <a:prstDash val="solid"/>
          </a:ln>
        </p:spPr>
      </p:sp>
      <p:sp>
        <p:nvSpPr>
          <p:cNvPr id="39" name="Text 37"/>
          <p:cNvSpPr txBox="1"/>
          <p:nvPr/>
        </p:nvSpPr>
        <p:spPr>
          <a:xfrm>
            <a:off x="896112" y="5605272"/>
            <a:ext cx="2240280" cy="201168"/>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Search benchmark: ICCAD4</a:t>
            </a:r>
            <a:endParaRPr lang="en-US" sz="1100" dirty="0"/>
          </a:p>
        </p:txBody>
      </p:sp>
      <p:sp>
        <p:nvSpPr>
          <p:cNvPr id="40" name="Text 38"/>
          <p:cNvSpPr txBox="1"/>
          <p:nvPr/>
        </p:nvSpPr>
        <p:spPr>
          <a:xfrm>
            <a:off x="3291840" y="5605272"/>
            <a:ext cx="3749040" cy="201168"/>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Training: majority class capped at 5× hotspot count</a:t>
            </a:r>
            <a:endParaRPr lang="en-US" sz="1000" dirty="0"/>
          </a:p>
        </p:txBody>
      </p:sp>
      <p:sp>
        <p:nvSpPr>
          <p:cNvPr id="41" name="Text 39"/>
          <p:cNvSpPr txBox="1"/>
          <p:nvPr/>
        </p:nvSpPr>
        <p:spPr>
          <a:xfrm>
            <a:off x="7406640" y="5605272"/>
            <a:ext cx="3749040" cy="201168"/>
          </a:xfrm>
          <a:prstGeom prst="rect">
            <a:avLst/>
          </a:prstGeom>
          <a:noFill/>
        </p:spPr>
        <p:txBody>
          <a:bodyPr wrap="square" lIns="0" tIns="0" rIns="0" bIns="0" rtlCol="0" anchor="ctr">
            <a:normAutofit/>
          </a:bodyPr>
          <a:lstStyle/>
          <a:p>
            <a:pPr marL="0" indent="0" algn="l">
              <a:buNone/>
            </a:pPr>
            <a:r>
              <a:rPr lang="en-US" sz="1000" b="1" dirty="0">
                <a:solidFill>
                  <a:srgbClr val="36D6C5"/>
                </a:solidFill>
                <a:latin typeface="Aptos" pitchFamily="34" charset="0"/>
                <a:ea typeface="Aptos" pitchFamily="34" charset="-122"/>
                <a:cs typeface="Aptos" pitchFamily="34" charset="-120"/>
              </a:rPr>
              <a:t>Validation: full 910 images • 19 HS</a:t>
            </a:r>
            <a:endParaRPr lang="en-US" sz="1000" dirty="0"/>
          </a:p>
        </p:txBody>
      </p:sp>
      <p:sp>
        <p:nvSpPr>
          <p:cNvPr id="42" name="Slide Number Placeholder 0"/>
          <p:cNvSpPr>
            <a:spLocks noGrp="1"/>
          </p:cNvSpPr>
          <p:nvPr>
            <p:ph type="sldNum" sz="quarter" idx="4294967295"/>
          </p:nvPr>
        </p:nvSpPr>
        <p:spPr>
          <a:xfrm>
            <a:off x="11292840" y="6510528"/>
            <a:ext cx="800000" cy="300000"/>
          </a:xfrm>
          <a:prstGeom prst="rect">
            <a:avLst/>
          </a:prstGeom>
        </p:spPr>
        <p:txBody>
          <a:bodyPr/>
          <a:lstStyle>
            <a:lvl1pPr>
              <a:defRPr sz="800">
                <a:solidFill>
                  <a:srgbClr val="8090B0"/>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0"/>
          <p:cNvSpPr txBox="1"/>
          <p:nvPr/>
        </p:nvSpPr>
        <p:spPr>
          <a:xfrm>
            <a:off x="621792" y="292608"/>
            <a:ext cx="4572000" cy="219456"/>
          </a:xfrm>
          <a:prstGeom prst="rect">
            <a:avLst/>
          </a:prstGeom>
          <a:noFill/>
        </p:spPr>
        <p:txBody>
          <a:bodyPr wrap="square" lIns="0" tIns="0" rIns="0" bIns="0" rtlCol="0" anchor="ctr">
            <a:normAutofit/>
          </a:bodyPr>
          <a:lstStyle/>
          <a:p>
            <a:pPr marL="0" indent="0" algn="l">
              <a:buNone/>
            </a:pPr>
            <a:r>
              <a:rPr lang="en-US" sz="900" b="1" kern="0" spc="180" dirty="0">
                <a:solidFill>
                  <a:srgbClr val="36D6C5"/>
                </a:solidFill>
                <a:latin typeface="Aptos" pitchFamily="34" charset="0"/>
                <a:ea typeface="Aptos" pitchFamily="34" charset="-122"/>
                <a:cs typeface="Aptos" pitchFamily="34" charset="-120"/>
              </a:rPr>
              <a:t>04  •  SEARCH RESULTS</a:t>
            </a:r>
            <a:endParaRPr lang="en-US" sz="900" dirty="0"/>
          </a:p>
        </p:txBody>
      </p:sp>
      <p:sp>
        <p:nvSpPr>
          <p:cNvPr id="3" name="Text 1"/>
          <p:cNvSpPr txBox="1"/>
          <p:nvPr/>
        </p:nvSpPr>
        <p:spPr>
          <a:xfrm>
            <a:off x="621792" y="612648"/>
            <a:ext cx="10972800" cy="475488"/>
          </a:xfrm>
          <a:prstGeom prst="rect">
            <a:avLst/>
          </a:prstGeom>
          <a:noFill/>
        </p:spPr>
        <p:txBody>
          <a:bodyPr wrap="square" lIns="0" tIns="0" rIns="0" bIns="0" rtlCol="0" anchor="ctr">
            <a:normAutofit/>
          </a:bodyPr>
          <a:lstStyle/>
          <a:p>
            <a:pPr marL="0" indent="0" algn="l">
              <a:buNone/>
            </a:pPr>
            <a:r>
              <a:rPr lang="en-US" sz="2700" b="1" dirty="0">
                <a:solidFill>
                  <a:srgbClr val="F4F7FF"/>
                </a:solidFill>
                <a:latin typeface="Aptos" pitchFamily="34" charset="0"/>
                <a:ea typeface="Aptos" pitchFamily="34" charset="-122"/>
                <a:cs typeface="Aptos" pitchFamily="34" charset="-120"/>
              </a:rPr>
              <a:t>Bayesian Optimization achieved the best mean score</a:t>
            </a:r>
            <a:endParaRPr lang="en-US" sz="2700" dirty="0"/>
          </a:p>
        </p:txBody>
      </p:sp>
      <p:sp>
        <p:nvSpPr>
          <p:cNvPr id="4" name="Text 2"/>
          <p:cNvSpPr txBox="1"/>
          <p:nvPr/>
        </p:nvSpPr>
        <p:spPr>
          <a:xfrm>
            <a:off x="640080" y="1106424"/>
            <a:ext cx="10789920" cy="292608"/>
          </a:xfrm>
          <a:prstGeom prst="rect">
            <a:avLst/>
          </a:prstGeom>
          <a:noFill/>
        </p:spPr>
        <p:txBody>
          <a:bodyPr wrap="square" lIns="0" tIns="0" rIns="0" bIns="0" rtlCol="0" anchor="ctr">
            <a:normAutofit/>
          </a:bodyPr>
          <a:lstStyle/>
          <a:p>
            <a:pPr marL="0" indent="0" algn="l">
              <a:buNone/>
            </a:pPr>
            <a:r>
              <a:rPr lang="en-US" sz="1200" dirty="0">
                <a:solidFill>
                  <a:srgbClr val="A7B4CE"/>
                </a:solidFill>
                <a:latin typeface="Aptos" pitchFamily="34" charset="0"/>
                <a:ea typeface="Aptos" pitchFamily="34" charset="-122"/>
                <a:cs typeface="Aptos" pitchFamily="34" charset="-120"/>
              </a:rPr>
              <a:t>Reported values: mean ± standard deviation of the best validation fitness from three runs.</a:t>
            </a:r>
            <a:endParaRPr lang="en-US" sz="1200" dirty="0"/>
          </a:p>
        </p:txBody>
      </p:sp>
      <p:sp>
        <p:nvSpPr>
          <p:cNvPr id="6" name="Shape 4"/>
          <p:cNvSpPr/>
          <p:nvPr/>
        </p:nvSpPr>
        <p:spPr>
          <a:xfrm>
            <a:off x="658368" y="1664208"/>
            <a:ext cx="6858000" cy="4279392"/>
          </a:xfrm>
          <a:prstGeom prst="roundRect">
            <a:avLst>
              <a:gd name="adj" fmla="val 1709"/>
            </a:avLst>
          </a:prstGeom>
          <a:solidFill>
            <a:srgbClr val="131D31"/>
          </a:solidFill>
          <a:ln w="10160">
            <a:solidFill>
              <a:srgbClr val="2B3B58"/>
            </a:solidFill>
            <a:prstDash val="solid"/>
          </a:ln>
        </p:spPr>
      </p:sp>
      <p:sp>
        <p:nvSpPr>
          <p:cNvPr id="7" name="Text 5"/>
          <p:cNvSpPr txBox="1"/>
          <p:nvPr/>
        </p:nvSpPr>
        <p:spPr>
          <a:xfrm>
            <a:off x="914400" y="1883664"/>
            <a:ext cx="4937760" cy="201168"/>
          </a:xfrm>
          <a:prstGeom prst="rect">
            <a:avLst/>
          </a:prstGeom>
          <a:noFill/>
        </p:spPr>
        <p:txBody>
          <a:bodyPr wrap="square" lIns="0" tIns="0" rIns="0" bIns="0" rtlCol="0" anchor="ctr">
            <a:normAutofit/>
          </a:bodyPr>
          <a:lstStyle/>
          <a:p>
            <a:pPr marL="0" indent="0" algn="l">
              <a:buNone/>
            </a:pPr>
            <a:r>
              <a:rPr lang="en-US" sz="1000" b="1" kern="0" spc="70" dirty="0">
                <a:solidFill>
                  <a:srgbClr val="A7B4CE"/>
                </a:solidFill>
                <a:latin typeface="Aptos" pitchFamily="34" charset="0"/>
                <a:ea typeface="Aptos" pitchFamily="34" charset="-122"/>
                <a:cs typeface="Aptos" pitchFamily="34" charset="-120"/>
              </a:rPr>
              <a:t>MEAN BEST VALIDATION BALANCED ACCURACY</a:t>
            </a:r>
            <a:endParaRPr lang="en-US" sz="1000" dirty="0"/>
          </a:p>
        </p:txBody>
      </p:sp>
      <p:sp>
        <p:nvSpPr>
          <p:cNvPr id="8" name="Shape 6"/>
          <p:cNvSpPr/>
          <p:nvPr/>
        </p:nvSpPr>
        <p:spPr>
          <a:xfrm>
            <a:off x="2240280" y="2350008"/>
            <a:ext cx="0" cy="2788920"/>
          </a:xfrm>
          <a:prstGeom prst="line">
            <a:avLst/>
          </a:prstGeom>
          <a:noFill/>
          <a:ln w="8890">
            <a:solidFill>
              <a:srgbClr val="2B3B58"/>
            </a:solidFill>
            <a:prstDash val="dash"/>
          </a:ln>
        </p:spPr>
      </p:sp>
      <p:sp>
        <p:nvSpPr>
          <p:cNvPr id="9" name="Text 7"/>
          <p:cNvSpPr txBox="1"/>
          <p:nvPr/>
        </p:nvSpPr>
        <p:spPr>
          <a:xfrm>
            <a:off x="2011680" y="5257800"/>
            <a:ext cx="457200" cy="182880"/>
          </a:xfrm>
          <a:prstGeom prst="rect">
            <a:avLst/>
          </a:prstGeom>
          <a:noFill/>
        </p:spPr>
        <p:txBody>
          <a:bodyPr wrap="square" lIns="0" tIns="0" rIns="0" bIns="0" rtlCol="0" anchor="ctr">
            <a:normAutofit/>
          </a:bodyPr>
          <a:lstStyle/>
          <a:p>
            <a:pPr marL="0" indent="0" algn="ctr">
              <a:buNone/>
            </a:pPr>
            <a:r>
              <a:rPr lang="en-US" sz="900" dirty="0">
                <a:solidFill>
                  <a:srgbClr val="7D8BAB"/>
                </a:solidFill>
                <a:latin typeface="Aptos" pitchFamily="34" charset="0"/>
                <a:ea typeface="Aptos" pitchFamily="34" charset="-122"/>
                <a:cs typeface="Aptos" pitchFamily="34" charset="-120"/>
              </a:rPr>
              <a:t>0.96</a:t>
            </a:r>
            <a:endParaRPr lang="en-US" sz="900" dirty="0"/>
          </a:p>
        </p:txBody>
      </p:sp>
      <p:sp>
        <p:nvSpPr>
          <p:cNvPr id="10" name="Shape 8"/>
          <p:cNvSpPr/>
          <p:nvPr/>
        </p:nvSpPr>
        <p:spPr>
          <a:xfrm>
            <a:off x="3733800" y="2350008"/>
            <a:ext cx="0" cy="2788920"/>
          </a:xfrm>
          <a:prstGeom prst="line">
            <a:avLst/>
          </a:prstGeom>
          <a:noFill/>
          <a:ln w="8890">
            <a:solidFill>
              <a:srgbClr val="2B3B58"/>
            </a:solidFill>
            <a:prstDash val="dash"/>
          </a:ln>
        </p:spPr>
      </p:sp>
      <p:sp>
        <p:nvSpPr>
          <p:cNvPr id="11" name="Text 9"/>
          <p:cNvSpPr txBox="1"/>
          <p:nvPr/>
        </p:nvSpPr>
        <p:spPr>
          <a:xfrm>
            <a:off x="3505200" y="5257800"/>
            <a:ext cx="457200" cy="182880"/>
          </a:xfrm>
          <a:prstGeom prst="rect">
            <a:avLst/>
          </a:prstGeom>
          <a:noFill/>
        </p:spPr>
        <p:txBody>
          <a:bodyPr wrap="square" lIns="0" tIns="0" rIns="0" bIns="0" rtlCol="0" anchor="ctr">
            <a:normAutofit/>
          </a:bodyPr>
          <a:lstStyle/>
          <a:p>
            <a:pPr marL="0" indent="0" algn="ctr">
              <a:buNone/>
            </a:pPr>
            <a:r>
              <a:rPr lang="en-US" sz="900" dirty="0">
                <a:solidFill>
                  <a:srgbClr val="7D8BAB"/>
                </a:solidFill>
                <a:latin typeface="Aptos" pitchFamily="34" charset="0"/>
                <a:ea typeface="Aptos" pitchFamily="34" charset="-122"/>
                <a:cs typeface="Aptos" pitchFamily="34" charset="-120"/>
              </a:rPr>
              <a:t>0.97</a:t>
            </a:r>
            <a:endParaRPr lang="en-US" sz="900" dirty="0"/>
          </a:p>
        </p:txBody>
      </p:sp>
      <p:sp>
        <p:nvSpPr>
          <p:cNvPr id="12" name="Shape 10"/>
          <p:cNvSpPr/>
          <p:nvPr/>
        </p:nvSpPr>
        <p:spPr>
          <a:xfrm>
            <a:off x="5227320" y="2350008"/>
            <a:ext cx="0" cy="2788920"/>
          </a:xfrm>
          <a:prstGeom prst="line">
            <a:avLst/>
          </a:prstGeom>
          <a:noFill/>
          <a:ln w="8890">
            <a:solidFill>
              <a:srgbClr val="2B3B58"/>
            </a:solidFill>
            <a:prstDash val="dash"/>
          </a:ln>
        </p:spPr>
      </p:sp>
      <p:sp>
        <p:nvSpPr>
          <p:cNvPr id="13" name="Text 11"/>
          <p:cNvSpPr txBox="1"/>
          <p:nvPr/>
        </p:nvSpPr>
        <p:spPr>
          <a:xfrm>
            <a:off x="4998720" y="5257800"/>
            <a:ext cx="457200" cy="182880"/>
          </a:xfrm>
          <a:prstGeom prst="rect">
            <a:avLst/>
          </a:prstGeom>
          <a:noFill/>
        </p:spPr>
        <p:txBody>
          <a:bodyPr wrap="square" lIns="0" tIns="0" rIns="0" bIns="0" rtlCol="0" anchor="ctr">
            <a:normAutofit/>
          </a:bodyPr>
          <a:lstStyle/>
          <a:p>
            <a:pPr marL="0" indent="0" algn="ctr">
              <a:buNone/>
            </a:pPr>
            <a:r>
              <a:rPr lang="en-US" sz="900" dirty="0">
                <a:solidFill>
                  <a:srgbClr val="7D8BAB"/>
                </a:solidFill>
                <a:latin typeface="Aptos" pitchFamily="34" charset="0"/>
                <a:ea typeface="Aptos" pitchFamily="34" charset="-122"/>
                <a:cs typeface="Aptos" pitchFamily="34" charset="-120"/>
              </a:rPr>
              <a:t>0.98</a:t>
            </a:r>
            <a:endParaRPr lang="en-US" sz="900" dirty="0"/>
          </a:p>
        </p:txBody>
      </p:sp>
      <p:sp>
        <p:nvSpPr>
          <p:cNvPr id="14" name="Shape 12"/>
          <p:cNvSpPr/>
          <p:nvPr/>
        </p:nvSpPr>
        <p:spPr>
          <a:xfrm>
            <a:off x="6720840" y="2350008"/>
            <a:ext cx="0" cy="2788920"/>
          </a:xfrm>
          <a:prstGeom prst="line">
            <a:avLst/>
          </a:prstGeom>
          <a:noFill/>
          <a:ln w="8890">
            <a:solidFill>
              <a:srgbClr val="2B3B58"/>
            </a:solidFill>
            <a:prstDash val="dash"/>
          </a:ln>
        </p:spPr>
      </p:sp>
      <p:sp>
        <p:nvSpPr>
          <p:cNvPr id="15" name="Text 13"/>
          <p:cNvSpPr txBox="1"/>
          <p:nvPr/>
        </p:nvSpPr>
        <p:spPr>
          <a:xfrm>
            <a:off x="6492240" y="5257800"/>
            <a:ext cx="457200" cy="182880"/>
          </a:xfrm>
          <a:prstGeom prst="rect">
            <a:avLst/>
          </a:prstGeom>
          <a:noFill/>
        </p:spPr>
        <p:txBody>
          <a:bodyPr wrap="square" lIns="0" tIns="0" rIns="0" bIns="0" rtlCol="0" anchor="ctr">
            <a:normAutofit/>
          </a:bodyPr>
          <a:lstStyle/>
          <a:p>
            <a:pPr marL="0" indent="0" algn="ctr">
              <a:buNone/>
            </a:pPr>
            <a:r>
              <a:rPr lang="en-US" sz="900" dirty="0">
                <a:solidFill>
                  <a:srgbClr val="7D8BAB"/>
                </a:solidFill>
                <a:latin typeface="Aptos" pitchFamily="34" charset="0"/>
                <a:ea typeface="Aptos" pitchFamily="34" charset="-122"/>
                <a:cs typeface="Aptos" pitchFamily="34" charset="-120"/>
              </a:rPr>
              <a:t>0.99</a:t>
            </a:r>
            <a:endParaRPr lang="en-US" sz="900" dirty="0"/>
          </a:p>
        </p:txBody>
      </p:sp>
      <p:sp>
        <p:nvSpPr>
          <p:cNvPr id="16" name="Text 14"/>
          <p:cNvSpPr txBox="1"/>
          <p:nvPr/>
        </p:nvSpPr>
        <p:spPr>
          <a:xfrm>
            <a:off x="905256" y="2651760"/>
            <a:ext cx="1261872" cy="274320"/>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Genetic Algorithm</a:t>
            </a:r>
            <a:endParaRPr lang="en-US" sz="1100" dirty="0"/>
          </a:p>
        </p:txBody>
      </p:sp>
      <p:sp>
        <p:nvSpPr>
          <p:cNvPr id="17" name="Shape 15"/>
          <p:cNvSpPr/>
          <p:nvPr/>
        </p:nvSpPr>
        <p:spPr>
          <a:xfrm>
            <a:off x="2240280" y="2606040"/>
            <a:ext cx="2146188" cy="310896"/>
          </a:xfrm>
          <a:prstGeom prst="roundRect">
            <a:avLst>
              <a:gd name="adj" fmla="val 23529"/>
            </a:avLst>
          </a:prstGeom>
          <a:solidFill>
            <a:srgbClr val="FFB65E"/>
          </a:solidFill>
          <a:ln w="10160">
            <a:solidFill>
              <a:srgbClr val="FFB65E"/>
            </a:solidFill>
            <a:prstDash val="solid"/>
          </a:ln>
        </p:spPr>
      </p:sp>
      <p:sp>
        <p:nvSpPr>
          <p:cNvPr id="18" name="Shape 16"/>
          <p:cNvSpPr/>
          <p:nvPr/>
        </p:nvSpPr>
        <p:spPr>
          <a:xfrm>
            <a:off x="3965296" y="2761488"/>
            <a:ext cx="842345" cy="0"/>
          </a:xfrm>
          <a:prstGeom prst="line">
            <a:avLst/>
          </a:prstGeom>
          <a:noFill/>
          <a:ln w="17780">
            <a:solidFill>
              <a:srgbClr val="F4F7FF"/>
            </a:solidFill>
            <a:prstDash val="solid"/>
          </a:ln>
        </p:spPr>
      </p:sp>
      <p:sp>
        <p:nvSpPr>
          <p:cNvPr id="19" name="Shape 17"/>
          <p:cNvSpPr/>
          <p:nvPr/>
        </p:nvSpPr>
        <p:spPr>
          <a:xfrm>
            <a:off x="3965296" y="2688336"/>
            <a:ext cx="0" cy="146304"/>
          </a:xfrm>
          <a:prstGeom prst="line">
            <a:avLst/>
          </a:prstGeom>
          <a:noFill/>
          <a:ln w="15240">
            <a:solidFill>
              <a:srgbClr val="F4F7FF"/>
            </a:solidFill>
            <a:prstDash val="solid"/>
          </a:ln>
        </p:spPr>
      </p:sp>
      <p:sp>
        <p:nvSpPr>
          <p:cNvPr id="20" name="Shape 18"/>
          <p:cNvSpPr/>
          <p:nvPr/>
        </p:nvSpPr>
        <p:spPr>
          <a:xfrm>
            <a:off x="4807641" y="2688336"/>
            <a:ext cx="0" cy="146304"/>
          </a:xfrm>
          <a:prstGeom prst="line">
            <a:avLst/>
          </a:prstGeom>
          <a:noFill/>
          <a:ln w="15240">
            <a:solidFill>
              <a:srgbClr val="F4F7FF"/>
            </a:solidFill>
            <a:prstDash val="solid"/>
          </a:ln>
        </p:spPr>
      </p:sp>
      <p:sp>
        <p:nvSpPr>
          <p:cNvPr id="21" name="Text 19"/>
          <p:cNvSpPr txBox="1"/>
          <p:nvPr/>
        </p:nvSpPr>
        <p:spPr>
          <a:xfrm>
            <a:off x="2258568" y="2404872"/>
            <a:ext cx="960120" cy="164592"/>
          </a:xfrm>
          <a:prstGeom prst="rect">
            <a:avLst/>
          </a:prstGeom>
          <a:noFill/>
        </p:spPr>
        <p:txBody>
          <a:bodyPr wrap="square" lIns="0" tIns="0" rIns="0" bIns="0" rtlCol="0" anchor="ctr">
            <a:normAutofit/>
          </a:bodyPr>
          <a:lstStyle/>
          <a:p>
            <a:pPr marL="0" indent="0" algn="l">
              <a:buNone/>
            </a:pPr>
            <a:r>
              <a:rPr lang="en-US" sz="900" b="1" dirty="0">
                <a:solidFill>
                  <a:srgbClr val="F4F7FF"/>
                </a:solidFill>
                <a:latin typeface="Aptos" pitchFamily="34" charset="0"/>
                <a:ea typeface="Aptos" pitchFamily="34" charset="-122"/>
                <a:cs typeface="Aptos" pitchFamily="34" charset="-120"/>
              </a:rPr>
              <a:t>0.97437</a:t>
            </a:r>
            <a:endParaRPr lang="en-US" sz="900" dirty="0"/>
          </a:p>
        </p:txBody>
      </p:sp>
      <p:sp>
        <p:nvSpPr>
          <p:cNvPr id="22" name="Text 20"/>
          <p:cNvSpPr txBox="1"/>
          <p:nvPr/>
        </p:nvSpPr>
        <p:spPr>
          <a:xfrm>
            <a:off x="905256" y="3493008"/>
            <a:ext cx="1261872" cy="274320"/>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Random Search</a:t>
            </a:r>
            <a:endParaRPr lang="en-US" sz="1100" dirty="0"/>
          </a:p>
        </p:txBody>
      </p:sp>
      <p:sp>
        <p:nvSpPr>
          <p:cNvPr id="23" name="Shape 21"/>
          <p:cNvSpPr/>
          <p:nvPr/>
        </p:nvSpPr>
        <p:spPr>
          <a:xfrm>
            <a:off x="2240280" y="3447288"/>
            <a:ext cx="2314956" cy="310896"/>
          </a:xfrm>
          <a:prstGeom prst="roundRect">
            <a:avLst>
              <a:gd name="adj" fmla="val 23529"/>
            </a:avLst>
          </a:prstGeom>
          <a:solidFill>
            <a:srgbClr val="6B9BFF"/>
          </a:solidFill>
          <a:ln w="10160">
            <a:solidFill>
              <a:srgbClr val="6B9BFF"/>
            </a:solidFill>
            <a:prstDash val="solid"/>
          </a:ln>
        </p:spPr>
      </p:sp>
      <p:sp>
        <p:nvSpPr>
          <p:cNvPr id="24" name="Shape 22"/>
          <p:cNvSpPr/>
          <p:nvPr/>
        </p:nvSpPr>
        <p:spPr>
          <a:xfrm>
            <a:off x="4216207" y="3602736"/>
            <a:ext cx="678058" cy="0"/>
          </a:xfrm>
          <a:prstGeom prst="line">
            <a:avLst/>
          </a:prstGeom>
          <a:noFill/>
          <a:ln w="17780">
            <a:solidFill>
              <a:srgbClr val="F4F7FF"/>
            </a:solidFill>
            <a:prstDash val="solid"/>
          </a:ln>
        </p:spPr>
      </p:sp>
      <p:sp>
        <p:nvSpPr>
          <p:cNvPr id="25" name="Shape 23"/>
          <p:cNvSpPr/>
          <p:nvPr/>
        </p:nvSpPr>
        <p:spPr>
          <a:xfrm>
            <a:off x="4216207" y="3529584"/>
            <a:ext cx="0" cy="146304"/>
          </a:xfrm>
          <a:prstGeom prst="line">
            <a:avLst/>
          </a:prstGeom>
          <a:noFill/>
          <a:ln w="15240">
            <a:solidFill>
              <a:srgbClr val="F4F7FF"/>
            </a:solidFill>
            <a:prstDash val="solid"/>
          </a:ln>
        </p:spPr>
      </p:sp>
      <p:sp>
        <p:nvSpPr>
          <p:cNvPr id="26" name="Shape 24"/>
          <p:cNvSpPr/>
          <p:nvPr/>
        </p:nvSpPr>
        <p:spPr>
          <a:xfrm>
            <a:off x="4894265" y="3529584"/>
            <a:ext cx="0" cy="146304"/>
          </a:xfrm>
          <a:prstGeom prst="line">
            <a:avLst/>
          </a:prstGeom>
          <a:noFill/>
          <a:ln w="15240">
            <a:solidFill>
              <a:srgbClr val="F4F7FF"/>
            </a:solidFill>
            <a:prstDash val="solid"/>
          </a:ln>
        </p:spPr>
      </p:sp>
      <p:sp>
        <p:nvSpPr>
          <p:cNvPr id="27" name="Text 25"/>
          <p:cNvSpPr txBox="1"/>
          <p:nvPr/>
        </p:nvSpPr>
        <p:spPr>
          <a:xfrm>
            <a:off x="2258568" y="3246120"/>
            <a:ext cx="960120" cy="164592"/>
          </a:xfrm>
          <a:prstGeom prst="rect">
            <a:avLst/>
          </a:prstGeom>
          <a:noFill/>
        </p:spPr>
        <p:txBody>
          <a:bodyPr wrap="square" lIns="0" tIns="0" rIns="0" bIns="0" rtlCol="0" anchor="ctr">
            <a:normAutofit/>
          </a:bodyPr>
          <a:lstStyle/>
          <a:p>
            <a:pPr marL="0" indent="0" algn="l">
              <a:buNone/>
            </a:pPr>
            <a:r>
              <a:rPr lang="en-US" sz="900" b="1" dirty="0">
                <a:solidFill>
                  <a:srgbClr val="F4F7FF"/>
                </a:solidFill>
                <a:latin typeface="Aptos" pitchFamily="34" charset="0"/>
                <a:ea typeface="Aptos" pitchFamily="34" charset="-122"/>
                <a:cs typeface="Aptos" pitchFamily="34" charset="-120"/>
              </a:rPr>
              <a:t>0.97550</a:t>
            </a:r>
            <a:endParaRPr lang="en-US" sz="900" dirty="0"/>
          </a:p>
        </p:txBody>
      </p:sp>
      <p:sp>
        <p:nvSpPr>
          <p:cNvPr id="28" name="Text 26"/>
          <p:cNvSpPr txBox="1"/>
          <p:nvPr/>
        </p:nvSpPr>
        <p:spPr>
          <a:xfrm>
            <a:off x="905256" y="4334256"/>
            <a:ext cx="1261872" cy="274320"/>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Bayesian / TPE</a:t>
            </a:r>
            <a:endParaRPr lang="en-US" sz="1100" dirty="0"/>
          </a:p>
        </p:txBody>
      </p:sp>
      <p:sp>
        <p:nvSpPr>
          <p:cNvPr id="29" name="Shape 27"/>
          <p:cNvSpPr/>
          <p:nvPr/>
        </p:nvSpPr>
        <p:spPr>
          <a:xfrm>
            <a:off x="2240280" y="4288536"/>
            <a:ext cx="3179704" cy="310896"/>
          </a:xfrm>
          <a:prstGeom prst="roundRect">
            <a:avLst>
              <a:gd name="adj" fmla="val 23529"/>
            </a:avLst>
          </a:prstGeom>
          <a:solidFill>
            <a:srgbClr val="36D6C5"/>
          </a:solidFill>
          <a:ln w="10160">
            <a:solidFill>
              <a:srgbClr val="36D6C5"/>
            </a:solidFill>
            <a:prstDash val="solid"/>
          </a:ln>
        </p:spPr>
      </p:sp>
      <p:sp>
        <p:nvSpPr>
          <p:cNvPr id="30" name="Shape 28"/>
          <p:cNvSpPr/>
          <p:nvPr/>
        </p:nvSpPr>
        <p:spPr>
          <a:xfrm>
            <a:off x="4707575" y="4443984"/>
            <a:ext cx="1424818" cy="0"/>
          </a:xfrm>
          <a:prstGeom prst="line">
            <a:avLst/>
          </a:prstGeom>
          <a:noFill/>
          <a:ln w="17780">
            <a:solidFill>
              <a:srgbClr val="F4F7FF"/>
            </a:solidFill>
            <a:prstDash val="solid"/>
          </a:ln>
        </p:spPr>
      </p:sp>
      <p:sp>
        <p:nvSpPr>
          <p:cNvPr id="31" name="Shape 29"/>
          <p:cNvSpPr/>
          <p:nvPr/>
        </p:nvSpPr>
        <p:spPr>
          <a:xfrm>
            <a:off x="4707575" y="4370832"/>
            <a:ext cx="0" cy="146304"/>
          </a:xfrm>
          <a:prstGeom prst="line">
            <a:avLst/>
          </a:prstGeom>
          <a:noFill/>
          <a:ln w="15240">
            <a:solidFill>
              <a:srgbClr val="F4F7FF"/>
            </a:solidFill>
            <a:prstDash val="solid"/>
          </a:ln>
        </p:spPr>
      </p:sp>
      <p:sp>
        <p:nvSpPr>
          <p:cNvPr id="32" name="Shape 30"/>
          <p:cNvSpPr/>
          <p:nvPr/>
        </p:nvSpPr>
        <p:spPr>
          <a:xfrm>
            <a:off x="6132393" y="4370832"/>
            <a:ext cx="0" cy="146304"/>
          </a:xfrm>
          <a:prstGeom prst="line">
            <a:avLst/>
          </a:prstGeom>
          <a:noFill/>
          <a:ln w="15240">
            <a:solidFill>
              <a:srgbClr val="F4F7FF"/>
            </a:solidFill>
            <a:prstDash val="solid"/>
          </a:ln>
        </p:spPr>
      </p:sp>
      <p:sp>
        <p:nvSpPr>
          <p:cNvPr id="33" name="Text 31"/>
          <p:cNvSpPr txBox="1"/>
          <p:nvPr/>
        </p:nvSpPr>
        <p:spPr>
          <a:xfrm>
            <a:off x="2258568" y="4087368"/>
            <a:ext cx="960120" cy="164592"/>
          </a:xfrm>
          <a:prstGeom prst="rect">
            <a:avLst/>
          </a:prstGeom>
          <a:noFill/>
        </p:spPr>
        <p:txBody>
          <a:bodyPr wrap="square" lIns="0" tIns="0" rIns="0" bIns="0" rtlCol="0" anchor="ctr">
            <a:normAutofit/>
          </a:bodyPr>
          <a:lstStyle/>
          <a:p>
            <a:pPr marL="0" indent="0" algn="l">
              <a:buNone/>
            </a:pPr>
            <a:r>
              <a:rPr lang="en-US" sz="900" b="1" dirty="0">
                <a:solidFill>
                  <a:srgbClr val="F4F7FF"/>
                </a:solidFill>
                <a:latin typeface="Aptos" pitchFamily="34" charset="0"/>
                <a:ea typeface="Aptos" pitchFamily="34" charset="-122"/>
                <a:cs typeface="Aptos" pitchFamily="34" charset="-120"/>
              </a:rPr>
              <a:t>0.98129</a:t>
            </a:r>
            <a:endParaRPr lang="en-US" sz="900" dirty="0"/>
          </a:p>
        </p:txBody>
      </p:sp>
      <p:sp>
        <p:nvSpPr>
          <p:cNvPr id="34" name="Text 32"/>
          <p:cNvSpPr txBox="1"/>
          <p:nvPr/>
        </p:nvSpPr>
        <p:spPr>
          <a:xfrm>
            <a:off x="914400" y="5596128"/>
            <a:ext cx="5394960" cy="182880"/>
          </a:xfrm>
          <a:prstGeom prst="rect">
            <a:avLst/>
          </a:prstGeom>
          <a:noFill/>
        </p:spPr>
        <p:txBody>
          <a:bodyPr wrap="square" lIns="0" tIns="0" rIns="0" bIns="0" rtlCol="0" anchor="ctr">
            <a:normAutofit/>
          </a:bodyPr>
          <a:lstStyle/>
          <a:p>
            <a:pPr marL="0" indent="0" algn="l">
              <a:buNone/>
            </a:pPr>
            <a:r>
              <a:rPr lang="en-US" sz="900" i="1" dirty="0">
                <a:solidFill>
                  <a:srgbClr val="7D8BAB"/>
                </a:solidFill>
                <a:latin typeface="Aptos" pitchFamily="34" charset="0"/>
                <a:ea typeface="Aptos" pitchFamily="34" charset="-122"/>
                <a:cs typeface="Aptos" pitchFamily="34" charset="-120"/>
              </a:rPr>
              <a:t>Axis deliberately zoomed to 0.96–0.99 for visibility.</a:t>
            </a:r>
            <a:endParaRPr lang="en-US" sz="900" dirty="0"/>
          </a:p>
        </p:txBody>
      </p:sp>
      <p:sp>
        <p:nvSpPr>
          <p:cNvPr id="35" name="Shape 33"/>
          <p:cNvSpPr/>
          <p:nvPr/>
        </p:nvSpPr>
        <p:spPr>
          <a:xfrm>
            <a:off x="7818120" y="1664208"/>
            <a:ext cx="3712464" cy="4279392"/>
          </a:xfrm>
          <a:prstGeom prst="roundRect">
            <a:avLst>
              <a:gd name="adj" fmla="val 1970"/>
            </a:avLst>
          </a:prstGeom>
          <a:solidFill>
            <a:srgbClr val="17273B"/>
          </a:solidFill>
          <a:ln w="10160">
            <a:solidFill>
              <a:srgbClr val="2A6571"/>
            </a:solidFill>
            <a:prstDash val="solid"/>
          </a:ln>
        </p:spPr>
      </p:sp>
      <p:sp>
        <p:nvSpPr>
          <p:cNvPr id="36" name="Shape 34"/>
          <p:cNvSpPr/>
          <p:nvPr/>
        </p:nvSpPr>
        <p:spPr>
          <a:xfrm>
            <a:off x="8083296" y="1901952"/>
            <a:ext cx="2377440" cy="256032"/>
          </a:xfrm>
          <a:prstGeom prst="roundRect">
            <a:avLst>
              <a:gd name="adj" fmla="val 28571"/>
            </a:avLst>
          </a:prstGeom>
          <a:solidFill>
            <a:srgbClr val="17323B"/>
          </a:solidFill>
          <a:ln w="10160">
            <a:solidFill>
              <a:srgbClr val="17323B"/>
            </a:solidFill>
            <a:prstDash val="solid"/>
          </a:ln>
        </p:spPr>
      </p:sp>
      <p:sp>
        <p:nvSpPr>
          <p:cNvPr id="37" name="Text 35"/>
          <p:cNvSpPr txBox="1"/>
          <p:nvPr/>
        </p:nvSpPr>
        <p:spPr>
          <a:xfrm>
            <a:off x="8147304" y="1911096"/>
            <a:ext cx="2249424" cy="228600"/>
          </a:xfrm>
          <a:prstGeom prst="rect">
            <a:avLst/>
          </a:prstGeom>
          <a:noFill/>
        </p:spPr>
        <p:txBody>
          <a:bodyPr wrap="square" lIns="0" tIns="0" rIns="0" bIns="0" rtlCol="0" anchor="ctr">
            <a:normAutofit/>
          </a:bodyPr>
          <a:lstStyle/>
          <a:p>
            <a:pPr marL="0" indent="0" algn="ctr">
              <a:buNone/>
            </a:pPr>
            <a:r>
              <a:rPr lang="en-US" sz="900" b="1" kern="0" spc="30" dirty="0">
                <a:solidFill>
                  <a:srgbClr val="36D6C5"/>
                </a:solidFill>
                <a:latin typeface="Aptos" pitchFamily="34" charset="0"/>
                <a:ea typeface="Aptos" pitchFamily="34" charset="-122"/>
                <a:cs typeface="Aptos" pitchFamily="34" charset="-120"/>
              </a:rPr>
              <a:t>BEST OBSERVED CANDIDATE</a:t>
            </a:r>
            <a:endParaRPr lang="en-US" sz="900" dirty="0"/>
          </a:p>
        </p:txBody>
      </p:sp>
      <p:sp>
        <p:nvSpPr>
          <p:cNvPr id="38" name="Text 36"/>
          <p:cNvSpPr txBox="1"/>
          <p:nvPr/>
        </p:nvSpPr>
        <p:spPr>
          <a:xfrm>
            <a:off x="8083296" y="2331720"/>
            <a:ext cx="2971800" cy="502920"/>
          </a:xfrm>
          <a:prstGeom prst="rect">
            <a:avLst/>
          </a:prstGeom>
          <a:noFill/>
        </p:spPr>
        <p:txBody>
          <a:bodyPr wrap="square" lIns="0" tIns="0" rIns="0" bIns="0" rtlCol="0" anchor="ctr">
            <a:normAutofit/>
          </a:bodyPr>
          <a:lstStyle/>
          <a:p>
            <a:pPr marL="0" indent="0" algn="l">
              <a:buNone/>
            </a:pPr>
            <a:r>
              <a:rPr lang="en-US" sz="3100" b="1" dirty="0">
                <a:solidFill>
                  <a:srgbClr val="36D6C5"/>
                </a:solidFill>
                <a:latin typeface="Aptos" pitchFamily="34" charset="0"/>
                <a:ea typeface="Aptos" pitchFamily="34" charset="-122"/>
                <a:cs typeface="Aptos" pitchFamily="34" charset="-120"/>
              </a:rPr>
              <a:t>0.98485</a:t>
            </a:r>
            <a:endParaRPr lang="en-US" sz="3100" dirty="0"/>
          </a:p>
        </p:txBody>
      </p:sp>
      <p:sp>
        <p:nvSpPr>
          <p:cNvPr id="39" name="Text 37"/>
          <p:cNvSpPr txBox="1"/>
          <p:nvPr/>
        </p:nvSpPr>
        <p:spPr>
          <a:xfrm>
            <a:off x="8101584" y="2862072"/>
            <a:ext cx="2926080" cy="256032"/>
          </a:xfrm>
          <a:prstGeom prst="rect">
            <a:avLst/>
          </a:prstGeom>
          <a:noFill/>
        </p:spPr>
        <p:txBody>
          <a:bodyPr wrap="square" lIns="0" tIns="0" rIns="0" bIns="0" rtlCol="0" anchor="ctr">
            <a:normAutofit/>
          </a:bodyPr>
          <a:lstStyle/>
          <a:p>
            <a:pPr marL="0" indent="0" algn="l">
              <a:buNone/>
            </a:pPr>
            <a:r>
              <a:rPr lang="en-US" sz="1200" b="1" dirty="0">
                <a:solidFill>
                  <a:srgbClr val="F4F7FF"/>
                </a:solidFill>
                <a:latin typeface="Aptos" pitchFamily="34" charset="0"/>
                <a:ea typeface="Aptos" pitchFamily="34" charset="-122"/>
                <a:cs typeface="Aptos" pitchFamily="34" charset="-120"/>
              </a:rPr>
              <a:t>Bayesian / TPE • seed 3</a:t>
            </a:r>
            <a:endParaRPr lang="en-US" sz="1200" dirty="0"/>
          </a:p>
        </p:txBody>
      </p:sp>
      <p:sp>
        <p:nvSpPr>
          <p:cNvPr id="40" name="Shape 38"/>
          <p:cNvSpPr/>
          <p:nvPr/>
        </p:nvSpPr>
        <p:spPr>
          <a:xfrm>
            <a:off x="8101584" y="3273552"/>
            <a:ext cx="3099816" cy="0"/>
          </a:xfrm>
          <a:prstGeom prst="line">
            <a:avLst/>
          </a:prstGeom>
          <a:noFill/>
          <a:ln w="12700">
            <a:solidFill>
              <a:srgbClr val="2B3B58"/>
            </a:solidFill>
            <a:prstDash val="solid"/>
          </a:ln>
        </p:spPr>
      </p:sp>
      <p:sp>
        <p:nvSpPr>
          <p:cNvPr id="41" name="Text 39"/>
          <p:cNvSpPr txBox="1"/>
          <p:nvPr/>
        </p:nvSpPr>
        <p:spPr>
          <a:xfrm>
            <a:off x="8119872" y="3456432"/>
            <a:ext cx="1417320" cy="173736"/>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Blocks</a:t>
            </a:r>
            <a:endParaRPr lang="en-US" sz="1000" dirty="0"/>
          </a:p>
        </p:txBody>
      </p:sp>
      <p:sp>
        <p:nvSpPr>
          <p:cNvPr id="42" name="Text 40"/>
          <p:cNvSpPr txBox="1"/>
          <p:nvPr/>
        </p:nvSpPr>
        <p:spPr>
          <a:xfrm>
            <a:off x="9738360" y="3456432"/>
            <a:ext cx="1417320" cy="173736"/>
          </a:xfrm>
          <a:prstGeom prst="rect">
            <a:avLst/>
          </a:prstGeom>
          <a:noFill/>
        </p:spPr>
        <p:txBody>
          <a:bodyPr wrap="square" lIns="0" tIns="0" rIns="0" bIns="0" rtlCol="0" anchor="ctr">
            <a:normAutofit/>
          </a:bodyPr>
          <a:lstStyle/>
          <a:p>
            <a:pPr marL="0" indent="0" algn="r">
              <a:buNone/>
            </a:pPr>
            <a:r>
              <a:rPr lang="en-US" sz="1000" b="1" dirty="0">
                <a:solidFill>
                  <a:srgbClr val="F4F7FF"/>
                </a:solidFill>
                <a:latin typeface="Aptos" pitchFamily="34" charset="0"/>
                <a:ea typeface="Aptos" pitchFamily="34" charset="-122"/>
                <a:cs typeface="Aptos" pitchFamily="34" charset="-120"/>
              </a:rPr>
              <a:t>3</a:t>
            </a:r>
            <a:endParaRPr lang="en-US" sz="1000" dirty="0"/>
          </a:p>
        </p:txBody>
      </p:sp>
      <p:sp>
        <p:nvSpPr>
          <p:cNvPr id="43" name="Text 41"/>
          <p:cNvSpPr txBox="1"/>
          <p:nvPr/>
        </p:nvSpPr>
        <p:spPr>
          <a:xfrm>
            <a:off x="8119872" y="3749040"/>
            <a:ext cx="1417320" cy="173736"/>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Filters</a:t>
            </a:r>
            <a:endParaRPr lang="en-US" sz="1000" dirty="0"/>
          </a:p>
        </p:txBody>
      </p:sp>
      <p:sp>
        <p:nvSpPr>
          <p:cNvPr id="44" name="Text 42"/>
          <p:cNvSpPr txBox="1"/>
          <p:nvPr/>
        </p:nvSpPr>
        <p:spPr>
          <a:xfrm>
            <a:off x="9738360" y="3749040"/>
            <a:ext cx="1417320" cy="173736"/>
          </a:xfrm>
          <a:prstGeom prst="rect">
            <a:avLst/>
          </a:prstGeom>
          <a:noFill/>
        </p:spPr>
        <p:txBody>
          <a:bodyPr wrap="square" lIns="0" tIns="0" rIns="0" bIns="0" rtlCol="0" anchor="ctr">
            <a:normAutofit/>
          </a:bodyPr>
          <a:lstStyle/>
          <a:p>
            <a:pPr marL="0" indent="0" algn="r">
              <a:buNone/>
            </a:pPr>
            <a:r>
              <a:rPr lang="en-US" sz="1000" b="1" dirty="0">
                <a:solidFill>
                  <a:srgbClr val="F4F7FF"/>
                </a:solidFill>
                <a:latin typeface="Aptos" pitchFamily="34" charset="0"/>
                <a:ea typeface="Aptos" pitchFamily="34" charset="-122"/>
                <a:cs typeface="Aptos" pitchFamily="34" charset="-120"/>
              </a:rPr>
              <a:t>8</a:t>
            </a:r>
            <a:endParaRPr lang="en-US" sz="1000" dirty="0"/>
          </a:p>
        </p:txBody>
      </p:sp>
      <p:sp>
        <p:nvSpPr>
          <p:cNvPr id="45" name="Text 43"/>
          <p:cNvSpPr txBox="1"/>
          <p:nvPr/>
        </p:nvSpPr>
        <p:spPr>
          <a:xfrm>
            <a:off x="8119872" y="4041648"/>
            <a:ext cx="1417320" cy="173736"/>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Kernel</a:t>
            </a:r>
            <a:endParaRPr lang="en-US" sz="1000" dirty="0"/>
          </a:p>
        </p:txBody>
      </p:sp>
      <p:sp>
        <p:nvSpPr>
          <p:cNvPr id="46" name="Text 44"/>
          <p:cNvSpPr txBox="1"/>
          <p:nvPr/>
        </p:nvSpPr>
        <p:spPr>
          <a:xfrm>
            <a:off x="9738360" y="4041648"/>
            <a:ext cx="1417320" cy="173736"/>
          </a:xfrm>
          <a:prstGeom prst="rect">
            <a:avLst/>
          </a:prstGeom>
          <a:noFill/>
        </p:spPr>
        <p:txBody>
          <a:bodyPr wrap="square" lIns="0" tIns="0" rIns="0" bIns="0" rtlCol="0" anchor="ctr">
            <a:normAutofit/>
          </a:bodyPr>
          <a:lstStyle/>
          <a:p>
            <a:pPr marL="0" indent="0" algn="r">
              <a:buNone/>
            </a:pPr>
            <a:r>
              <a:rPr lang="en-US" sz="1000" b="1" dirty="0">
                <a:solidFill>
                  <a:srgbClr val="F4F7FF"/>
                </a:solidFill>
                <a:latin typeface="Aptos" pitchFamily="34" charset="0"/>
                <a:ea typeface="Aptos" pitchFamily="34" charset="-122"/>
                <a:cs typeface="Aptos" pitchFamily="34" charset="-120"/>
              </a:rPr>
              <a:t>5×5</a:t>
            </a:r>
            <a:endParaRPr lang="en-US" sz="1000" dirty="0"/>
          </a:p>
        </p:txBody>
      </p:sp>
      <p:sp>
        <p:nvSpPr>
          <p:cNvPr id="47" name="Text 45"/>
          <p:cNvSpPr txBox="1"/>
          <p:nvPr/>
        </p:nvSpPr>
        <p:spPr>
          <a:xfrm>
            <a:off x="8119872" y="4334256"/>
            <a:ext cx="1417320" cy="173736"/>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Dropout</a:t>
            </a:r>
            <a:endParaRPr lang="en-US" sz="1000" dirty="0"/>
          </a:p>
        </p:txBody>
      </p:sp>
      <p:sp>
        <p:nvSpPr>
          <p:cNvPr id="48" name="Text 46"/>
          <p:cNvSpPr txBox="1"/>
          <p:nvPr/>
        </p:nvSpPr>
        <p:spPr>
          <a:xfrm>
            <a:off x="9738360" y="4334256"/>
            <a:ext cx="1417320" cy="173736"/>
          </a:xfrm>
          <a:prstGeom prst="rect">
            <a:avLst/>
          </a:prstGeom>
          <a:noFill/>
        </p:spPr>
        <p:txBody>
          <a:bodyPr wrap="square" lIns="0" tIns="0" rIns="0" bIns="0" rtlCol="0" anchor="ctr">
            <a:normAutofit/>
          </a:bodyPr>
          <a:lstStyle/>
          <a:p>
            <a:pPr marL="0" indent="0" algn="r">
              <a:buNone/>
            </a:pPr>
            <a:r>
              <a:rPr lang="en-US" sz="1000" b="1" dirty="0">
                <a:solidFill>
                  <a:srgbClr val="F4F7FF"/>
                </a:solidFill>
                <a:latin typeface="Aptos" pitchFamily="34" charset="0"/>
                <a:ea typeface="Aptos" pitchFamily="34" charset="-122"/>
                <a:cs typeface="Aptos" pitchFamily="34" charset="-120"/>
              </a:rPr>
              <a:t>0.50</a:t>
            </a:r>
            <a:endParaRPr lang="en-US" sz="1000" dirty="0"/>
          </a:p>
        </p:txBody>
      </p:sp>
      <p:sp>
        <p:nvSpPr>
          <p:cNvPr id="49" name="Text 47"/>
          <p:cNvSpPr txBox="1"/>
          <p:nvPr/>
        </p:nvSpPr>
        <p:spPr>
          <a:xfrm>
            <a:off x="8119872" y="4626864"/>
            <a:ext cx="1417320" cy="173736"/>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Learning rate</a:t>
            </a:r>
            <a:endParaRPr lang="en-US" sz="1000" dirty="0"/>
          </a:p>
        </p:txBody>
      </p:sp>
      <p:sp>
        <p:nvSpPr>
          <p:cNvPr id="50" name="Text 48"/>
          <p:cNvSpPr txBox="1"/>
          <p:nvPr/>
        </p:nvSpPr>
        <p:spPr>
          <a:xfrm>
            <a:off x="9738360" y="4626864"/>
            <a:ext cx="1417320" cy="173736"/>
          </a:xfrm>
          <a:prstGeom prst="rect">
            <a:avLst/>
          </a:prstGeom>
          <a:noFill/>
        </p:spPr>
        <p:txBody>
          <a:bodyPr wrap="square" lIns="0" tIns="0" rIns="0" bIns="0" rtlCol="0" anchor="ctr">
            <a:normAutofit/>
          </a:bodyPr>
          <a:lstStyle/>
          <a:p>
            <a:pPr marL="0" indent="0" algn="r">
              <a:buNone/>
            </a:pPr>
            <a:r>
              <a:rPr lang="en-US" sz="1000" b="1" dirty="0">
                <a:solidFill>
                  <a:srgbClr val="F4F7FF"/>
                </a:solidFill>
                <a:latin typeface="Aptos" pitchFamily="34" charset="0"/>
                <a:ea typeface="Aptos" pitchFamily="34" charset="-122"/>
                <a:cs typeface="Aptos" pitchFamily="34" charset="-120"/>
              </a:rPr>
              <a:t>0.0005</a:t>
            </a:r>
            <a:endParaRPr lang="en-US" sz="1000" dirty="0"/>
          </a:p>
        </p:txBody>
      </p:sp>
      <p:sp>
        <p:nvSpPr>
          <p:cNvPr id="51" name="Text 49"/>
          <p:cNvSpPr txBox="1"/>
          <p:nvPr/>
        </p:nvSpPr>
        <p:spPr>
          <a:xfrm>
            <a:off x="8119872" y="4919472"/>
            <a:ext cx="1417320" cy="173736"/>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Dense units</a:t>
            </a:r>
            <a:endParaRPr lang="en-US" sz="1000" dirty="0"/>
          </a:p>
        </p:txBody>
      </p:sp>
      <p:sp>
        <p:nvSpPr>
          <p:cNvPr id="52" name="Text 50"/>
          <p:cNvSpPr txBox="1"/>
          <p:nvPr/>
        </p:nvSpPr>
        <p:spPr>
          <a:xfrm>
            <a:off x="9738360" y="4919472"/>
            <a:ext cx="1417320" cy="173736"/>
          </a:xfrm>
          <a:prstGeom prst="rect">
            <a:avLst/>
          </a:prstGeom>
          <a:noFill/>
        </p:spPr>
        <p:txBody>
          <a:bodyPr wrap="square" lIns="0" tIns="0" rIns="0" bIns="0" rtlCol="0" anchor="ctr">
            <a:normAutofit/>
          </a:bodyPr>
          <a:lstStyle/>
          <a:p>
            <a:pPr marL="0" indent="0" algn="r">
              <a:buNone/>
            </a:pPr>
            <a:r>
              <a:rPr lang="en-US" sz="1000" b="1" dirty="0">
                <a:solidFill>
                  <a:srgbClr val="F4F7FF"/>
                </a:solidFill>
                <a:latin typeface="Aptos" pitchFamily="34" charset="0"/>
                <a:ea typeface="Aptos" pitchFamily="34" charset="-122"/>
                <a:cs typeface="Aptos" pitchFamily="34" charset="-120"/>
              </a:rPr>
              <a:t>128</a:t>
            </a:r>
            <a:endParaRPr lang="en-US" sz="1000" dirty="0"/>
          </a:p>
        </p:txBody>
      </p:sp>
      <p:sp>
        <p:nvSpPr>
          <p:cNvPr id="53" name="Text 51"/>
          <p:cNvSpPr txBox="1"/>
          <p:nvPr/>
        </p:nvSpPr>
        <p:spPr>
          <a:xfrm>
            <a:off x="8119872" y="5212080"/>
            <a:ext cx="1417320" cy="173736"/>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Batch size</a:t>
            </a:r>
            <a:endParaRPr lang="en-US" sz="1000" dirty="0"/>
          </a:p>
        </p:txBody>
      </p:sp>
      <p:sp>
        <p:nvSpPr>
          <p:cNvPr id="54" name="Text 52"/>
          <p:cNvSpPr txBox="1"/>
          <p:nvPr/>
        </p:nvSpPr>
        <p:spPr>
          <a:xfrm>
            <a:off x="9738360" y="5212080"/>
            <a:ext cx="1417320" cy="173736"/>
          </a:xfrm>
          <a:prstGeom prst="rect">
            <a:avLst/>
          </a:prstGeom>
          <a:noFill/>
        </p:spPr>
        <p:txBody>
          <a:bodyPr wrap="square" lIns="0" tIns="0" rIns="0" bIns="0" rtlCol="0" anchor="ctr">
            <a:normAutofit/>
          </a:bodyPr>
          <a:lstStyle/>
          <a:p>
            <a:pPr marL="0" indent="0" algn="r">
              <a:buNone/>
            </a:pPr>
            <a:r>
              <a:rPr lang="en-US" sz="1000" b="1" dirty="0">
                <a:solidFill>
                  <a:srgbClr val="F4F7FF"/>
                </a:solidFill>
                <a:latin typeface="Aptos" pitchFamily="34" charset="0"/>
                <a:ea typeface="Aptos" pitchFamily="34" charset="-122"/>
                <a:cs typeface="Aptos" pitchFamily="34" charset="-120"/>
              </a:rPr>
              <a:t>16</a:t>
            </a:r>
            <a:endParaRPr lang="en-US" sz="1000" dirty="0"/>
          </a:p>
        </p:txBody>
      </p:sp>
      <p:sp>
        <p:nvSpPr>
          <p:cNvPr id="55" name="Text 53"/>
          <p:cNvSpPr txBox="1"/>
          <p:nvPr/>
        </p:nvSpPr>
        <p:spPr>
          <a:xfrm>
            <a:off x="685800" y="6108192"/>
            <a:ext cx="5486400" cy="146304"/>
          </a:xfrm>
          <a:prstGeom prst="rect">
            <a:avLst/>
          </a:prstGeom>
          <a:noFill/>
        </p:spPr>
        <p:txBody>
          <a:bodyPr wrap="square" lIns="0" tIns="0" rIns="0" bIns="0" rtlCol="0" anchor="ctr">
            <a:normAutofit/>
          </a:bodyPr>
          <a:lstStyle/>
          <a:p>
            <a:pPr marL="0" indent="0" algn="l">
              <a:buNone/>
            </a:pPr>
            <a:r>
              <a:rPr lang="en-US" sz="800" dirty="0">
                <a:solidFill>
                  <a:srgbClr val="7D8BAB"/>
                </a:solidFill>
                <a:latin typeface="Aptos" pitchFamily="34" charset="0"/>
                <a:ea typeface="Aptos" pitchFamily="34" charset="-122"/>
                <a:cs typeface="Aptos" pitchFamily="34" charset="-120"/>
              </a:rPr>
              <a:t>Reference: random search [3]; Optuna/TPE [4]</a:t>
            </a:r>
            <a:endParaRPr lang="en-US" sz="800" dirty="0"/>
          </a:p>
        </p:txBody>
      </p:sp>
      <p:sp>
        <p:nvSpPr>
          <p:cNvPr id="56" name="Slide Number Placeholder 0"/>
          <p:cNvSpPr>
            <a:spLocks noGrp="1"/>
          </p:cNvSpPr>
          <p:nvPr>
            <p:ph type="sldNum" sz="quarter" idx="4294967295"/>
          </p:nvPr>
        </p:nvSpPr>
        <p:spPr>
          <a:xfrm>
            <a:off x="11292840" y="6510528"/>
            <a:ext cx="800000" cy="300000"/>
          </a:xfrm>
          <a:prstGeom prst="rect">
            <a:avLst/>
          </a:prstGeom>
        </p:spPr>
        <p:txBody>
          <a:bodyPr/>
          <a:lstStyle>
            <a:lvl1pPr>
              <a:defRPr sz="800">
                <a:solidFill>
                  <a:srgbClr val="8090B0"/>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0"/>
          <p:cNvSpPr txBox="1"/>
          <p:nvPr/>
        </p:nvSpPr>
        <p:spPr>
          <a:xfrm>
            <a:off x="621792" y="292608"/>
            <a:ext cx="4572000" cy="219456"/>
          </a:xfrm>
          <a:prstGeom prst="rect">
            <a:avLst/>
          </a:prstGeom>
          <a:noFill/>
        </p:spPr>
        <p:txBody>
          <a:bodyPr wrap="square" lIns="0" tIns="0" rIns="0" bIns="0" rtlCol="0" anchor="ctr">
            <a:normAutofit/>
          </a:bodyPr>
          <a:lstStyle/>
          <a:p>
            <a:pPr marL="0" indent="0" algn="l">
              <a:buNone/>
            </a:pPr>
            <a:r>
              <a:rPr lang="en-US" sz="900" b="1" kern="0" spc="180" dirty="0">
                <a:solidFill>
                  <a:srgbClr val="36D6C5"/>
                </a:solidFill>
                <a:latin typeface="Aptos" pitchFamily="34" charset="0"/>
                <a:ea typeface="Aptos" pitchFamily="34" charset="-122"/>
                <a:cs typeface="Aptos" pitchFamily="34" charset="-120"/>
              </a:rPr>
              <a:t>05  •  SENSITIVITY</a:t>
            </a:r>
            <a:endParaRPr lang="en-US" sz="900" dirty="0"/>
          </a:p>
        </p:txBody>
      </p:sp>
      <p:sp>
        <p:nvSpPr>
          <p:cNvPr id="3" name="Text 1"/>
          <p:cNvSpPr txBox="1"/>
          <p:nvPr/>
        </p:nvSpPr>
        <p:spPr>
          <a:xfrm>
            <a:off x="621792" y="612648"/>
            <a:ext cx="10972800" cy="475488"/>
          </a:xfrm>
          <a:prstGeom prst="rect">
            <a:avLst/>
          </a:prstGeom>
          <a:noFill/>
        </p:spPr>
        <p:txBody>
          <a:bodyPr wrap="square" lIns="0" tIns="0" rIns="0" bIns="0" rtlCol="0" anchor="ctr">
            <a:normAutofit/>
          </a:bodyPr>
          <a:lstStyle/>
          <a:p>
            <a:pPr marL="0" indent="0" algn="l">
              <a:buNone/>
            </a:pPr>
            <a:r>
              <a:rPr lang="en-US" sz="2700" b="1" dirty="0">
                <a:solidFill>
                  <a:srgbClr val="F4F7FF"/>
                </a:solidFill>
                <a:latin typeface="Aptos" pitchFamily="34" charset="0"/>
                <a:ea typeface="Aptos" pitchFamily="34" charset="-122"/>
                <a:cs typeface="Aptos" pitchFamily="34" charset="-120"/>
              </a:rPr>
              <a:t>What did the per-gene analysis show?</a:t>
            </a:r>
            <a:endParaRPr lang="en-US" sz="2700" dirty="0"/>
          </a:p>
        </p:txBody>
      </p:sp>
      <p:sp>
        <p:nvSpPr>
          <p:cNvPr id="4" name="Text 2"/>
          <p:cNvSpPr txBox="1"/>
          <p:nvPr/>
        </p:nvSpPr>
        <p:spPr>
          <a:xfrm>
            <a:off x="640080" y="1106424"/>
            <a:ext cx="10789920" cy="292608"/>
          </a:xfrm>
          <a:prstGeom prst="rect">
            <a:avLst/>
          </a:prstGeom>
          <a:noFill/>
        </p:spPr>
        <p:txBody>
          <a:bodyPr wrap="square" lIns="0" tIns="0" rIns="0" bIns="0" rtlCol="0" anchor="ctr">
            <a:normAutofit/>
          </a:bodyPr>
          <a:lstStyle/>
          <a:p>
            <a:pPr marL="0" indent="0" algn="l">
              <a:buNone/>
            </a:pPr>
            <a:r>
              <a:rPr lang="en-US" sz="1200" dirty="0">
                <a:solidFill>
                  <a:srgbClr val="A7B4CE"/>
                </a:solidFill>
                <a:latin typeface="Aptos" pitchFamily="34" charset="0"/>
                <a:ea typeface="Aptos" pitchFamily="34" charset="-122"/>
                <a:cs typeface="Aptos" pitchFamily="34" charset="-120"/>
              </a:rPr>
              <a:t>Per-gene means were summarized separately for GA, Random Search and Bayesian Optimization.</a:t>
            </a:r>
            <a:endParaRPr lang="en-US" sz="1200" dirty="0"/>
          </a:p>
        </p:txBody>
      </p:sp>
      <p:sp>
        <p:nvSpPr>
          <p:cNvPr id="6" name="Shape 4"/>
          <p:cNvSpPr/>
          <p:nvPr/>
        </p:nvSpPr>
        <p:spPr>
          <a:xfrm>
            <a:off x="658368" y="1737360"/>
            <a:ext cx="2450592" cy="713232"/>
          </a:xfrm>
          <a:prstGeom prst="roundRect">
            <a:avLst>
              <a:gd name="adj" fmla="val 10256"/>
            </a:avLst>
          </a:prstGeom>
          <a:solidFill>
            <a:srgbClr val="131D31"/>
          </a:solidFill>
          <a:ln w="10160">
            <a:solidFill>
              <a:srgbClr val="2B3B58"/>
            </a:solidFill>
            <a:prstDash val="solid"/>
          </a:ln>
        </p:spPr>
      </p:sp>
      <p:sp>
        <p:nvSpPr>
          <p:cNvPr id="7" name="Text 5"/>
          <p:cNvSpPr txBox="1"/>
          <p:nvPr/>
        </p:nvSpPr>
        <p:spPr>
          <a:xfrm>
            <a:off x="804672" y="1847088"/>
            <a:ext cx="2176272" cy="155448"/>
          </a:xfrm>
          <a:prstGeom prst="rect">
            <a:avLst/>
          </a:prstGeom>
          <a:noFill/>
        </p:spPr>
        <p:txBody>
          <a:bodyPr wrap="square" lIns="0" tIns="0" rIns="0" bIns="0" rtlCol="0" anchor="ctr">
            <a:normAutofit/>
          </a:bodyPr>
          <a:lstStyle/>
          <a:p>
            <a:pPr marL="0" indent="0" algn="l">
              <a:buNone/>
            </a:pPr>
            <a:r>
              <a:rPr lang="en-US" sz="800" b="1" kern="0" spc="80" dirty="0">
                <a:solidFill>
                  <a:srgbClr val="36D6C5"/>
                </a:solidFill>
                <a:latin typeface="Aptos" pitchFamily="34" charset="0"/>
                <a:ea typeface="Aptos" pitchFamily="34" charset="-122"/>
                <a:cs typeface="Aptos" pitchFamily="34" charset="-120"/>
              </a:rPr>
              <a:t>BLOCKS</a:t>
            </a:r>
            <a:endParaRPr lang="en-US" sz="800" dirty="0"/>
          </a:p>
        </p:txBody>
      </p:sp>
      <p:sp>
        <p:nvSpPr>
          <p:cNvPr id="8" name="Text 6"/>
          <p:cNvSpPr txBox="1"/>
          <p:nvPr/>
        </p:nvSpPr>
        <p:spPr>
          <a:xfrm>
            <a:off x="804672" y="2075688"/>
            <a:ext cx="2176272" cy="210312"/>
          </a:xfrm>
          <a:prstGeom prst="rect">
            <a:avLst/>
          </a:prstGeom>
          <a:noFill/>
        </p:spPr>
        <p:txBody>
          <a:bodyPr wrap="square" lIns="0" tIns="0" rIns="0" bIns="0" rtlCol="0" anchor="ctr">
            <a:normAutofit/>
          </a:bodyPr>
          <a:lstStyle/>
          <a:p>
            <a:pPr marL="0" indent="0" algn="l">
              <a:buNone/>
            </a:pPr>
            <a:r>
              <a:rPr lang="en-US" sz="1300" b="1" dirty="0">
                <a:solidFill>
                  <a:srgbClr val="F4F7FF"/>
                </a:solidFill>
                <a:latin typeface="Aptos" pitchFamily="34" charset="0"/>
                <a:ea typeface="Aptos" pitchFamily="34" charset="-122"/>
                <a:cs typeface="Aptos" pitchFamily="34" charset="-120"/>
              </a:rPr>
              <a:t>2 / 3</a:t>
            </a:r>
            <a:endParaRPr lang="en-US" sz="1300" dirty="0"/>
          </a:p>
        </p:txBody>
      </p:sp>
      <p:sp>
        <p:nvSpPr>
          <p:cNvPr id="9" name="Shape 7"/>
          <p:cNvSpPr/>
          <p:nvPr/>
        </p:nvSpPr>
        <p:spPr>
          <a:xfrm>
            <a:off x="3401568" y="1737360"/>
            <a:ext cx="2450592" cy="713232"/>
          </a:xfrm>
          <a:prstGeom prst="roundRect">
            <a:avLst>
              <a:gd name="adj" fmla="val 10256"/>
            </a:avLst>
          </a:prstGeom>
          <a:solidFill>
            <a:srgbClr val="131D31"/>
          </a:solidFill>
          <a:ln w="10160">
            <a:solidFill>
              <a:srgbClr val="2B3B58"/>
            </a:solidFill>
            <a:prstDash val="solid"/>
          </a:ln>
        </p:spPr>
      </p:sp>
      <p:sp>
        <p:nvSpPr>
          <p:cNvPr id="10" name="Text 8"/>
          <p:cNvSpPr txBox="1"/>
          <p:nvPr/>
        </p:nvSpPr>
        <p:spPr>
          <a:xfrm>
            <a:off x="3547872" y="1847088"/>
            <a:ext cx="2176272" cy="155448"/>
          </a:xfrm>
          <a:prstGeom prst="rect">
            <a:avLst/>
          </a:prstGeom>
          <a:noFill/>
        </p:spPr>
        <p:txBody>
          <a:bodyPr wrap="square" lIns="0" tIns="0" rIns="0" bIns="0" rtlCol="0" anchor="ctr">
            <a:normAutofit/>
          </a:bodyPr>
          <a:lstStyle/>
          <a:p>
            <a:pPr marL="0" indent="0" algn="l">
              <a:buNone/>
            </a:pPr>
            <a:r>
              <a:rPr lang="en-US" sz="800" b="1" kern="0" spc="80" dirty="0">
                <a:solidFill>
                  <a:srgbClr val="36D6C5"/>
                </a:solidFill>
                <a:latin typeface="Aptos" pitchFamily="34" charset="0"/>
                <a:ea typeface="Aptos" pitchFamily="34" charset="-122"/>
                <a:cs typeface="Aptos" pitchFamily="34" charset="-120"/>
              </a:rPr>
              <a:t>FILTERS</a:t>
            </a:r>
            <a:endParaRPr lang="en-US" sz="800" dirty="0"/>
          </a:p>
        </p:txBody>
      </p:sp>
      <p:sp>
        <p:nvSpPr>
          <p:cNvPr id="11" name="Text 9"/>
          <p:cNvSpPr txBox="1"/>
          <p:nvPr/>
        </p:nvSpPr>
        <p:spPr>
          <a:xfrm>
            <a:off x="3547872" y="2075688"/>
            <a:ext cx="2176272" cy="210312"/>
          </a:xfrm>
          <a:prstGeom prst="rect">
            <a:avLst/>
          </a:prstGeom>
          <a:noFill/>
        </p:spPr>
        <p:txBody>
          <a:bodyPr wrap="square" lIns="0" tIns="0" rIns="0" bIns="0" rtlCol="0" anchor="ctr">
            <a:normAutofit/>
          </a:bodyPr>
          <a:lstStyle/>
          <a:p>
            <a:pPr marL="0" indent="0" algn="l">
              <a:buNone/>
            </a:pPr>
            <a:r>
              <a:rPr lang="en-US" sz="1300" b="1" dirty="0">
                <a:solidFill>
                  <a:srgbClr val="F4F7FF"/>
                </a:solidFill>
                <a:latin typeface="Aptos" pitchFamily="34" charset="0"/>
                <a:ea typeface="Aptos" pitchFamily="34" charset="-122"/>
                <a:cs typeface="Aptos" pitchFamily="34" charset="-120"/>
              </a:rPr>
              <a:t>8 / 16 / 32</a:t>
            </a:r>
            <a:endParaRPr lang="en-US" sz="1300" dirty="0"/>
          </a:p>
        </p:txBody>
      </p:sp>
      <p:sp>
        <p:nvSpPr>
          <p:cNvPr id="12" name="Shape 10"/>
          <p:cNvSpPr/>
          <p:nvPr/>
        </p:nvSpPr>
        <p:spPr>
          <a:xfrm>
            <a:off x="6144768" y="1737360"/>
            <a:ext cx="2450592" cy="713232"/>
          </a:xfrm>
          <a:prstGeom prst="roundRect">
            <a:avLst>
              <a:gd name="adj" fmla="val 10256"/>
            </a:avLst>
          </a:prstGeom>
          <a:solidFill>
            <a:srgbClr val="131D31"/>
          </a:solidFill>
          <a:ln w="10160">
            <a:solidFill>
              <a:srgbClr val="2B3B58"/>
            </a:solidFill>
            <a:prstDash val="solid"/>
          </a:ln>
        </p:spPr>
      </p:sp>
      <p:sp>
        <p:nvSpPr>
          <p:cNvPr id="13" name="Text 11"/>
          <p:cNvSpPr txBox="1"/>
          <p:nvPr/>
        </p:nvSpPr>
        <p:spPr>
          <a:xfrm>
            <a:off x="6291072" y="1847088"/>
            <a:ext cx="2176272" cy="155448"/>
          </a:xfrm>
          <a:prstGeom prst="rect">
            <a:avLst/>
          </a:prstGeom>
          <a:noFill/>
        </p:spPr>
        <p:txBody>
          <a:bodyPr wrap="square" lIns="0" tIns="0" rIns="0" bIns="0" rtlCol="0" anchor="ctr">
            <a:normAutofit/>
          </a:bodyPr>
          <a:lstStyle/>
          <a:p>
            <a:pPr marL="0" indent="0" algn="l">
              <a:buNone/>
            </a:pPr>
            <a:r>
              <a:rPr lang="en-US" sz="800" b="1" kern="0" spc="80" dirty="0">
                <a:solidFill>
                  <a:srgbClr val="36D6C5"/>
                </a:solidFill>
                <a:latin typeface="Aptos" pitchFamily="34" charset="0"/>
                <a:ea typeface="Aptos" pitchFamily="34" charset="-122"/>
                <a:cs typeface="Aptos" pitchFamily="34" charset="-120"/>
              </a:rPr>
              <a:t>KERNEL</a:t>
            </a:r>
            <a:endParaRPr lang="en-US" sz="800" dirty="0"/>
          </a:p>
        </p:txBody>
      </p:sp>
      <p:sp>
        <p:nvSpPr>
          <p:cNvPr id="14" name="Text 12"/>
          <p:cNvSpPr txBox="1"/>
          <p:nvPr/>
        </p:nvSpPr>
        <p:spPr>
          <a:xfrm>
            <a:off x="6291072" y="2075688"/>
            <a:ext cx="2176272" cy="210312"/>
          </a:xfrm>
          <a:prstGeom prst="rect">
            <a:avLst/>
          </a:prstGeom>
          <a:noFill/>
        </p:spPr>
        <p:txBody>
          <a:bodyPr wrap="square" lIns="0" tIns="0" rIns="0" bIns="0" rtlCol="0" anchor="ctr">
            <a:normAutofit/>
          </a:bodyPr>
          <a:lstStyle/>
          <a:p>
            <a:pPr marL="0" indent="0" algn="l">
              <a:buNone/>
            </a:pPr>
            <a:r>
              <a:rPr lang="en-US" sz="1300" b="1" dirty="0">
                <a:solidFill>
                  <a:srgbClr val="F4F7FF"/>
                </a:solidFill>
                <a:latin typeface="Aptos" pitchFamily="34" charset="0"/>
                <a:ea typeface="Aptos" pitchFamily="34" charset="-122"/>
                <a:cs typeface="Aptos" pitchFamily="34" charset="-120"/>
              </a:rPr>
              <a:t>3 / 5</a:t>
            </a:r>
            <a:endParaRPr lang="en-US" sz="1300" dirty="0"/>
          </a:p>
        </p:txBody>
      </p:sp>
      <p:sp>
        <p:nvSpPr>
          <p:cNvPr id="15" name="Shape 13"/>
          <p:cNvSpPr/>
          <p:nvPr/>
        </p:nvSpPr>
        <p:spPr>
          <a:xfrm>
            <a:off x="8887968" y="1737360"/>
            <a:ext cx="2450592" cy="713232"/>
          </a:xfrm>
          <a:prstGeom prst="roundRect">
            <a:avLst>
              <a:gd name="adj" fmla="val 10256"/>
            </a:avLst>
          </a:prstGeom>
          <a:solidFill>
            <a:srgbClr val="131D31"/>
          </a:solidFill>
          <a:ln w="10160">
            <a:solidFill>
              <a:srgbClr val="2B3B58"/>
            </a:solidFill>
            <a:prstDash val="solid"/>
          </a:ln>
        </p:spPr>
      </p:sp>
      <p:sp>
        <p:nvSpPr>
          <p:cNvPr id="16" name="Text 14"/>
          <p:cNvSpPr txBox="1"/>
          <p:nvPr/>
        </p:nvSpPr>
        <p:spPr>
          <a:xfrm>
            <a:off x="9034272" y="1847088"/>
            <a:ext cx="2176272" cy="155448"/>
          </a:xfrm>
          <a:prstGeom prst="rect">
            <a:avLst/>
          </a:prstGeom>
          <a:noFill/>
        </p:spPr>
        <p:txBody>
          <a:bodyPr wrap="square" lIns="0" tIns="0" rIns="0" bIns="0" rtlCol="0" anchor="ctr">
            <a:normAutofit/>
          </a:bodyPr>
          <a:lstStyle/>
          <a:p>
            <a:pPr marL="0" indent="0" algn="l">
              <a:buNone/>
            </a:pPr>
            <a:r>
              <a:rPr lang="en-US" sz="800" b="1" kern="0" spc="80" dirty="0">
                <a:solidFill>
                  <a:srgbClr val="36D6C5"/>
                </a:solidFill>
                <a:latin typeface="Aptos" pitchFamily="34" charset="0"/>
                <a:ea typeface="Aptos" pitchFamily="34" charset="-122"/>
                <a:cs typeface="Aptos" pitchFamily="34" charset="-120"/>
              </a:rPr>
              <a:t>DROPOUT</a:t>
            </a:r>
            <a:endParaRPr lang="en-US" sz="800" dirty="0"/>
          </a:p>
        </p:txBody>
      </p:sp>
      <p:sp>
        <p:nvSpPr>
          <p:cNvPr id="17" name="Text 15"/>
          <p:cNvSpPr txBox="1"/>
          <p:nvPr/>
        </p:nvSpPr>
        <p:spPr>
          <a:xfrm>
            <a:off x="9034272" y="2075688"/>
            <a:ext cx="2176272" cy="210312"/>
          </a:xfrm>
          <a:prstGeom prst="rect">
            <a:avLst/>
          </a:prstGeom>
          <a:noFill/>
        </p:spPr>
        <p:txBody>
          <a:bodyPr wrap="square" lIns="0" tIns="0" rIns="0" bIns="0" rtlCol="0" anchor="ctr">
            <a:normAutofit/>
          </a:bodyPr>
          <a:lstStyle/>
          <a:p>
            <a:pPr marL="0" indent="0" algn="l">
              <a:buNone/>
            </a:pPr>
            <a:r>
              <a:rPr lang="en-US" sz="1300" b="1" dirty="0">
                <a:solidFill>
                  <a:srgbClr val="F4F7FF"/>
                </a:solidFill>
                <a:latin typeface="Aptos" pitchFamily="34" charset="0"/>
                <a:ea typeface="Aptos" pitchFamily="34" charset="-122"/>
                <a:cs typeface="Aptos" pitchFamily="34" charset="-120"/>
              </a:rPr>
              <a:t>0.2–0.5</a:t>
            </a:r>
            <a:endParaRPr lang="en-US" sz="1300" dirty="0"/>
          </a:p>
        </p:txBody>
      </p:sp>
      <p:sp>
        <p:nvSpPr>
          <p:cNvPr id="18" name="Shape 16"/>
          <p:cNvSpPr/>
          <p:nvPr/>
        </p:nvSpPr>
        <p:spPr>
          <a:xfrm>
            <a:off x="658368" y="2651760"/>
            <a:ext cx="2450592" cy="713232"/>
          </a:xfrm>
          <a:prstGeom prst="roundRect">
            <a:avLst>
              <a:gd name="adj" fmla="val 10256"/>
            </a:avLst>
          </a:prstGeom>
          <a:solidFill>
            <a:srgbClr val="131D31"/>
          </a:solidFill>
          <a:ln w="10160">
            <a:solidFill>
              <a:srgbClr val="2B3B58"/>
            </a:solidFill>
            <a:prstDash val="solid"/>
          </a:ln>
        </p:spPr>
      </p:sp>
      <p:sp>
        <p:nvSpPr>
          <p:cNvPr id="19" name="Text 17"/>
          <p:cNvSpPr txBox="1"/>
          <p:nvPr/>
        </p:nvSpPr>
        <p:spPr>
          <a:xfrm>
            <a:off x="804672" y="2761488"/>
            <a:ext cx="2176272" cy="155448"/>
          </a:xfrm>
          <a:prstGeom prst="rect">
            <a:avLst/>
          </a:prstGeom>
          <a:noFill/>
        </p:spPr>
        <p:txBody>
          <a:bodyPr wrap="square" lIns="0" tIns="0" rIns="0" bIns="0" rtlCol="0" anchor="ctr">
            <a:normAutofit/>
          </a:bodyPr>
          <a:lstStyle/>
          <a:p>
            <a:pPr marL="0" indent="0" algn="l">
              <a:buNone/>
            </a:pPr>
            <a:r>
              <a:rPr lang="en-US" sz="800" b="1" kern="0" spc="80" dirty="0">
                <a:solidFill>
                  <a:srgbClr val="36D6C5"/>
                </a:solidFill>
                <a:latin typeface="Aptos" pitchFamily="34" charset="0"/>
                <a:ea typeface="Aptos" pitchFamily="34" charset="-122"/>
                <a:cs typeface="Aptos" pitchFamily="34" charset="-120"/>
              </a:rPr>
              <a:t>LEARNING RATE</a:t>
            </a:r>
            <a:endParaRPr lang="en-US" sz="800" dirty="0"/>
          </a:p>
        </p:txBody>
      </p:sp>
      <p:sp>
        <p:nvSpPr>
          <p:cNvPr id="20" name="Text 18"/>
          <p:cNvSpPr txBox="1"/>
          <p:nvPr/>
        </p:nvSpPr>
        <p:spPr>
          <a:xfrm>
            <a:off x="804672" y="2990088"/>
            <a:ext cx="2176272" cy="210312"/>
          </a:xfrm>
          <a:prstGeom prst="rect">
            <a:avLst/>
          </a:prstGeom>
          <a:noFill/>
        </p:spPr>
        <p:txBody>
          <a:bodyPr wrap="square" lIns="0" tIns="0" rIns="0" bIns="0" rtlCol="0" anchor="ctr">
            <a:normAutofit/>
          </a:bodyPr>
          <a:lstStyle/>
          <a:p>
            <a:pPr marL="0" indent="0" algn="l">
              <a:buNone/>
            </a:pPr>
            <a:r>
              <a:rPr lang="en-US" sz="1300" b="1" dirty="0">
                <a:solidFill>
                  <a:srgbClr val="F4F7FF"/>
                </a:solidFill>
                <a:latin typeface="Aptos" pitchFamily="34" charset="0"/>
                <a:ea typeface="Aptos" pitchFamily="34" charset="-122"/>
                <a:cs typeface="Aptos" pitchFamily="34" charset="-120"/>
              </a:rPr>
              <a:t>5 values</a:t>
            </a:r>
            <a:endParaRPr lang="en-US" sz="1300" dirty="0"/>
          </a:p>
        </p:txBody>
      </p:sp>
      <p:sp>
        <p:nvSpPr>
          <p:cNvPr id="21" name="Shape 19"/>
          <p:cNvSpPr/>
          <p:nvPr/>
        </p:nvSpPr>
        <p:spPr>
          <a:xfrm>
            <a:off x="3401568" y="2651760"/>
            <a:ext cx="2450592" cy="713232"/>
          </a:xfrm>
          <a:prstGeom prst="roundRect">
            <a:avLst>
              <a:gd name="adj" fmla="val 10256"/>
            </a:avLst>
          </a:prstGeom>
          <a:solidFill>
            <a:srgbClr val="131D31"/>
          </a:solidFill>
          <a:ln w="10160">
            <a:solidFill>
              <a:srgbClr val="2B3B58"/>
            </a:solidFill>
            <a:prstDash val="solid"/>
          </a:ln>
        </p:spPr>
      </p:sp>
      <p:sp>
        <p:nvSpPr>
          <p:cNvPr id="22" name="Text 20"/>
          <p:cNvSpPr txBox="1"/>
          <p:nvPr/>
        </p:nvSpPr>
        <p:spPr>
          <a:xfrm>
            <a:off x="3547872" y="2761488"/>
            <a:ext cx="2176272" cy="155448"/>
          </a:xfrm>
          <a:prstGeom prst="rect">
            <a:avLst/>
          </a:prstGeom>
          <a:noFill/>
        </p:spPr>
        <p:txBody>
          <a:bodyPr wrap="square" lIns="0" tIns="0" rIns="0" bIns="0" rtlCol="0" anchor="ctr">
            <a:normAutofit/>
          </a:bodyPr>
          <a:lstStyle/>
          <a:p>
            <a:pPr marL="0" indent="0" algn="l">
              <a:buNone/>
            </a:pPr>
            <a:r>
              <a:rPr lang="en-US" sz="800" b="1" kern="0" spc="80" dirty="0">
                <a:solidFill>
                  <a:srgbClr val="36D6C5"/>
                </a:solidFill>
                <a:latin typeface="Aptos" pitchFamily="34" charset="0"/>
                <a:ea typeface="Aptos" pitchFamily="34" charset="-122"/>
                <a:cs typeface="Aptos" pitchFamily="34" charset="-120"/>
              </a:rPr>
              <a:t>DENSE UNITS</a:t>
            </a:r>
            <a:endParaRPr lang="en-US" sz="800" dirty="0"/>
          </a:p>
        </p:txBody>
      </p:sp>
      <p:sp>
        <p:nvSpPr>
          <p:cNvPr id="23" name="Text 21"/>
          <p:cNvSpPr txBox="1"/>
          <p:nvPr/>
        </p:nvSpPr>
        <p:spPr>
          <a:xfrm>
            <a:off x="3547872" y="2990088"/>
            <a:ext cx="2176272" cy="210312"/>
          </a:xfrm>
          <a:prstGeom prst="rect">
            <a:avLst/>
          </a:prstGeom>
          <a:noFill/>
        </p:spPr>
        <p:txBody>
          <a:bodyPr wrap="square" lIns="0" tIns="0" rIns="0" bIns="0" rtlCol="0" anchor="ctr">
            <a:normAutofit/>
          </a:bodyPr>
          <a:lstStyle/>
          <a:p>
            <a:pPr marL="0" indent="0" algn="l">
              <a:buNone/>
            </a:pPr>
            <a:r>
              <a:rPr lang="en-US" sz="1300" b="1" dirty="0">
                <a:solidFill>
                  <a:srgbClr val="F4F7FF"/>
                </a:solidFill>
                <a:latin typeface="Aptos" pitchFamily="34" charset="0"/>
                <a:ea typeface="Aptos" pitchFamily="34" charset="-122"/>
                <a:cs typeface="Aptos" pitchFamily="34" charset="-120"/>
              </a:rPr>
              <a:t>32 / 64 / 128</a:t>
            </a:r>
            <a:endParaRPr lang="en-US" sz="1300" dirty="0"/>
          </a:p>
        </p:txBody>
      </p:sp>
      <p:sp>
        <p:nvSpPr>
          <p:cNvPr id="24" name="Shape 22"/>
          <p:cNvSpPr/>
          <p:nvPr/>
        </p:nvSpPr>
        <p:spPr>
          <a:xfrm>
            <a:off x="6144768" y="2651760"/>
            <a:ext cx="2450592" cy="713232"/>
          </a:xfrm>
          <a:prstGeom prst="roundRect">
            <a:avLst>
              <a:gd name="adj" fmla="val 10256"/>
            </a:avLst>
          </a:prstGeom>
          <a:solidFill>
            <a:srgbClr val="131D31"/>
          </a:solidFill>
          <a:ln w="10160">
            <a:solidFill>
              <a:srgbClr val="2B3B58"/>
            </a:solidFill>
            <a:prstDash val="solid"/>
          </a:ln>
        </p:spPr>
      </p:sp>
      <p:sp>
        <p:nvSpPr>
          <p:cNvPr id="25" name="Text 23"/>
          <p:cNvSpPr txBox="1"/>
          <p:nvPr/>
        </p:nvSpPr>
        <p:spPr>
          <a:xfrm>
            <a:off x="6291072" y="2761488"/>
            <a:ext cx="2176272" cy="155448"/>
          </a:xfrm>
          <a:prstGeom prst="rect">
            <a:avLst/>
          </a:prstGeom>
          <a:noFill/>
        </p:spPr>
        <p:txBody>
          <a:bodyPr wrap="square" lIns="0" tIns="0" rIns="0" bIns="0" rtlCol="0" anchor="ctr">
            <a:normAutofit/>
          </a:bodyPr>
          <a:lstStyle/>
          <a:p>
            <a:pPr marL="0" indent="0" algn="l">
              <a:buNone/>
            </a:pPr>
            <a:r>
              <a:rPr lang="en-US" sz="800" b="1" kern="0" spc="80" dirty="0">
                <a:solidFill>
                  <a:srgbClr val="36D6C5"/>
                </a:solidFill>
                <a:latin typeface="Aptos" pitchFamily="34" charset="0"/>
                <a:ea typeface="Aptos" pitchFamily="34" charset="-122"/>
                <a:cs typeface="Aptos" pitchFamily="34" charset="-120"/>
              </a:rPr>
              <a:t>BATCH SIZE</a:t>
            </a:r>
            <a:endParaRPr lang="en-US" sz="800" dirty="0"/>
          </a:p>
        </p:txBody>
      </p:sp>
      <p:sp>
        <p:nvSpPr>
          <p:cNvPr id="26" name="Text 24"/>
          <p:cNvSpPr txBox="1"/>
          <p:nvPr/>
        </p:nvSpPr>
        <p:spPr>
          <a:xfrm>
            <a:off x="6291072" y="2990088"/>
            <a:ext cx="2176272" cy="210312"/>
          </a:xfrm>
          <a:prstGeom prst="rect">
            <a:avLst/>
          </a:prstGeom>
          <a:noFill/>
        </p:spPr>
        <p:txBody>
          <a:bodyPr wrap="square" lIns="0" tIns="0" rIns="0" bIns="0" rtlCol="0" anchor="ctr">
            <a:normAutofit/>
          </a:bodyPr>
          <a:lstStyle/>
          <a:p>
            <a:pPr marL="0" indent="0" algn="l">
              <a:buNone/>
            </a:pPr>
            <a:r>
              <a:rPr lang="en-US" sz="1300" b="1" dirty="0">
                <a:solidFill>
                  <a:srgbClr val="F4F7FF"/>
                </a:solidFill>
                <a:latin typeface="Aptos" pitchFamily="34" charset="0"/>
                <a:ea typeface="Aptos" pitchFamily="34" charset="-122"/>
                <a:cs typeface="Aptos" pitchFamily="34" charset="-120"/>
              </a:rPr>
              <a:t>16 / 32 / 64</a:t>
            </a:r>
            <a:endParaRPr lang="en-US" sz="1300" dirty="0"/>
          </a:p>
        </p:txBody>
      </p:sp>
      <p:sp>
        <p:nvSpPr>
          <p:cNvPr id="27" name="Shape 25"/>
          <p:cNvSpPr/>
          <p:nvPr/>
        </p:nvSpPr>
        <p:spPr>
          <a:xfrm>
            <a:off x="658368" y="3794760"/>
            <a:ext cx="5285232" cy="1353312"/>
          </a:xfrm>
          <a:prstGeom prst="roundRect">
            <a:avLst>
              <a:gd name="adj" fmla="val 5405"/>
            </a:avLst>
          </a:prstGeom>
          <a:solidFill>
            <a:srgbClr val="131D31"/>
          </a:solidFill>
          <a:ln w="10160">
            <a:solidFill>
              <a:srgbClr val="2B3B58"/>
            </a:solidFill>
            <a:prstDash val="solid"/>
          </a:ln>
        </p:spPr>
      </p:sp>
      <p:sp>
        <p:nvSpPr>
          <p:cNvPr id="28" name="Shape 26"/>
          <p:cNvSpPr/>
          <p:nvPr/>
        </p:nvSpPr>
        <p:spPr>
          <a:xfrm>
            <a:off x="658368" y="3794760"/>
            <a:ext cx="64008" cy="1353312"/>
          </a:xfrm>
          <a:prstGeom prst="rect">
            <a:avLst/>
          </a:prstGeom>
          <a:solidFill>
            <a:srgbClr val="FFB65E"/>
          </a:solidFill>
          <a:ln w="10160">
            <a:solidFill>
              <a:srgbClr val="FFB65E"/>
            </a:solidFill>
            <a:prstDash val="solid"/>
          </a:ln>
        </p:spPr>
      </p:sp>
      <p:sp>
        <p:nvSpPr>
          <p:cNvPr id="29" name="Text 27"/>
          <p:cNvSpPr txBox="1"/>
          <p:nvPr/>
        </p:nvSpPr>
        <p:spPr>
          <a:xfrm>
            <a:off x="859536" y="3950208"/>
            <a:ext cx="4919472" cy="292608"/>
          </a:xfrm>
          <a:prstGeom prst="rect">
            <a:avLst/>
          </a:prstGeom>
          <a:noFill/>
        </p:spPr>
        <p:txBody>
          <a:bodyPr wrap="square" lIns="0" tIns="0" rIns="0" bIns="0" rtlCol="0" anchor="ctr">
            <a:normAutofit/>
          </a:bodyPr>
          <a:lstStyle/>
          <a:p>
            <a:pPr marL="0" indent="0" algn="l">
              <a:buNone/>
            </a:pPr>
            <a:r>
              <a:rPr lang="en-US" sz="1500" b="1" dirty="0">
                <a:solidFill>
                  <a:srgbClr val="F4F7FF"/>
                </a:solidFill>
                <a:latin typeface="Aptos" pitchFamily="34" charset="0"/>
                <a:ea typeface="Aptos" pitchFamily="34" charset="-122"/>
                <a:cs typeface="Aptos" pitchFamily="34" charset="-120"/>
              </a:rPr>
              <a:t>EXPLORATORY PATTERN</a:t>
            </a:r>
            <a:endParaRPr lang="en-US" sz="1500" dirty="0"/>
          </a:p>
        </p:txBody>
      </p:sp>
      <p:sp>
        <p:nvSpPr>
          <p:cNvPr id="30" name="Text 28"/>
          <p:cNvSpPr txBox="1"/>
          <p:nvPr/>
        </p:nvSpPr>
        <p:spPr>
          <a:xfrm>
            <a:off x="859536" y="4306824"/>
            <a:ext cx="4919472" cy="740664"/>
          </a:xfrm>
          <a:prstGeom prst="rect">
            <a:avLst/>
          </a:prstGeom>
          <a:noFill/>
        </p:spPr>
        <p:txBody>
          <a:bodyPr wrap="square" lIns="0" tIns="0" rIns="0" bIns="0" rtlCol="0" anchor="t">
            <a:normAutofit/>
          </a:bodyPr>
          <a:lstStyle/>
          <a:p>
            <a:pPr marL="0" indent="0" algn="l">
              <a:lnSpc>
                <a:spcPct val="100000"/>
              </a:lnSpc>
              <a:buNone/>
            </a:pPr>
            <a:r>
              <a:rPr lang="en-US" sz="1200" dirty="0">
                <a:solidFill>
                  <a:srgbClr val="A7B4CE"/>
                </a:solidFill>
                <a:latin typeface="Aptos" pitchFamily="34" charset="0"/>
                <a:ea typeface="Aptos" pitchFamily="34" charset="-122"/>
                <a:cs typeface="Aptos" pitchFamily="34" charset="-120"/>
              </a:rPr>
              <a:t>Batch size 64 tended to have lower mean fitness in the groupwise plots; learning rate behavior varied by optimizer.</a:t>
            </a:r>
            <a:endParaRPr lang="en-US" sz="1200" dirty="0"/>
          </a:p>
        </p:txBody>
      </p:sp>
      <p:sp>
        <p:nvSpPr>
          <p:cNvPr id="31" name="Shape 29"/>
          <p:cNvSpPr/>
          <p:nvPr/>
        </p:nvSpPr>
        <p:spPr>
          <a:xfrm>
            <a:off x="6199632" y="3794760"/>
            <a:ext cx="5330952" cy="1353312"/>
          </a:xfrm>
          <a:prstGeom prst="roundRect">
            <a:avLst>
              <a:gd name="adj" fmla="val 5405"/>
            </a:avLst>
          </a:prstGeom>
          <a:solidFill>
            <a:srgbClr val="131D31"/>
          </a:solidFill>
          <a:ln w="10160">
            <a:solidFill>
              <a:srgbClr val="2B3B58"/>
            </a:solidFill>
            <a:prstDash val="solid"/>
          </a:ln>
        </p:spPr>
      </p:sp>
      <p:sp>
        <p:nvSpPr>
          <p:cNvPr id="32" name="Shape 30"/>
          <p:cNvSpPr/>
          <p:nvPr/>
        </p:nvSpPr>
        <p:spPr>
          <a:xfrm>
            <a:off x="6199632" y="3794760"/>
            <a:ext cx="64008" cy="1353312"/>
          </a:xfrm>
          <a:prstGeom prst="rect">
            <a:avLst/>
          </a:prstGeom>
          <a:solidFill>
            <a:srgbClr val="FF707C"/>
          </a:solidFill>
          <a:ln w="10160">
            <a:solidFill>
              <a:srgbClr val="FF707C"/>
            </a:solidFill>
            <a:prstDash val="solid"/>
          </a:ln>
        </p:spPr>
      </p:sp>
      <p:sp>
        <p:nvSpPr>
          <p:cNvPr id="33" name="Text 31"/>
          <p:cNvSpPr txBox="1"/>
          <p:nvPr/>
        </p:nvSpPr>
        <p:spPr>
          <a:xfrm>
            <a:off x="6400800" y="3950208"/>
            <a:ext cx="4965192" cy="292608"/>
          </a:xfrm>
          <a:prstGeom prst="rect">
            <a:avLst/>
          </a:prstGeom>
          <a:noFill/>
        </p:spPr>
        <p:txBody>
          <a:bodyPr wrap="square" lIns="0" tIns="0" rIns="0" bIns="0" rtlCol="0" anchor="ctr">
            <a:normAutofit/>
          </a:bodyPr>
          <a:lstStyle/>
          <a:p>
            <a:pPr marL="0" indent="0" algn="l">
              <a:buNone/>
            </a:pPr>
            <a:r>
              <a:rPr lang="en-US" sz="1500" b="1" dirty="0">
                <a:solidFill>
                  <a:srgbClr val="F4F7FF"/>
                </a:solidFill>
                <a:latin typeface="Aptos" pitchFamily="34" charset="0"/>
                <a:ea typeface="Aptos" pitchFamily="34" charset="-122"/>
                <a:cs typeface="Aptos" pitchFamily="34" charset="-120"/>
              </a:rPr>
              <a:t>IMPORTANT LIMITATION</a:t>
            </a:r>
            <a:endParaRPr lang="en-US" sz="1500" dirty="0"/>
          </a:p>
        </p:txBody>
      </p:sp>
      <p:sp>
        <p:nvSpPr>
          <p:cNvPr id="34" name="Text 32"/>
          <p:cNvSpPr txBox="1"/>
          <p:nvPr/>
        </p:nvSpPr>
        <p:spPr>
          <a:xfrm>
            <a:off x="6400800" y="4306824"/>
            <a:ext cx="4965192" cy="740664"/>
          </a:xfrm>
          <a:prstGeom prst="rect">
            <a:avLst/>
          </a:prstGeom>
          <a:noFill/>
        </p:spPr>
        <p:txBody>
          <a:bodyPr wrap="square" lIns="0" tIns="0" rIns="0" bIns="0" rtlCol="0" anchor="t">
            <a:normAutofit/>
          </a:bodyPr>
          <a:lstStyle/>
          <a:p>
            <a:pPr marL="0" indent="0" algn="l">
              <a:lnSpc>
                <a:spcPct val="100000"/>
              </a:lnSpc>
              <a:buNone/>
            </a:pPr>
            <a:r>
              <a:rPr lang="en-US" sz="1200" dirty="0">
                <a:solidFill>
                  <a:srgbClr val="A7B4CE"/>
                </a:solidFill>
                <a:latin typeface="Aptos" pitchFamily="34" charset="0"/>
                <a:ea typeface="Aptos" pitchFamily="34" charset="-122"/>
                <a:cs typeface="Aptos" pitchFamily="34" charset="-120"/>
              </a:rPr>
              <a:t>The surrogate permutation model had held out R² = −0.0186, so its global importance ranking is not treated as reliable evidence.</a:t>
            </a:r>
            <a:endParaRPr lang="en-US" sz="1200" dirty="0"/>
          </a:p>
        </p:txBody>
      </p:sp>
      <p:sp>
        <p:nvSpPr>
          <p:cNvPr id="35" name="Shape 33"/>
          <p:cNvSpPr/>
          <p:nvPr/>
        </p:nvSpPr>
        <p:spPr>
          <a:xfrm>
            <a:off x="658368" y="5431536"/>
            <a:ext cx="10881360" cy="502920"/>
          </a:xfrm>
          <a:prstGeom prst="roundRect">
            <a:avLst>
              <a:gd name="adj" fmla="val 14545"/>
            </a:avLst>
          </a:prstGeom>
          <a:solidFill>
            <a:srgbClr val="18263B"/>
          </a:solidFill>
          <a:ln w="10160">
            <a:solidFill>
              <a:srgbClr val="2B3B58"/>
            </a:solidFill>
            <a:prstDash val="solid"/>
          </a:ln>
        </p:spPr>
      </p:sp>
      <p:sp>
        <p:nvSpPr>
          <p:cNvPr id="36" name="Text 34"/>
          <p:cNvSpPr txBox="1"/>
          <p:nvPr/>
        </p:nvSpPr>
        <p:spPr>
          <a:xfrm>
            <a:off x="868680" y="5577840"/>
            <a:ext cx="10424160" cy="201168"/>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Conclusion: use the per-gene plots as exploratory associations, not causal effects or a universal hyperparameter ranking.</a:t>
            </a:r>
            <a:endParaRPr lang="en-US" sz="1100" dirty="0"/>
          </a:p>
        </p:txBody>
      </p:sp>
      <p:sp>
        <p:nvSpPr>
          <p:cNvPr id="37" name="Slide Number Placeholder 0"/>
          <p:cNvSpPr>
            <a:spLocks noGrp="1"/>
          </p:cNvSpPr>
          <p:nvPr>
            <p:ph type="sldNum" sz="quarter" idx="4294967295"/>
          </p:nvPr>
        </p:nvSpPr>
        <p:spPr>
          <a:xfrm>
            <a:off x="11292840" y="6510528"/>
            <a:ext cx="800000" cy="300000"/>
          </a:xfrm>
          <a:prstGeom prst="rect">
            <a:avLst/>
          </a:prstGeom>
        </p:spPr>
        <p:txBody>
          <a:bodyPr/>
          <a:lstStyle>
            <a:lvl1pPr>
              <a:defRPr sz="800">
                <a:solidFill>
                  <a:srgbClr val="8090B0"/>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0"/>
          <p:cNvSpPr txBox="1"/>
          <p:nvPr/>
        </p:nvSpPr>
        <p:spPr>
          <a:xfrm>
            <a:off x="621792" y="292608"/>
            <a:ext cx="4572000" cy="219456"/>
          </a:xfrm>
          <a:prstGeom prst="rect">
            <a:avLst/>
          </a:prstGeom>
          <a:noFill/>
        </p:spPr>
        <p:txBody>
          <a:bodyPr wrap="square" lIns="0" tIns="0" rIns="0" bIns="0" rtlCol="0" anchor="ctr">
            <a:normAutofit/>
          </a:bodyPr>
          <a:lstStyle/>
          <a:p>
            <a:pPr marL="0" indent="0" algn="l">
              <a:buNone/>
            </a:pPr>
            <a:r>
              <a:rPr lang="en-US" sz="900" b="1" kern="0" spc="180" dirty="0">
                <a:solidFill>
                  <a:srgbClr val="36D6C5"/>
                </a:solidFill>
                <a:latin typeface="Aptos" pitchFamily="34" charset="0"/>
                <a:ea typeface="Aptos" pitchFamily="34" charset="-122"/>
                <a:cs typeface="Aptos" pitchFamily="34" charset="-120"/>
              </a:rPr>
              <a:t>06  •  REVISION CHECKLIST</a:t>
            </a:r>
            <a:endParaRPr lang="en-US" sz="900" dirty="0"/>
          </a:p>
        </p:txBody>
      </p:sp>
      <p:sp>
        <p:nvSpPr>
          <p:cNvPr id="3" name="Text 1"/>
          <p:cNvSpPr txBox="1"/>
          <p:nvPr/>
        </p:nvSpPr>
        <p:spPr>
          <a:xfrm>
            <a:off x="621792" y="612648"/>
            <a:ext cx="10972800" cy="475488"/>
          </a:xfrm>
          <a:prstGeom prst="rect">
            <a:avLst/>
          </a:prstGeom>
          <a:noFill/>
        </p:spPr>
        <p:txBody>
          <a:bodyPr wrap="square" lIns="0" tIns="0" rIns="0" bIns="0" rtlCol="0" anchor="ctr">
            <a:normAutofit/>
          </a:bodyPr>
          <a:lstStyle/>
          <a:p>
            <a:pPr marL="0" indent="0" algn="l">
              <a:buNone/>
            </a:pPr>
            <a:r>
              <a:rPr lang="en-US" sz="2700" b="1" dirty="0">
                <a:solidFill>
                  <a:srgbClr val="F4F7FF"/>
                </a:solidFill>
                <a:latin typeface="Aptos" pitchFamily="34" charset="0"/>
                <a:ea typeface="Aptos" pitchFamily="34" charset="-122"/>
                <a:cs typeface="Aptos" pitchFamily="34" charset="-120"/>
              </a:rPr>
              <a:t>How we addressed all five feedback points</a:t>
            </a:r>
            <a:endParaRPr lang="en-US" sz="2700" dirty="0"/>
          </a:p>
        </p:txBody>
      </p:sp>
      <p:sp>
        <p:nvSpPr>
          <p:cNvPr id="4" name="Text 2"/>
          <p:cNvSpPr txBox="1"/>
          <p:nvPr/>
        </p:nvSpPr>
        <p:spPr>
          <a:xfrm>
            <a:off x="640080" y="1106424"/>
            <a:ext cx="10789920" cy="292608"/>
          </a:xfrm>
          <a:prstGeom prst="rect">
            <a:avLst/>
          </a:prstGeom>
          <a:noFill/>
        </p:spPr>
        <p:txBody>
          <a:bodyPr wrap="square" lIns="0" tIns="0" rIns="0" bIns="0" rtlCol="0" anchor="ctr">
            <a:normAutofit/>
          </a:bodyPr>
          <a:lstStyle/>
          <a:p>
            <a:pPr marL="0" indent="0" algn="l">
              <a:buNone/>
            </a:pPr>
            <a:r>
              <a:rPr lang="en-US" sz="1200" dirty="0">
                <a:solidFill>
                  <a:srgbClr val="A7B4CE"/>
                </a:solidFill>
                <a:latin typeface="Aptos" pitchFamily="34" charset="0"/>
                <a:ea typeface="Aptos" pitchFamily="34" charset="-122"/>
                <a:cs typeface="Aptos" pitchFamily="34" charset="-120"/>
              </a:rPr>
              <a:t>Each requested change maps to a specific experimental artifact or protocol change.</a:t>
            </a:r>
            <a:endParaRPr lang="en-US" sz="1200" dirty="0"/>
          </a:p>
        </p:txBody>
      </p:sp>
      <p:sp>
        <p:nvSpPr>
          <p:cNvPr id="6" name="Shape 4"/>
          <p:cNvSpPr/>
          <p:nvPr/>
        </p:nvSpPr>
        <p:spPr>
          <a:xfrm>
            <a:off x="658368" y="1627632"/>
            <a:ext cx="10881360" cy="704088"/>
          </a:xfrm>
          <a:prstGeom prst="roundRect">
            <a:avLst>
              <a:gd name="adj" fmla="val 10390"/>
            </a:avLst>
          </a:prstGeom>
          <a:solidFill>
            <a:srgbClr val="131D31"/>
          </a:solidFill>
          <a:ln w="10160">
            <a:solidFill>
              <a:srgbClr val="2B3B58"/>
            </a:solidFill>
            <a:prstDash val="solid"/>
          </a:ln>
        </p:spPr>
      </p:sp>
      <p:sp>
        <p:nvSpPr>
          <p:cNvPr id="7" name="Shape 5"/>
          <p:cNvSpPr/>
          <p:nvPr/>
        </p:nvSpPr>
        <p:spPr>
          <a:xfrm>
            <a:off x="832104" y="1783080"/>
            <a:ext cx="384048" cy="384048"/>
          </a:xfrm>
          <a:prstGeom prst="ellipse">
            <a:avLst/>
          </a:prstGeom>
          <a:solidFill>
            <a:srgbClr val="36D6C5"/>
          </a:solidFill>
          <a:ln w="12700">
            <a:solidFill>
              <a:srgbClr val="36D6C5"/>
            </a:solidFill>
            <a:prstDash val="solid"/>
          </a:ln>
        </p:spPr>
      </p:sp>
      <p:sp>
        <p:nvSpPr>
          <p:cNvPr id="8" name="Text 6"/>
          <p:cNvSpPr txBox="1"/>
          <p:nvPr/>
        </p:nvSpPr>
        <p:spPr>
          <a:xfrm>
            <a:off x="832104" y="1869440"/>
            <a:ext cx="384048" cy="201168"/>
          </a:xfrm>
          <a:prstGeom prst="rect">
            <a:avLst/>
          </a:prstGeom>
          <a:noFill/>
        </p:spPr>
        <p:txBody>
          <a:bodyPr wrap="square" lIns="0" tIns="0" rIns="0" bIns="0" rtlCol="0" anchor="ctr">
            <a:normAutofit/>
          </a:bodyPr>
          <a:lstStyle/>
          <a:p>
            <a:pPr marL="0" indent="0" algn="ctr">
              <a:buNone/>
            </a:pPr>
            <a:r>
              <a:rPr lang="en-US" sz="1000" b="1" dirty="0">
                <a:solidFill>
                  <a:srgbClr val="0B1020"/>
                </a:solidFill>
                <a:latin typeface="Aptos" pitchFamily="34" charset="0"/>
                <a:ea typeface="Aptos" pitchFamily="34" charset="-122"/>
                <a:cs typeface="Aptos" pitchFamily="34" charset="-120"/>
              </a:rPr>
              <a:t>01</a:t>
            </a:r>
            <a:endParaRPr lang="en-US" sz="1000" dirty="0"/>
          </a:p>
        </p:txBody>
      </p:sp>
      <p:sp>
        <p:nvSpPr>
          <p:cNvPr id="9" name="Text 7"/>
          <p:cNvSpPr txBox="1"/>
          <p:nvPr/>
        </p:nvSpPr>
        <p:spPr>
          <a:xfrm>
            <a:off x="1389888" y="1737360"/>
            <a:ext cx="2286000" cy="201168"/>
          </a:xfrm>
          <a:prstGeom prst="rect">
            <a:avLst/>
          </a:prstGeom>
          <a:noFill/>
        </p:spPr>
        <p:txBody>
          <a:bodyPr wrap="square" lIns="0" tIns="0" rIns="0" bIns="0" rtlCol="0" anchor="ctr">
            <a:normAutofit/>
          </a:bodyPr>
          <a:lstStyle/>
          <a:p>
            <a:pPr marL="0" indent="0" algn="l">
              <a:buNone/>
            </a:pPr>
            <a:r>
              <a:rPr lang="en-US" sz="1200" b="1" dirty="0">
                <a:solidFill>
                  <a:srgbClr val="F4F7FF"/>
                </a:solidFill>
                <a:latin typeface="Aptos" pitchFamily="34" charset="0"/>
                <a:ea typeface="Aptos" pitchFamily="34" charset="-122"/>
                <a:cs typeface="Aptos" pitchFamily="34" charset="-120"/>
              </a:rPr>
              <a:t>Test set leakage</a:t>
            </a:r>
            <a:endParaRPr lang="en-US" sz="1200" dirty="0"/>
          </a:p>
        </p:txBody>
      </p:sp>
      <p:sp>
        <p:nvSpPr>
          <p:cNvPr id="10" name="Text 8"/>
          <p:cNvSpPr txBox="1"/>
          <p:nvPr/>
        </p:nvSpPr>
        <p:spPr>
          <a:xfrm>
            <a:off x="3657600" y="1719072"/>
            <a:ext cx="5669280" cy="457200"/>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Revised fitness and early stopping use validation splits from training folders; test scores are report-only in the revised workflow.</a:t>
            </a:r>
            <a:endParaRPr lang="en-US" sz="1000" dirty="0"/>
          </a:p>
        </p:txBody>
      </p:sp>
      <p:sp>
        <p:nvSpPr>
          <p:cNvPr id="11" name="Shape 9"/>
          <p:cNvSpPr/>
          <p:nvPr/>
        </p:nvSpPr>
        <p:spPr>
          <a:xfrm>
            <a:off x="9555480" y="1837944"/>
            <a:ext cx="1664208" cy="256032"/>
          </a:xfrm>
          <a:prstGeom prst="roundRect">
            <a:avLst>
              <a:gd name="adj" fmla="val 28571"/>
            </a:avLst>
          </a:prstGeom>
          <a:solidFill>
            <a:srgbClr val="1B2A40"/>
          </a:solidFill>
          <a:ln w="10160">
            <a:solidFill>
              <a:srgbClr val="1B2A40"/>
            </a:solidFill>
            <a:prstDash val="solid"/>
          </a:ln>
        </p:spPr>
      </p:sp>
      <p:sp>
        <p:nvSpPr>
          <p:cNvPr id="12" name="Text 10"/>
          <p:cNvSpPr txBox="1"/>
          <p:nvPr/>
        </p:nvSpPr>
        <p:spPr>
          <a:xfrm>
            <a:off x="9619488" y="1847088"/>
            <a:ext cx="1536192" cy="228600"/>
          </a:xfrm>
          <a:prstGeom prst="rect">
            <a:avLst/>
          </a:prstGeom>
          <a:noFill/>
        </p:spPr>
        <p:txBody>
          <a:bodyPr wrap="square" lIns="0" tIns="0" rIns="0" bIns="0" rtlCol="0" anchor="ctr">
            <a:normAutofit/>
          </a:bodyPr>
          <a:lstStyle/>
          <a:p>
            <a:pPr marL="0" indent="0" algn="ctr">
              <a:buNone/>
            </a:pPr>
            <a:r>
              <a:rPr lang="en-US" sz="800" b="1" kern="0" spc="30" dirty="0">
                <a:solidFill>
                  <a:srgbClr val="36D6C5"/>
                </a:solidFill>
                <a:latin typeface="Aptos" pitchFamily="34" charset="0"/>
                <a:ea typeface="Aptos" pitchFamily="34" charset="-122"/>
                <a:cs typeface="Aptos" pitchFamily="34" charset="-120"/>
              </a:rPr>
              <a:t>Validation-based selection</a:t>
            </a:r>
            <a:endParaRPr lang="en-US" sz="800" dirty="0"/>
          </a:p>
        </p:txBody>
      </p:sp>
      <p:sp>
        <p:nvSpPr>
          <p:cNvPr id="13" name="Shape 11"/>
          <p:cNvSpPr/>
          <p:nvPr/>
        </p:nvSpPr>
        <p:spPr>
          <a:xfrm>
            <a:off x="658368" y="2468880"/>
            <a:ext cx="10881360" cy="704088"/>
          </a:xfrm>
          <a:prstGeom prst="roundRect">
            <a:avLst>
              <a:gd name="adj" fmla="val 10390"/>
            </a:avLst>
          </a:prstGeom>
          <a:solidFill>
            <a:srgbClr val="131D31"/>
          </a:solidFill>
          <a:ln w="10160">
            <a:solidFill>
              <a:srgbClr val="2B3B58"/>
            </a:solidFill>
            <a:prstDash val="solid"/>
          </a:ln>
        </p:spPr>
      </p:sp>
      <p:sp>
        <p:nvSpPr>
          <p:cNvPr id="14" name="Shape 12"/>
          <p:cNvSpPr/>
          <p:nvPr/>
        </p:nvSpPr>
        <p:spPr>
          <a:xfrm>
            <a:off x="832104" y="2624328"/>
            <a:ext cx="384048" cy="384048"/>
          </a:xfrm>
          <a:prstGeom prst="ellipse">
            <a:avLst/>
          </a:prstGeom>
          <a:solidFill>
            <a:srgbClr val="FFB65E"/>
          </a:solidFill>
          <a:ln w="12700">
            <a:solidFill>
              <a:srgbClr val="FFB65E"/>
            </a:solidFill>
            <a:prstDash val="solid"/>
          </a:ln>
        </p:spPr>
      </p:sp>
      <p:sp>
        <p:nvSpPr>
          <p:cNvPr id="15" name="Text 13"/>
          <p:cNvSpPr txBox="1"/>
          <p:nvPr/>
        </p:nvSpPr>
        <p:spPr>
          <a:xfrm>
            <a:off x="832104" y="2710688"/>
            <a:ext cx="384048" cy="201168"/>
          </a:xfrm>
          <a:prstGeom prst="rect">
            <a:avLst/>
          </a:prstGeom>
          <a:noFill/>
        </p:spPr>
        <p:txBody>
          <a:bodyPr wrap="square" lIns="0" tIns="0" rIns="0" bIns="0" rtlCol="0" anchor="ctr">
            <a:normAutofit/>
          </a:bodyPr>
          <a:lstStyle/>
          <a:p>
            <a:pPr marL="0" indent="0" algn="ctr">
              <a:buNone/>
            </a:pPr>
            <a:r>
              <a:rPr lang="en-US" sz="1000" b="1" dirty="0">
                <a:solidFill>
                  <a:srgbClr val="0B1020"/>
                </a:solidFill>
                <a:latin typeface="Aptos" pitchFamily="34" charset="0"/>
                <a:ea typeface="Aptos" pitchFamily="34" charset="-122"/>
                <a:cs typeface="Aptos" pitchFamily="34" charset="-120"/>
              </a:rPr>
              <a:t>02</a:t>
            </a:r>
            <a:endParaRPr lang="en-US" sz="1000" dirty="0"/>
          </a:p>
        </p:txBody>
      </p:sp>
      <p:sp>
        <p:nvSpPr>
          <p:cNvPr id="16" name="Text 14"/>
          <p:cNvSpPr txBox="1"/>
          <p:nvPr/>
        </p:nvSpPr>
        <p:spPr>
          <a:xfrm>
            <a:off x="1389888" y="2578608"/>
            <a:ext cx="2286000" cy="201168"/>
          </a:xfrm>
          <a:prstGeom prst="rect">
            <a:avLst/>
          </a:prstGeom>
          <a:noFill/>
        </p:spPr>
        <p:txBody>
          <a:bodyPr wrap="square" lIns="0" tIns="0" rIns="0" bIns="0" rtlCol="0" anchor="ctr">
            <a:normAutofit/>
          </a:bodyPr>
          <a:lstStyle/>
          <a:p>
            <a:pPr marL="0" indent="0" algn="l">
              <a:buNone/>
            </a:pPr>
            <a:r>
              <a:rPr lang="en-US" sz="1200" b="1" dirty="0">
                <a:solidFill>
                  <a:srgbClr val="F4F7FF"/>
                </a:solidFill>
                <a:latin typeface="Aptos" pitchFamily="34" charset="0"/>
                <a:ea typeface="Aptos" pitchFamily="34" charset="-122"/>
                <a:cs typeface="Aptos" pitchFamily="34" charset="-120"/>
              </a:rPr>
              <a:t>Larger GA budget</a:t>
            </a:r>
            <a:endParaRPr lang="en-US" sz="1200" dirty="0"/>
          </a:p>
        </p:txBody>
      </p:sp>
      <p:sp>
        <p:nvSpPr>
          <p:cNvPr id="17" name="Text 15"/>
          <p:cNvSpPr txBox="1"/>
          <p:nvPr/>
        </p:nvSpPr>
        <p:spPr>
          <a:xfrm>
            <a:off x="3657600" y="2560320"/>
            <a:ext cx="5669280" cy="457200"/>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300 GA evaluations across 3 seeds; 100 evaluations per seed.</a:t>
            </a:r>
            <a:endParaRPr lang="en-US" sz="1000" dirty="0"/>
          </a:p>
        </p:txBody>
      </p:sp>
      <p:sp>
        <p:nvSpPr>
          <p:cNvPr id="18" name="Shape 16"/>
          <p:cNvSpPr/>
          <p:nvPr/>
        </p:nvSpPr>
        <p:spPr>
          <a:xfrm>
            <a:off x="9555480" y="2679192"/>
            <a:ext cx="1664208" cy="256032"/>
          </a:xfrm>
          <a:prstGeom prst="roundRect">
            <a:avLst>
              <a:gd name="adj" fmla="val 28571"/>
            </a:avLst>
          </a:prstGeom>
          <a:solidFill>
            <a:srgbClr val="1B2A40"/>
          </a:solidFill>
          <a:ln w="10160">
            <a:solidFill>
              <a:srgbClr val="1B2A40"/>
            </a:solidFill>
            <a:prstDash val="solid"/>
          </a:ln>
        </p:spPr>
      </p:sp>
      <p:sp>
        <p:nvSpPr>
          <p:cNvPr id="19" name="Text 17"/>
          <p:cNvSpPr txBox="1"/>
          <p:nvPr/>
        </p:nvSpPr>
        <p:spPr>
          <a:xfrm>
            <a:off x="9619488" y="2688336"/>
            <a:ext cx="1536192" cy="228600"/>
          </a:xfrm>
          <a:prstGeom prst="rect">
            <a:avLst/>
          </a:prstGeom>
          <a:noFill/>
        </p:spPr>
        <p:txBody>
          <a:bodyPr wrap="square" lIns="0" tIns="0" rIns="0" bIns="0" rtlCol="0" anchor="ctr">
            <a:normAutofit/>
          </a:bodyPr>
          <a:lstStyle/>
          <a:p>
            <a:pPr marL="0" indent="0" algn="ctr">
              <a:buNone/>
            </a:pPr>
            <a:r>
              <a:rPr lang="en-US" sz="800" b="1" kern="0" spc="30" dirty="0">
                <a:solidFill>
                  <a:srgbClr val="FFB65E"/>
                </a:solidFill>
                <a:latin typeface="Aptos" pitchFamily="34" charset="0"/>
                <a:ea typeface="Aptos" pitchFamily="34" charset="-122"/>
                <a:cs typeface="Aptos" pitchFamily="34" charset="-120"/>
              </a:rPr>
              <a:t>300 GA trials</a:t>
            </a:r>
            <a:endParaRPr lang="en-US" sz="800" dirty="0"/>
          </a:p>
        </p:txBody>
      </p:sp>
      <p:sp>
        <p:nvSpPr>
          <p:cNvPr id="20" name="Shape 18"/>
          <p:cNvSpPr/>
          <p:nvPr/>
        </p:nvSpPr>
        <p:spPr>
          <a:xfrm>
            <a:off x="658368" y="3310128"/>
            <a:ext cx="10881360" cy="704088"/>
          </a:xfrm>
          <a:prstGeom prst="roundRect">
            <a:avLst>
              <a:gd name="adj" fmla="val 10390"/>
            </a:avLst>
          </a:prstGeom>
          <a:solidFill>
            <a:srgbClr val="131D31"/>
          </a:solidFill>
          <a:ln w="10160">
            <a:solidFill>
              <a:srgbClr val="2B3B58"/>
            </a:solidFill>
            <a:prstDash val="solid"/>
          </a:ln>
        </p:spPr>
      </p:sp>
      <p:sp>
        <p:nvSpPr>
          <p:cNvPr id="21" name="Shape 19"/>
          <p:cNvSpPr/>
          <p:nvPr/>
        </p:nvSpPr>
        <p:spPr>
          <a:xfrm>
            <a:off x="832104" y="3465576"/>
            <a:ext cx="384048" cy="384048"/>
          </a:xfrm>
          <a:prstGeom prst="ellipse">
            <a:avLst/>
          </a:prstGeom>
          <a:solidFill>
            <a:srgbClr val="B09AFF"/>
          </a:solidFill>
          <a:ln w="12700">
            <a:solidFill>
              <a:srgbClr val="B09AFF"/>
            </a:solidFill>
            <a:prstDash val="solid"/>
          </a:ln>
        </p:spPr>
      </p:sp>
      <p:sp>
        <p:nvSpPr>
          <p:cNvPr id="22" name="Text 20"/>
          <p:cNvSpPr txBox="1"/>
          <p:nvPr/>
        </p:nvSpPr>
        <p:spPr>
          <a:xfrm>
            <a:off x="832104" y="3551936"/>
            <a:ext cx="384048" cy="201168"/>
          </a:xfrm>
          <a:prstGeom prst="rect">
            <a:avLst/>
          </a:prstGeom>
          <a:noFill/>
        </p:spPr>
        <p:txBody>
          <a:bodyPr wrap="square" lIns="0" tIns="0" rIns="0" bIns="0" rtlCol="0" anchor="ctr">
            <a:normAutofit/>
          </a:bodyPr>
          <a:lstStyle/>
          <a:p>
            <a:pPr marL="0" indent="0" algn="ctr">
              <a:buNone/>
            </a:pPr>
            <a:r>
              <a:rPr lang="en-US" sz="1000" b="1" dirty="0">
                <a:solidFill>
                  <a:srgbClr val="0B1020"/>
                </a:solidFill>
                <a:latin typeface="Aptos" pitchFamily="34" charset="0"/>
                <a:ea typeface="Aptos" pitchFamily="34" charset="-122"/>
                <a:cs typeface="Aptos" pitchFamily="34" charset="-120"/>
              </a:rPr>
              <a:t>03</a:t>
            </a:r>
            <a:endParaRPr lang="en-US" sz="1000" dirty="0"/>
          </a:p>
        </p:txBody>
      </p:sp>
      <p:sp>
        <p:nvSpPr>
          <p:cNvPr id="23" name="Text 21"/>
          <p:cNvSpPr txBox="1"/>
          <p:nvPr/>
        </p:nvSpPr>
        <p:spPr>
          <a:xfrm>
            <a:off x="1389888" y="3419856"/>
            <a:ext cx="2286000" cy="201168"/>
          </a:xfrm>
          <a:prstGeom prst="rect">
            <a:avLst/>
          </a:prstGeom>
          <a:noFill/>
        </p:spPr>
        <p:txBody>
          <a:bodyPr wrap="square" lIns="0" tIns="0" rIns="0" bIns="0" rtlCol="0" anchor="ctr">
            <a:normAutofit/>
          </a:bodyPr>
          <a:lstStyle/>
          <a:p>
            <a:pPr marL="0" indent="0" algn="l">
              <a:buNone/>
            </a:pPr>
            <a:r>
              <a:rPr lang="en-US" sz="1200" b="1" dirty="0">
                <a:solidFill>
                  <a:srgbClr val="F4F7FF"/>
                </a:solidFill>
                <a:latin typeface="Aptos" pitchFamily="34" charset="0"/>
                <a:ea typeface="Aptos" pitchFamily="34" charset="-122"/>
                <a:cs typeface="Aptos" pitchFamily="34" charset="-120"/>
              </a:rPr>
              <a:t>Parameter importance</a:t>
            </a:r>
            <a:endParaRPr lang="en-US" sz="1200" dirty="0"/>
          </a:p>
        </p:txBody>
      </p:sp>
      <p:sp>
        <p:nvSpPr>
          <p:cNvPr id="24" name="Text 22"/>
          <p:cNvSpPr txBox="1"/>
          <p:nvPr/>
        </p:nvSpPr>
        <p:spPr>
          <a:xfrm>
            <a:off x="3657600" y="3401568"/>
            <a:ext cx="5669280" cy="457200"/>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Saved per gene sensitivity CSV and plot across 7 genes × 3 optimizers; surrogate limitation disclosed.</a:t>
            </a:r>
            <a:endParaRPr lang="en-US" sz="1000" dirty="0"/>
          </a:p>
        </p:txBody>
      </p:sp>
      <p:sp>
        <p:nvSpPr>
          <p:cNvPr id="25" name="Shape 23"/>
          <p:cNvSpPr/>
          <p:nvPr/>
        </p:nvSpPr>
        <p:spPr>
          <a:xfrm>
            <a:off x="9555480" y="3520440"/>
            <a:ext cx="1664208" cy="256032"/>
          </a:xfrm>
          <a:prstGeom prst="roundRect">
            <a:avLst>
              <a:gd name="adj" fmla="val 28571"/>
            </a:avLst>
          </a:prstGeom>
          <a:solidFill>
            <a:srgbClr val="1B2A40"/>
          </a:solidFill>
          <a:ln w="10160">
            <a:solidFill>
              <a:srgbClr val="1B2A40"/>
            </a:solidFill>
            <a:prstDash val="solid"/>
          </a:ln>
        </p:spPr>
      </p:sp>
      <p:sp>
        <p:nvSpPr>
          <p:cNvPr id="26" name="Text 24"/>
          <p:cNvSpPr txBox="1"/>
          <p:nvPr/>
        </p:nvSpPr>
        <p:spPr>
          <a:xfrm>
            <a:off x="9619488" y="3529584"/>
            <a:ext cx="1536192" cy="228600"/>
          </a:xfrm>
          <a:prstGeom prst="rect">
            <a:avLst/>
          </a:prstGeom>
          <a:noFill/>
        </p:spPr>
        <p:txBody>
          <a:bodyPr wrap="square" lIns="0" tIns="0" rIns="0" bIns="0" rtlCol="0" anchor="ctr">
            <a:normAutofit/>
          </a:bodyPr>
          <a:lstStyle/>
          <a:p>
            <a:pPr marL="0" indent="0" algn="ctr">
              <a:buNone/>
            </a:pPr>
            <a:r>
              <a:rPr lang="en-US" sz="800" b="1" kern="0" spc="30" dirty="0">
                <a:solidFill>
                  <a:srgbClr val="B09AFF"/>
                </a:solidFill>
                <a:latin typeface="Aptos" pitchFamily="34" charset="0"/>
                <a:ea typeface="Aptos" pitchFamily="34" charset="-122"/>
                <a:cs typeface="Aptos" pitchFamily="34" charset="-120"/>
              </a:rPr>
              <a:t>Sensitivity artifacts</a:t>
            </a:r>
            <a:endParaRPr lang="en-US" sz="800" dirty="0"/>
          </a:p>
        </p:txBody>
      </p:sp>
      <p:sp>
        <p:nvSpPr>
          <p:cNvPr id="27" name="Shape 25"/>
          <p:cNvSpPr/>
          <p:nvPr/>
        </p:nvSpPr>
        <p:spPr>
          <a:xfrm>
            <a:off x="658368" y="4151376"/>
            <a:ext cx="10881360" cy="704088"/>
          </a:xfrm>
          <a:prstGeom prst="roundRect">
            <a:avLst>
              <a:gd name="adj" fmla="val 10390"/>
            </a:avLst>
          </a:prstGeom>
          <a:solidFill>
            <a:srgbClr val="131D31"/>
          </a:solidFill>
          <a:ln w="10160">
            <a:solidFill>
              <a:srgbClr val="2B3B58"/>
            </a:solidFill>
            <a:prstDash val="solid"/>
          </a:ln>
        </p:spPr>
      </p:sp>
      <p:sp>
        <p:nvSpPr>
          <p:cNvPr id="28" name="Shape 26"/>
          <p:cNvSpPr/>
          <p:nvPr/>
        </p:nvSpPr>
        <p:spPr>
          <a:xfrm>
            <a:off x="832104" y="4306824"/>
            <a:ext cx="384048" cy="384048"/>
          </a:xfrm>
          <a:prstGeom prst="ellipse">
            <a:avLst/>
          </a:prstGeom>
          <a:solidFill>
            <a:srgbClr val="6B9BFF"/>
          </a:solidFill>
          <a:ln w="12700">
            <a:solidFill>
              <a:srgbClr val="6B9BFF"/>
            </a:solidFill>
            <a:prstDash val="solid"/>
          </a:ln>
        </p:spPr>
      </p:sp>
      <p:sp>
        <p:nvSpPr>
          <p:cNvPr id="29" name="Text 27"/>
          <p:cNvSpPr txBox="1"/>
          <p:nvPr/>
        </p:nvSpPr>
        <p:spPr>
          <a:xfrm>
            <a:off x="832104" y="4393184"/>
            <a:ext cx="384048" cy="201168"/>
          </a:xfrm>
          <a:prstGeom prst="rect">
            <a:avLst/>
          </a:prstGeom>
          <a:noFill/>
        </p:spPr>
        <p:txBody>
          <a:bodyPr wrap="square" lIns="0" tIns="0" rIns="0" bIns="0" rtlCol="0" anchor="ctr">
            <a:normAutofit/>
          </a:bodyPr>
          <a:lstStyle/>
          <a:p>
            <a:pPr marL="0" indent="0" algn="ctr">
              <a:buNone/>
            </a:pPr>
            <a:r>
              <a:rPr lang="en-US" sz="1000" b="1" dirty="0">
                <a:solidFill>
                  <a:srgbClr val="0B1020"/>
                </a:solidFill>
                <a:latin typeface="Aptos" pitchFamily="34" charset="0"/>
                <a:ea typeface="Aptos" pitchFamily="34" charset="-122"/>
                <a:cs typeface="Aptos" pitchFamily="34" charset="-120"/>
              </a:rPr>
              <a:t>04</a:t>
            </a:r>
            <a:endParaRPr lang="en-US" sz="1000" dirty="0"/>
          </a:p>
        </p:txBody>
      </p:sp>
      <p:sp>
        <p:nvSpPr>
          <p:cNvPr id="30" name="Text 28"/>
          <p:cNvSpPr txBox="1"/>
          <p:nvPr/>
        </p:nvSpPr>
        <p:spPr>
          <a:xfrm>
            <a:off x="1389888" y="4261104"/>
            <a:ext cx="2286000" cy="201168"/>
          </a:xfrm>
          <a:prstGeom prst="rect">
            <a:avLst/>
          </a:prstGeom>
          <a:noFill/>
        </p:spPr>
        <p:txBody>
          <a:bodyPr wrap="square" lIns="0" tIns="0" rIns="0" bIns="0" rtlCol="0" anchor="ctr">
            <a:normAutofit/>
          </a:bodyPr>
          <a:lstStyle/>
          <a:p>
            <a:pPr marL="0" indent="0" algn="l">
              <a:buNone/>
            </a:pPr>
            <a:r>
              <a:rPr lang="en-US" sz="1200" b="1" dirty="0">
                <a:solidFill>
                  <a:srgbClr val="F4F7FF"/>
                </a:solidFill>
                <a:latin typeface="Aptos" pitchFamily="34" charset="0"/>
                <a:ea typeface="Aptos" pitchFamily="34" charset="-122"/>
                <a:cs typeface="Aptos" pitchFamily="34" charset="-120"/>
              </a:rPr>
              <a:t>Equal-budget comparison</a:t>
            </a:r>
            <a:endParaRPr lang="en-US" sz="1200" dirty="0"/>
          </a:p>
        </p:txBody>
      </p:sp>
      <p:sp>
        <p:nvSpPr>
          <p:cNvPr id="31" name="Text 29"/>
          <p:cNvSpPr txBox="1"/>
          <p:nvPr/>
        </p:nvSpPr>
        <p:spPr>
          <a:xfrm>
            <a:off x="3657600" y="4242816"/>
            <a:ext cx="5669280" cy="457200"/>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GA vs Random Search vs Bayesian/TPE: 300 evaluations each; 900 total logged evaluations.</a:t>
            </a:r>
            <a:endParaRPr lang="en-US" sz="1000" dirty="0"/>
          </a:p>
        </p:txBody>
      </p:sp>
      <p:sp>
        <p:nvSpPr>
          <p:cNvPr id="32" name="Shape 30"/>
          <p:cNvSpPr/>
          <p:nvPr/>
        </p:nvSpPr>
        <p:spPr>
          <a:xfrm>
            <a:off x="9555480" y="4361688"/>
            <a:ext cx="1664208" cy="256032"/>
          </a:xfrm>
          <a:prstGeom prst="roundRect">
            <a:avLst>
              <a:gd name="adj" fmla="val 28571"/>
            </a:avLst>
          </a:prstGeom>
          <a:solidFill>
            <a:srgbClr val="1B2A40"/>
          </a:solidFill>
          <a:ln w="10160">
            <a:solidFill>
              <a:srgbClr val="1B2A40"/>
            </a:solidFill>
            <a:prstDash val="solid"/>
          </a:ln>
        </p:spPr>
      </p:sp>
      <p:sp>
        <p:nvSpPr>
          <p:cNvPr id="33" name="Text 31"/>
          <p:cNvSpPr txBox="1"/>
          <p:nvPr/>
        </p:nvSpPr>
        <p:spPr>
          <a:xfrm>
            <a:off x="9619488" y="4370832"/>
            <a:ext cx="1536192" cy="228600"/>
          </a:xfrm>
          <a:prstGeom prst="rect">
            <a:avLst/>
          </a:prstGeom>
          <a:noFill/>
        </p:spPr>
        <p:txBody>
          <a:bodyPr wrap="square" lIns="0" tIns="0" rIns="0" bIns="0" rtlCol="0" anchor="ctr">
            <a:normAutofit/>
          </a:bodyPr>
          <a:lstStyle/>
          <a:p>
            <a:pPr marL="0" indent="0" algn="ctr">
              <a:buNone/>
            </a:pPr>
            <a:r>
              <a:rPr lang="en-US" sz="800" b="1" kern="0" spc="30" dirty="0">
                <a:solidFill>
                  <a:srgbClr val="6B9BFF"/>
                </a:solidFill>
                <a:latin typeface="Aptos" pitchFamily="34" charset="0"/>
                <a:ea typeface="Aptos" pitchFamily="34" charset="-122"/>
                <a:cs typeface="Aptos" pitchFamily="34" charset="-120"/>
              </a:rPr>
              <a:t>900 total trials</a:t>
            </a:r>
            <a:endParaRPr lang="en-US" sz="800" dirty="0"/>
          </a:p>
        </p:txBody>
      </p:sp>
      <p:sp>
        <p:nvSpPr>
          <p:cNvPr id="34" name="Shape 32"/>
          <p:cNvSpPr/>
          <p:nvPr/>
        </p:nvSpPr>
        <p:spPr>
          <a:xfrm>
            <a:off x="658368" y="4992624"/>
            <a:ext cx="10881360" cy="704088"/>
          </a:xfrm>
          <a:prstGeom prst="roundRect">
            <a:avLst>
              <a:gd name="adj" fmla="val 10390"/>
            </a:avLst>
          </a:prstGeom>
          <a:solidFill>
            <a:srgbClr val="131D31"/>
          </a:solidFill>
          <a:ln w="10160">
            <a:solidFill>
              <a:srgbClr val="2B3B58"/>
            </a:solidFill>
            <a:prstDash val="solid"/>
          </a:ln>
        </p:spPr>
      </p:sp>
      <p:sp>
        <p:nvSpPr>
          <p:cNvPr id="35" name="Shape 33"/>
          <p:cNvSpPr/>
          <p:nvPr/>
        </p:nvSpPr>
        <p:spPr>
          <a:xfrm>
            <a:off x="832104" y="5148072"/>
            <a:ext cx="384048" cy="384048"/>
          </a:xfrm>
          <a:prstGeom prst="ellipse">
            <a:avLst/>
          </a:prstGeom>
          <a:solidFill>
            <a:srgbClr val="67D391"/>
          </a:solidFill>
          <a:ln w="12700">
            <a:solidFill>
              <a:srgbClr val="67D391"/>
            </a:solidFill>
            <a:prstDash val="solid"/>
          </a:ln>
        </p:spPr>
      </p:sp>
      <p:sp>
        <p:nvSpPr>
          <p:cNvPr id="36" name="Text 34"/>
          <p:cNvSpPr txBox="1"/>
          <p:nvPr/>
        </p:nvSpPr>
        <p:spPr>
          <a:xfrm>
            <a:off x="832104" y="5234432"/>
            <a:ext cx="384048" cy="201168"/>
          </a:xfrm>
          <a:prstGeom prst="rect">
            <a:avLst/>
          </a:prstGeom>
          <a:noFill/>
        </p:spPr>
        <p:txBody>
          <a:bodyPr wrap="square" lIns="0" tIns="0" rIns="0" bIns="0" rtlCol="0" anchor="ctr">
            <a:normAutofit/>
          </a:bodyPr>
          <a:lstStyle/>
          <a:p>
            <a:pPr marL="0" indent="0" algn="ctr">
              <a:buNone/>
            </a:pPr>
            <a:r>
              <a:rPr lang="en-US" sz="1000" b="1" dirty="0">
                <a:solidFill>
                  <a:srgbClr val="0B1020"/>
                </a:solidFill>
                <a:latin typeface="Aptos" pitchFamily="34" charset="0"/>
                <a:ea typeface="Aptos" pitchFamily="34" charset="-122"/>
                <a:cs typeface="Aptos" pitchFamily="34" charset="-120"/>
              </a:rPr>
              <a:t>05</a:t>
            </a:r>
            <a:endParaRPr lang="en-US" sz="1000" dirty="0"/>
          </a:p>
        </p:txBody>
      </p:sp>
      <p:sp>
        <p:nvSpPr>
          <p:cNvPr id="37" name="Text 35"/>
          <p:cNvSpPr txBox="1"/>
          <p:nvPr/>
        </p:nvSpPr>
        <p:spPr>
          <a:xfrm>
            <a:off x="1389888" y="5102352"/>
            <a:ext cx="2286000" cy="201168"/>
          </a:xfrm>
          <a:prstGeom prst="rect">
            <a:avLst/>
          </a:prstGeom>
          <a:noFill/>
        </p:spPr>
        <p:txBody>
          <a:bodyPr wrap="square" lIns="0" tIns="0" rIns="0" bIns="0" rtlCol="0" anchor="ctr">
            <a:normAutofit/>
          </a:bodyPr>
          <a:lstStyle/>
          <a:p>
            <a:pPr marL="0" indent="0" algn="l">
              <a:buNone/>
            </a:pPr>
            <a:r>
              <a:rPr lang="en-US" sz="1200" b="1" dirty="0">
                <a:solidFill>
                  <a:srgbClr val="F4F7FF"/>
                </a:solidFill>
                <a:latin typeface="Aptos" pitchFamily="34" charset="0"/>
                <a:ea typeface="Aptos" pitchFamily="34" charset="-122"/>
                <a:cs typeface="Aptos" pitchFamily="34" charset="-120"/>
              </a:rPr>
              <a:t>All benchmarks + metrics</a:t>
            </a:r>
            <a:endParaRPr lang="en-US" sz="1200" dirty="0"/>
          </a:p>
        </p:txBody>
      </p:sp>
      <p:sp>
        <p:nvSpPr>
          <p:cNvPr id="38" name="Text 36"/>
          <p:cNvSpPr txBox="1"/>
          <p:nvPr/>
        </p:nvSpPr>
        <p:spPr>
          <a:xfrm>
            <a:off x="3657600" y="5084064"/>
            <a:ext cx="5669280" cy="457200"/>
          </a:xfrm>
          <a:prstGeom prst="rect">
            <a:avLst/>
          </a:prstGeom>
          <a:noFill/>
        </p:spPr>
        <p:txBody>
          <a:bodyPr wrap="square" lIns="0" tIns="0" rIns="0" bIns="0" rtlCol="0" anchor="ctr">
            <a:normAutofit/>
          </a:bodyPr>
          <a:lstStyle/>
          <a:p>
            <a:pPr marL="0" indent="0" algn="l">
              <a:buNone/>
            </a:pPr>
            <a:r>
              <a:rPr lang="en-US" sz="1000" dirty="0">
                <a:solidFill>
                  <a:srgbClr val="A7B4CE"/>
                </a:solidFill>
                <a:latin typeface="Aptos" pitchFamily="34" charset="0"/>
                <a:ea typeface="Aptos" pitchFamily="34" charset="-122"/>
                <a:cs typeface="Aptos" pitchFamily="34" charset="-120"/>
              </a:rPr>
              <a:t>Five benchmark test results with specificity and complete TP/FP/FN/TN counts; clean CSV tables saved.</a:t>
            </a:r>
            <a:endParaRPr lang="en-US" sz="1000" dirty="0"/>
          </a:p>
        </p:txBody>
      </p:sp>
      <p:sp>
        <p:nvSpPr>
          <p:cNvPr id="39" name="Shape 37"/>
          <p:cNvSpPr/>
          <p:nvPr/>
        </p:nvSpPr>
        <p:spPr>
          <a:xfrm>
            <a:off x="9555480" y="5202936"/>
            <a:ext cx="1664208" cy="256032"/>
          </a:xfrm>
          <a:prstGeom prst="roundRect">
            <a:avLst>
              <a:gd name="adj" fmla="val 28571"/>
            </a:avLst>
          </a:prstGeom>
          <a:solidFill>
            <a:srgbClr val="1B2A40"/>
          </a:solidFill>
          <a:ln w="10160">
            <a:solidFill>
              <a:srgbClr val="1B2A40"/>
            </a:solidFill>
            <a:prstDash val="solid"/>
          </a:ln>
        </p:spPr>
      </p:sp>
      <p:sp>
        <p:nvSpPr>
          <p:cNvPr id="40" name="Text 38"/>
          <p:cNvSpPr txBox="1"/>
          <p:nvPr/>
        </p:nvSpPr>
        <p:spPr>
          <a:xfrm>
            <a:off x="9619488" y="5212080"/>
            <a:ext cx="1536192" cy="228600"/>
          </a:xfrm>
          <a:prstGeom prst="rect">
            <a:avLst/>
          </a:prstGeom>
          <a:noFill/>
        </p:spPr>
        <p:txBody>
          <a:bodyPr wrap="square" lIns="0" tIns="0" rIns="0" bIns="0" rtlCol="0" anchor="ctr">
            <a:normAutofit/>
          </a:bodyPr>
          <a:lstStyle/>
          <a:p>
            <a:pPr marL="0" indent="0" algn="ctr">
              <a:buNone/>
            </a:pPr>
            <a:r>
              <a:rPr lang="en-US" sz="800" b="1" kern="0" spc="30" dirty="0">
                <a:solidFill>
                  <a:srgbClr val="67D391"/>
                </a:solidFill>
                <a:latin typeface="Aptos" pitchFamily="34" charset="0"/>
                <a:ea typeface="Aptos" pitchFamily="34" charset="-122"/>
                <a:cs typeface="Aptos" pitchFamily="34" charset="-120"/>
              </a:rPr>
              <a:t>5 benchmark tables</a:t>
            </a:r>
            <a:endParaRPr lang="en-US" sz="800" dirty="0"/>
          </a:p>
        </p:txBody>
      </p:sp>
      <p:sp>
        <p:nvSpPr>
          <p:cNvPr id="41" name="Shape 39"/>
          <p:cNvSpPr/>
          <p:nvPr/>
        </p:nvSpPr>
        <p:spPr>
          <a:xfrm>
            <a:off x="658368" y="5888736"/>
            <a:ext cx="10881360" cy="356616"/>
          </a:xfrm>
          <a:prstGeom prst="roundRect">
            <a:avLst>
              <a:gd name="adj" fmla="val 20513"/>
            </a:avLst>
          </a:prstGeom>
          <a:solidFill>
            <a:srgbClr val="392C20"/>
          </a:solidFill>
          <a:ln w="10160">
            <a:solidFill>
              <a:srgbClr val="705331"/>
            </a:solidFill>
            <a:prstDash val="solid"/>
          </a:ln>
        </p:spPr>
      </p:sp>
      <p:sp>
        <p:nvSpPr>
          <p:cNvPr id="42" name="Text 40"/>
          <p:cNvSpPr txBox="1"/>
          <p:nvPr/>
        </p:nvSpPr>
        <p:spPr>
          <a:xfrm>
            <a:off x="822960" y="5961888"/>
            <a:ext cx="10515600" cy="182880"/>
          </a:xfrm>
          <a:prstGeom prst="rect">
            <a:avLst/>
          </a:prstGeom>
          <a:noFill/>
        </p:spPr>
        <p:txBody>
          <a:bodyPr wrap="square" lIns="0" tIns="0" rIns="0" bIns="0" rtlCol="0" anchor="ctr">
            <a:normAutofit/>
          </a:bodyPr>
          <a:lstStyle/>
          <a:p>
            <a:pPr marL="0" indent="0" algn="l">
              <a:buNone/>
            </a:pPr>
            <a:r>
              <a:rPr lang="en-US" sz="900" b="1" dirty="0">
                <a:solidFill>
                  <a:srgbClr val="FFB65E"/>
                </a:solidFill>
                <a:latin typeface="Aptos" pitchFamily="34" charset="0"/>
                <a:ea typeface="Aptos" pitchFamily="34" charset="-122"/>
                <a:cs typeface="Aptos" pitchFamily="34" charset="-120"/>
              </a:rPr>
              <a:t>Transparency note: older legacy cells remain in the notebook; keep them out of the revised run path and do not claim they were never executed historically.</a:t>
            </a:r>
            <a:endParaRPr lang="en-US" sz="900" dirty="0"/>
          </a:p>
        </p:txBody>
      </p:sp>
      <p:sp>
        <p:nvSpPr>
          <p:cNvPr id="43" name="Slide Number Placeholder 0"/>
          <p:cNvSpPr>
            <a:spLocks noGrp="1"/>
          </p:cNvSpPr>
          <p:nvPr>
            <p:ph type="sldNum" sz="quarter" idx="4294967295"/>
          </p:nvPr>
        </p:nvSpPr>
        <p:spPr>
          <a:xfrm>
            <a:off x="11292840" y="6510528"/>
            <a:ext cx="800000" cy="300000"/>
          </a:xfrm>
          <a:prstGeom prst="rect">
            <a:avLst/>
          </a:prstGeom>
        </p:spPr>
        <p:txBody>
          <a:bodyPr/>
          <a:lstStyle>
            <a:lvl1pPr>
              <a:defRPr sz="800">
                <a:solidFill>
                  <a:srgbClr val="8090B0"/>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0"/>
          <p:cNvSpPr txBox="1"/>
          <p:nvPr/>
        </p:nvSpPr>
        <p:spPr>
          <a:xfrm>
            <a:off x="621792" y="292608"/>
            <a:ext cx="4572000" cy="219456"/>
          </a:xfrm>
          <a:prstGeom prst="rect">
            <a:avLst/>
          </a:prstGeom>
          <a:noFill/>
        </p:spPr>
        <p:txBody>
          <a:bodyPr wrap="square" lIns="0" tIns="0" rIns="0" bIns="0" rtlCol="0" anchor="ctr">
            <a:normAutofit/>
          </a:bodyPr>
          <a:lstStyle/>
          <a:p>
            <a:pPr marL="0" indent="0" algn="l">
              <a:buNone/>
            </a:pPr>
            <a:r>
              <a:rPr lang="en-US" sz="900" b="1" kern="0" spc="180" dirty="0">
                <a:solidFill>
                  <a:srgbClr val="36D6C5"/>
                </a:solidFill>
                <a:latin typeface="Aptos" pitchFamily="34" charset="0"/>
                <a:ea typeface="Aptos" pitchFamily="34" charset="-122"/>
                <a:cs typeface="Aptos" pitchFamily="34" charset="-120"/>
              </a:rPr>
              <a:t>07  •  VALIDATION RESULTS</a:t>
            </a:r>
            <a:endParaRPr lang="en-US" sz="900" dirty="0"/>
          </a:p>
        </p:txBody>
      </p:sp>
      <p:sp>
        <p:nvSpPr>
          <p:cNvPr id="3" name="Text 1"/>
          <p:cNvSpPr txBox="1"/>
          <p:nvPr/>
        </p:nvSpPr>
        <p:spPr>
          <a:xfrm>
            <a:off x="621792" y="612648"/>
            <a:ext cx="10972800" cy="475488"/>
          </a:xfrm>
          <a:prstGeom prst="rect">
            <a:avLst/>
          </a:prstGeom>
          <a:noFill/>
        </p:spPr>
        <p:txBody>
          <a:bodyPr wrap="square" lIns="0" tIns="0" rIns="0" bIns="0" rtlCol="0" anchor="ctr">
            <a:normAutofit/>
          </a:bodyPr>
          <a:lstStyle/>
          <a:p>
            <a:pPr marL="0" indent="0" algn="l">
              <a:buNone/>
            </a:pPr>
            <a:r>
              <a:rPr lang="en-US" sz="2700" b="1" dirty="0">
                <a:solidFill>
                  <a:srgbClr val="F4F7FF"/>
                </a:solidFill>
                <a:latin typeface="Aptos" pitchFamily="34" charset="0"/>
                <a:ea typeface="Aptos" pitchFamily="34" charset="-122"/>
                <a:cs typeface="Aptos" pitchFamily="34" charset="-120"/>
              </a:rPr>
              <a:t>At threshold 0.20, tuned CNN improves macro balanced accuracy</a:t>
            </a:r>
            <a:endParaRPr lang="en-US" sz="2700" dirty="0"/>
          </a:p>
        </p:txBody>
      </p:sp>
      <p:sp>
        <p:nvSpPr>
          <p:cNvPr id="4" name="Text 2"/>
          <p:cNvSpPr txBox="1"/>
          <p:nvPr/>
        </p:nvSpPr>
        <p:spPr>
          <a:xfrm>
            <a:off x="640080" y="1106424"/>
            <a:ext cx="10789920" cy="292608"/>
          </a:xfrm>
          <a:prstGeom prst="rect">
            <a:avLst/>
          </a:prstGeom>
          <a:noFill/>
        </p:spPr>
        <p:txBody>
          <a:bodyPr wrap="square" lIns="0" tIns="0" rIns="0" bIns="0" rtlCol="0" anchor="ctr">
            <a:normAutofit/>
          </a:bodyPr>
          <a:lstStyle/>
          <a:p>
            <a:pPr marL="0" indent="0" algn="l">
              <a:buNone/>
            </a:pPr>
            <a:r>
              <a:rPr lang="en-US" sz="1200" dirty="0">
                <a:solidFill>
                  <a:srgbClr val="A7B4CE"/>
                </a:solidFill>
                <a:latin typeface="Aptos" pitchFamily="34" charset="0"/>
                <a:ea typeface="Aptos" pitchFamily="34" charset="-122"/>
                <a:cs typeface="Aptos" pitchFamily="34" charset="-120"/>
              </a:rPr>
              <a:t>Same fixed threshold is used for both models; values are macro averages over the five validation benchmarks.</a:t>
            </a:r>
            <a:endParaRPr lang="en-US" sz="1200" dirty="0"/>
          </a:p>
        </p:txBody>
      </p:sp>
      <p:sp>
        <p:nvSpPr>
          <p:cNvPr id="6" name="Shape 4"/>
          <p:cNvSpPr/>
          <p:nvPr/>
        </p:nvSpPr>
        <p:spPr>
          <a:xfrm>
            <a:off x="658368" y="1664208"/>
            <a:ext cx="7360920" cy="4434840"/>
          </a:xfrm>
          <a:prstGeom prst="roundRect">
            <a:avLst>
              <a:gd name="adj" fmla="val 1649"/>
            </a:avLst>
          </a:prstGeom>
          <a:solidFill>
            <a:srgbClr val="131D31"/>
          </a:solidFill>
          <a:ln w="10160">
            <a:solidFill>
              <a:srgbClr val="2B3B58"/>
            </a:solidFill>
            <a:prstDash val="solid"/>
          </a:ln>
        </p:spPr>
      </p:sp>
      <p:sp>
        <p:nvSpPr>
          <p:cNvPr id="7" name="Text 5"/>
          <p:cNvSpPr txBox="1"/>
          <p:nvPr/>
        </p:nvSpPr>
        <p:spPr>
          <a:xfrm>
            <a:off x="914400" y="1901952"/>
            <a:ext cx="3291840" cy="201168"/>
          </a:xfrm>
          <a:prstGeom prst="rect">
            <a:avLst/>
          </a:prstGeom>
          <a:noFill/>
        </p:spPr>
        <p:txBody>
          <a:bodyPr wrap="square" lIns="0" tIns="0" rIns="0" bIns="0" rtlCol="0" anchor="ctr">
            <a:normAutofit/>
          </a:bodyPr>
          <a:lstStyle/>
          <a:p>
            <a:pPr marL="0" indent="0" algn="l">
              <a:buNone/>
            </a:pPr>
            <a:r>
              <a:rPr lang="en-US" sz="1000" b="1" kern="0" spc="100" dirty="0">
                <a:solidFill>
                  <a:srgbClr val="A7B4CE"/>
                </a:solidFill>
                <a:latin typeface="Aptos" pitchFamily="34" charset="0"/>
                <a:ea typeface="Aptos" pitchFamily="34" charset="-122"/>
                <a:cs typeface="Aptos" pitchFamily="34" charset="-120"/>
              </a:rPr>
              <a:t>BASELINE vs TUNED CNN</a:t>
            </a:r>
            <a:endParaRPr lang="en-US" sz="1000" dirty="0"/>
          </a:p>
        </p:txBody>
      </p:sp>
      <p:sp>
        <p:nvSpPr>
          <p:cNvPr id="8" name="Text 6"/>
          <p:cNvSpPr txBox="1"/>
          <p:nvPr/>
        </p:nvSpPr>
        <p:spPr>
          <a:xfrm>
            <a:off x="914400" y="2286000"/>
            <a:ext cx="1691640" cy="201168"/>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Balanced accuracy</a:t>
            </a:r>
            <a:endParaRPr lang="en-US" sz="1100" dirty="0"/>
          </a:p>
        </p:txBody>
      </p:sp>
      <p:sp>
        <p:nvSpPr>
          <p:cNvPr id="9" name="Shape 7"/>
          <p:cNvSpPr/>
          <p:nvPr/>
        </p:nvSpPr>
        <p:spPr>
          <a:xfrm>
            <a:off x="2743200" y="2267712"/>
            <a:ext cx="4480560" cy="164592"/>
          </a:xfrm>
          <a:prstGeom prst="roundRect">
            <a:avLst>
              <a:gd name="adj" fmla="val 44444"/>
            </a:avLst>
          </a:prstGeom>
          <a:solidFill>
            <a:srgbClr val="24334C"/>
          </a:solidFill>
          <a:ln w="10160">
            <a:solidFill>
              <a:srgbClr val="24334C"/>
            </a:solidFill>
            <a:prstDash val="solid"/>
          </a:ln>
        </p:spPr>
      </p:sp>
      <p:sp>
        <p:nvSpPr>
          <p:cNvPr id="10" name="Shape 8"/>
          <p:cNvSpPr/>
          <p:nvPr/>
        </p:nvSpPr>
        <p:spPr>
          <a:xfrm>
            <a:off x="2743200" y="2267712"/>
            <a:ext cx="4245779" cy="164592"/>
          </a:xfrm>
          <a:prstGeom prst="roundRect">
            <a:avLst>
              <a:gd name="adj" fmla="val 44444"/>
            </a:avLst>
          </a:prstGeom>
          <a:solidFill>
            <a:srgbClr val="6B9BFF"/>
          </a:solidFill>
          <a:ln w="10160">
            <a:solidFill>
              <a:srgbClr val="6B9BFF"/>
            </a:solidFill>
            <a:prstDash val="solid"/>
          </a:ln>
        </p:spPr>
      </p:sp>
      <p:sp>
        <p:nvSpPr>
          <p:cNvPr id="11" name="Shape 9"/>
          <p:cNvSpPr/>
          <p:nvPr/>
        </p:nvSpPr>
        <p:spPr>
          <a:xfrm>
            <a:off x="2743200" y="2496312"/>
            <a:ext cx="4480560" cy="164592"/>
          </a:xfrm>
          <a:prstGeom prst="roundRect">
            <a:avLst>
              <a:gd name="adj" fmla="val 44444"/>
            </a:avLst>
          </a:prstGeom>
          <a:solidFill>
            <a:srgbClr val="24334C"/>
          </a:solidFill>
          <a:ln w="10160">
            <a:solidFill>
              <a:srgbClr val="24334C"/>
            </a:solidFill>
            <a:prstDash val="solid"/>
          </a:ln>
        </p:spPr>
      </p:sp>
      <p:sp>
        <p:nvSpPr>
          <p:cNvPr id="12" name="Shape 10"/>
          <p:cNvSpPr/>
          <p:nvPr/>
        </p:nvSpPr>
        <p:spPr>
          <a:xfrm>
            <a:off x="2743200" y="2496312"/>
            <a:ext cx="4378403" cy="164592"/>
          </a:xfrm>
          <a:prstGeom prst="roundRect">
            <a:avLst>
              <a:gd name="adj" fmla="val 44444"/>
            </a:avLst>
          </a:prstGeom>
          <a:solidFill>
            <a:srgbClr val="36D6C5"/>
          </a:solidFill>
          <a:ln w="10160">
            <a:solidFill>
              <a:srgbClr val="36D6C5"/>
            </a:solidFill>
            <a:prstDash val="solid"/>
          </a:ln>
        </p:spPr>
      </p:sp>
      <p:sp>
        <p:nvSpPr>
          <p:cNvPr id="13" name="Text 11"/>
          <p:cNvSpPr txBox="1"/>
          <p:nvPr/>
        </p:nvSpPr>
        <p:spPr>
          <a:xfrm>
            <a:off x="7315200" y="2240280"/>
            <a:ext cx="530352" cy="173736"/>
          </a:xfrm>
          <a:prstGeom prst="rect">
            <a:avLst/>
          </a:prstGeom>
          <a:noFill/>
        </p:spPr>
        <p:txBody>
          <a:bodyPr wrap="square" lIns="0" tIns="0" rIns="0" bIns="0" rtlCol="0" anchor="ctr">
            <a:normAutofit/>
          </a:bodyPr>
          <a:lstStyle/>
          <a:p>
            <a:pPr marL="0" indent="0" algn="r">
              <a:buNone/>
            </a:pPr>
            <a:r>
              <a:rPr lang="en-US" sz="800" dirty="0">
                <a:solidFill>
                  <a:srgbClr val="A7B4CE"/>
                </a:solidFill>
                <a:latin typeface="Aptos" pitchFamily="34" charset="0"/>
                <a:ea typeface="Aptos" pitchFamily="34" charset="-122"/>
                <a:cs typeface="Aptos" pitchFamily="34" charset="-120"/>
              </a:rPr>
              <a:t>0.9476</a:t>
            </a:r>
            <a:endParaRPr lang="en-US" sz="800" dirty="0"/>
          </a:p>
        </p:txBody>
      </p:sp>
      <p:sp>
        <p:nvSpPr>
          <p:cNvPr id="14" name="Text 12"/>
          <p:cNvSpPr txBox="1"/>
          <p:nvPr/>
        </p:nvSpPr>
        <p:spPr>
          <a:xfrm>
            <a:off x="7315200" y="2478024"/>
            <a:ext cx="530352" cy="173736"/>
          </a:xfrm>
          <a:prstGeom prst="rect">
            <a:avLst/>
          </a:prstGeom>
          <a:noFill/>
        </p:spPr>
        <p:txBody>
          <a:bodyPr wrap="square" lIns="0" tIns="0" rIns="0" bIns="0" rtlCol="0" anchor="ctr">
            <a:normAutofit/>
          </a:bodyPr>
          <a:lstStyle/>
          <a:p>
            <a:pPr marL="0" indent="0" algn="r">
              <a:buNone/>
            </a:pPr>
            <a:r>
              <a:rPr lang="en-US" sz="800" b="1" dirty="0">
                <a:solidFill>
                  <a:srgbClr val="36D6C5"/>
                </a:solidFill>
                <a:latin typeface="Aptos" pitchFamily="34" charset="0"/>
                <a:ea typeface="Aptos" pitchFamily="34" charset="-122"/>
                <a:cs typeface="Aptos" pitchFamily="34" charset="-120"/>
              </a:rPr>
              <a:t>0.9772</a:t>
            </a:r>
            <a:endParaRPr lang="en-US" sz="800" dirty="0"/>
          </a:p>
        </p:txBody>
      </p:sp>
      <p:sp>
        <p:nvSpPr>
          <p:cNvPr id="15" name="Text 13"/>
          <p:cNvSpPr txBox="1"/>
          <p:nvPr/>
        </p:nvSpPr>
        <p:spPr>
          <a:xfrm>
            <a:off x="914400" y="2980944"/>
            <a:ext cx="1691640" cy="201168"/>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Precision</a:t>
            </a:r>
            <a:endParaRPr lang="en-US" sz="1100" dirty="0"/>
          </a:p>
        </p:txBody>
      </p:sp>
      <p:sp>
        <p:nvSpPr>
          <p:cNvPr id="16" name="Shape 14"/>
          <p:cNvSpPr/>
          <p:nvPr/>
        </p:nvSpPr>
        <p:spPr>
          <a:xfrm>
            <a:off x="2743200" y="2962656"/>
            <a:ext cx="4480560" cy="164592"/>
          </a:xfrm>
          <a:prstGeom prst="roundRect">
            <a:avLst>
              <a:gd name="adj" fmla="val 44444"/>
            </a:avLst>
          </a:prstGeom>
          <a:solidFill>
            <a:srgbClr val="24334C"/>
          </a:solidFill>
          <a:ln w="10160">
            <a:solidFill>
              <a:srgbClr val="24334C"/>
            </a:solidFill>
            <a:prstDash val="solid"/>
          </a:ln>
        </p:spPr>
      </p:sp>
      <p:sp>
        <p:nvSpPr>
          <p:cNvPr id="17" name="Shape 15"/>
          <p:cNvSpPr/>
          <p:nvPr/>
        </p:nvSpPr>
        <p:spPr>
          <a:xfrm>
            <a:off x="2743200" y="2962656"/>
            <a:ext cx="2784220" cy="164592"/>
          </a:xfrm>
          <a:prstGeom prst="roundRect">
            <a:avLst>
              <a:gd name="adj" fmla="val 44444"/>
            </a:avLst>
          </a:prstGeom>
          <a:solidFill>
            <a:srgbClr val="6B9BFF"/>
          </a:solidFill>
          <a:ln w="10160">
            <a:solidFill>
              <a:srgbClr val="6B9BFF"/>
            </a:solidFill>
            <a:prstDash val="solid"/>
          </a:ln>
        </p:spPr>
      </p:sp>
      <p:sp>
        <p:nvSpPr>
          <p:cNvPr id="18" name="Shape 16"/>
          <p:cNvSpPr/>
          <p:nvPr/>
        </p:nvSpPr>
        <p:spPr>
          <a:xfrm>
            <a:off x="2743200" y="3191256"/>
            <a:ext cx="4480560" cy="164592"/>
          </a:xfrm>
          <a:prstGeom prst="roundRect">
            <a:avLst>
              <a:gd name="adj" fmla="val 44444"/>
            </a:avLst>
          </a:prstGeom>
          <a:solidFill>
            <a:srgbClr val="24334C"/>
          </a:solidFill>
          <a:ln w="10160">
            <a:solidFill>
              <a:srgbClr val="24334C"/>
            </a:solidFill>
            <a:prstDash val="solid"/>
          </a:ln>
        </p:spPr>
      </p:sp>
      <p:sp>
        <p:nvSpPr>
          <p:cNvPr id="19" name="Shape 17"/>
          <p:cNvSpPr/>
          <p:nvPr/>
        </p:nvSpPr>
        <p:spPr>
          <a:xfrm>
            <a:off x="2743200" y="3191256"/>
            <a:ext cx="3614916" cy="164592"/>
          </a:xfrm>
          <a:prstGeom prst="roundRect">
            <a:avLst>
              <a:gd name="adj" fmla="val 44444"/>
            </a:avLst>
          </a:prstGeom>
          <a:solidFill>
            <a:srgbClr val="36D6C5"/>
          </a:solidFill>
          <a:ln w="10160">
            <a:solidFill>
              <a:srgbClr val="36D6C5"/>
            </a:solidFill>
            <a:prstDash val="solid"/>
          </a:ln>
        </p:spPr>
      </p:sp>
      <p:sp>
        <p:nvSpPr>
          <p:cNvPr id="20" name="Text 18"/>
          <p:cNvSpPr txBox="1"/>
          <p:nvPr/>
        </p:nvSpPr>
        <p:spPr>
          <a:xfrm>
            <a:off x="7315200" y="2935224"/>
            <a:ext cx="530352" cy="173736"/>
          </a:xfrm>
          <a:prstGeom prst="rect">
            <a:avLst/>
          </a:prstGeom>
          <a:noFill/>
        </p:spPr>
        <p:txBody>
          <a:bodyPr wrap="square" lIns="0" tIns="0" rIns="0" bIns="0" rtlCol="0" anchor="ctr">
            <a:normAutofit/>
          </a:bodyPr>
          <a:lstStyle/>
          <a:p>
            <a:pPr marL="0" indent="0" algn="r">
              <a:buNone/>
            </a:pPr>
            <a:r>
              <a:rPr lang="en-US" sz="800" dirty="0">
                <a:solidFill>
                  <a:srgbClr val="A7B4CE"/>
                </a:solidFill>
                <a:latin typeface="Aptos" pitchFamily="34" charset="0"/>
                <a:ea typeface="Aptos" pitchFamily="34" charset="-122"/>
                <a:cs typeface="Aptos" pitchFamily="34" charset="-120"/>
              </a:rPr>
              <a:t>0.6214</a:t>
            </a:r>
            <a:endParaRPr lang="en-US" sz="800" dirty="0"/>
          </a:p>
        </p:txBody>
      </p:sp>
      <p:sp>
        <p:nvSpPr>
          <p:cNvPr id="21" name="Text 19"/>
          <p:cNvSpPr txBox="1"/>
          <p:nvPr/>
        </p:nvSpPr>
        <p:spPr>
          <a:xfrm>
            <a:off x="7315200" y="3172968"/>
            <a:ext cx="530352" cy="173736"/>
          </a:xfrm>
          <a:prstGeom prst="rect">
            <a:avLst/>
          </a:prstGeom>
          <a:noFill/>
        </p:spPr>
        <p:txBody>
          <a:bodyPr wrap="square" lIns="0" tIns="0" rIns="0" bIns="0" rtlCol="0" anchor="ctr">
            <a:normAutofit/>
          </a:bodyPr>
          <a:lstStyle/>
          <a:p>
            <a:pPr marL="0" indent="0" algn="r">
              <a:buNone/>
            </a:pPr>
            <a:r>
              <a:rPr lang="en-US" sz="800" b="1" dirty="0">
                <a:solidFill>
                  <a:srgbClr val="36D6C5"/>
                </a:solidFill>
                <a:latin typeface="Aptos" pitchFamily="34" charset="0"/>
                <a:ea typeface="Aptos" pitchFamily="34" charset="-122"/>
                <a:cs typeface="Aptos" pitchFamily="34" charset="-120"/>
              </a:rPr>
              <a:t>0.8068</a:t>
            </a:r>
            <a:endParaRPr lang="en-US" sz="800" dirty="0"/>
          </a:p>
        </p:txBody>
      </p:sp>
      <p:sp>
        <p:nvSpPr>
          <p:cNvPr id="22" name="Text 20"/>
          <p:cNvSpPr txBox="1"/>
          <p:nvPr/>
        </p:nvSpPr>
        <p:spPr>
          <a:xfrm>
            <a:off x="914400" y="3675888"/>
            <a:ext cx="1691640" cy="201168"/>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Recall</a:t>
            </a:r>
            <a:endParaRPr lang="en-US" sz="1100" dirty="0"/>
          </a:p>
        </p:txBody>
      </p:sp>
      <p:sp>
        <p:nvSpPr>
          <p:cNvPr id="23" name="Shape 21"/>
          <p:cNvSpPr/>
          <p:nvPr/>
        </p:nvSpPr>
        <p:spPr>
          <a:xfrm>
            <a:off x="2743200" y="3657600"/>
            <a:ext cx="4480560" cy="164592"/>
          </a:xfrm>
          <a:prstGeom prst="roundRect">
            <a:avLst>
              <a:gd name="adj" fmla="val 44444"/>
            </a:avLst>
          </a:prstGeom>
          <a:solidFill>
            <a:srgbClr val="24334C"/>
          </a:solidFill>
          <a:ln w="10160">
            <a:solidFill>
              <a:srgbClr val="24334C"/>
            </a:solidFill>
            <a:prstDash val="solid"/>
          </a:ln>
        </p:spPr>
      </p:sp>
      <p:sp>
        <p:nvSpPr>
          <p:cNvPr id="24" name="Shape 22"/>
          <p:cNvSpPr/>
          <p:nvPr/>
        </p:nvSpPr>
        <p:spPr>
          <a:xfrm>
            <a:off x="2743200" y="3657600"/>
            <a:ext cx="4470703" cy="164592"/>
          </a:xfrm>
          <a:prstGeom prst="roundRect">
            <a:avLst>
              <a:gd name="adj" fmla="val 44444"/>
            </a:avLst>
          </a:prstGeom>
          <a:solidFill>
            <a:srgbClr val="6B9BFF"/>
          </a:solidFill>
          <a:ln w="10160">
            <a:solidFill>
              <a:srgbClr val="6B9BFF"/>
            </a:solidFill>
            <a:prstDash val="solid"/>
          </a:ln>
        </p:spPr>
      </p:sp>
      <p:sp>
        <p:nvSpPr>
          <p:cNvPr id="25" name="Shape 23"/>
          <p:cNvSpPr/>
          <p:nvPr/>
        </p:nvSpPr>
        <p:spPr>
          <a:xfrm>
            <a:off x="2743200" y="3886200"/>
            <a:ext cx="4480560" cy="164592"/>
          </a:xfrm>
          <a:prstGeom prst="roundRect">
            <a:avLst>
              <a:gd name="adj" fmla="val 44444"/>
            </a:avLst>
          </a:prstGeom>
          <a:solidFill>
            <a:srgbClr val="24334C"/>
          </a:solidFill>
          <a:ln w="10160">
            <a:solidFill>
              <a:srgbClr val="24334C"/>
            </a:solidFill>
            <a:prstDash val="solid"/>
          </a:ln>
        </p:spPr>
      </p:sp>
      <p:sp>
        <p:nvSpPr>
          <p:cNvPr id="26" name="Shape 24"/>
          <p:cNvSpPr/>
          <p:nvPr/>
        </p:nvSpPr>
        <p:spPr>
          <a:xfrm>
            <a:off x="2743200" y="3886200"/>
            <a:ext cx="4329117" cy="164592"/>
          </a:xfrm>
          <a:prstGeom prst="roundRect">
            <a:avLst>
              <a:gd name="adj" fmla="val 44444"/>
            </a:avLst>
          </a:prstGeom>
          <a:solidFill>
            <a:srgbClr val="36D6C5"/>
          </a:solidFill>
          <a:ln w="10160">
            <a:solidFill>
              <a:srgbClr val="36D6C5"/>
            </a:solidFill>
            <a:prstDash val="solid"/>
          </a:ln>
        </p:spPr>
      </p:sp>
      <p:sp>
        <p:nvSpPr>
          <p:cNvPr id="27" name="Text 25"/>
          <p:cNvSpPr txBox="1"/>
          <p:nvPr/>
        </p:nvSpPr>
        <p:spPr>
          <a:xfrm>
            <a:off x="7315200" y="3630168"/>
            <a:ext cx="530352" cy="173736"/>
          </a:xfrm>
          <a:prstGeom prst="rect">
            <a:avLst/>
          </a:prstGeom>
          <a:noFill/>
        </p:spPr>
        <p:txBody>
          <a:bodyPr wrap="square" lIns="0" tIns="0" rIns="0" bIns="0" rtlCol="0" anchor="ctr">
            <a:normAutofit/>
          </a:bodyPr>
          <a:lstStyle/>
          <a:p>
            <a:pPr marL="0" indent="0" algn="r">
              <a:buNone/>
            </a:pPr>
            <a:r>
              <a:rPr lang="en-US" sz="800" dirty="0">
                <a:solidFill>
                  <a:srgbClr val="A7B4CE"/>
                </a:solidFill>
                <a:latin typeface="Aptos" pitchFamily="34" charset="0"/>
                <a:ea typeface="Aptos" pitchFamily="34" charset="-122"/>
                <a:cs typeface="Aptos" pitchFamily="34" charset="-120"/>
              </a:rPr>
              <a:t>0.9978</a:t>
            </a:r>
            <a:endParaRPr lang="en-US" sz="800" dirty="0"/>
          </a:p>
        </p:txBody>
      </p:sp>
      <p:sp>
        <p:nvSpPr>
          <p:cNvPr id="28" name="Text 26"/>
          <p:cNvSpPr txBox="1"/>
          <p:nvPr/>
        </p:nvSpPr>
        <p:spPr>
          <a:xfrm>
            <a:off x="7315200" y="3867912"/>
            <a:ext cx="530352" cy="173736"/>
          </a:xfrm>
          <a:prstGeom prst="rect">
            <a:avLst/>
          </a:prstGeom>
          <a:noFill/>
        </p:spPr>
        <p:txBody>
          <a:bodyPr wrap="square" lIns="0" tIns="0" rIns="0" bIns="0" rtlCol="0" anchor="ctr">
            <a:normAutofit/>
          </a:bodyPr>
          <a:lstStyle/>
          <a:p>
            <a:pPr marL="0" indent="0" algn="r">
              <a:buNone/>
            </a:pPr>
            <a:r>
              <a:rPr lang="en-US" sz="800" b="1" dirty="0">
                <a:solidFill>
                  <a:srgbClr val="36D6C5"/>
                </a:solidFill>
                <a:latin typeface="Aptos" pitchFamily="34" charset="0"/>
                <a:ea typeface="Aptos" pitchFamily="34" charset="-122"/>
                <a:cs typeface="Aptos" pitchFamily="34" charset="-120"/>
              </a:rPr>
              <a:t>0.9662</a:t>
            </a:r>
            <a:endParaRPr lang="en-US" sz="800" dirty="0"/>
          </a:p>
        </p:txBody>
      </p:sp>
      <p:sp>
        <p:nvSpPr>
          <p:cNvPr id="29" name="Text 27"/>
          <p:cNvSpPr txBox="1"/>
          <p:nvPr/>
        </p:nvSpPr>
        <p:spPr>
          <a:xfrm>
            <a:off x="914400" y="4370832"/>
            <a:ext cx="1691640" cy="201168"/>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Specificity</a:t>
            </a:r>
            <a:endParaRPr lang="en-US" sz="1100" dirty="0"/>
          </a:p>
        </p:txBody>
      </p:sp>
      <p:sp>
        <p:nvSpPr>
          <p:cNvPr id="30" name="Shape 28"/>
          <p:cNvSpPr/>
          <p:nvPr/>
        </p:nvSpPr>
        <p:spPr>
          <a:xfrm>
            <a:off x="2743200" y="4352544"/>
            <a:ext cx="4480560" cy="164592"/>
          </a:xfrm>
          <a:prstGeom prst="roundRect">
            <a:avLst>
              <a:gd name="adj" fmla="val 44444"/>
            </a:avLst>
          </a:prstGeom>
          <a:solidFill>
            <a:srgbClr val="24334C"/>
          </a:solidFill>
          <a:ln w="10160">
            <a:solidFill>
              <a:srgbClr val="24334C"/>
            </a:solidFill>
            <a:prstDash val="solid"/>
          </a:ln>
        </p:spPr>
      </p:sp>
      <p:sp>
        <p:nvSpPr>
          <p:cNvPr id="31" name="Shape 29"/>
          <p:cNvSpPr/>
          <p:nvPr/>
        </p:nvSpPr>
        <p:spPr>
          <a:xfrm>
            <a:off x="2743200" y="4352544"/>
            <a:ext cx="4020406" cy="164592"/>
          </a:xfrm>
          <a:prstGeom prst="roundRect">
            <a:avLst>
              <a:gd name="adj" fmla="val 44444"/>
            </a:avLst>
          </a:prstGeom>
          <a:solidFill>
            <a:srgbClr val="6B9BFF"/>
          </a:solidFill>
          <a:ln w="10160">
            <a:solidFill>
              <a:srgbClr val="6B9BFF"/>
            </a:solidFill>
            <a:prstDash val="solid"/>
          </a:ln>
        </p:spPr>
      </p:sp>
      <p:sp>
        <p:nvSpPr>
          <p:cNvPr id="32" name="Shape 30"/>
          <p:cNvSpPr/>
          <p:nvPr/>
        </p:nvSpPr>
        <p:spPr>
          <a:xfrm>
            <a:off x="2743200" y="4581144"/>
            <a:ext cx="4480560" cy="164592"/>
          </a:xfrm>
          <a:prstGeom prst="roundRect">
            <a:avLst>
              <a:gd name="adj" fmla="val 44444"/>
            </a:avLst>
          </a:prstGeom>
          <a:solidFill>
            <a:srgbClr val="24334C"/>
          </a:solidFill>
          <a:ln w="10160">
            <a:solidFill>
              <a:srgbClr val="24334C"/>
            </a:solidFill>
            <a:prstDash val="solid"/>
          </a:ln>
        </p:spPr>
      </p:sp>
      <p:sp>
        <p:nvSpPr>
          <p:cNvPr id="33" name="Shape 31"/>
          <p:cNvSpPr/>
          <p:nvPr/>
        </p:nvSpPr>
        <p:spPr>
          <a:xfrm>
            <a:off x="2743200" y="4581144"/>
            <a:ext cx="4427241" cy="164592"/>
          </a:xfrm>
          <a:prstGeom prst="roundRect">
            <a:avLst>
              <a:gd name="adj" fmla="val 44444"/>
            </a:avLst>
          </a:prstGeom>
          <a:solidFill>
            <a:srgbClr val="36D6C5"/>
          </a:solidFill>
          <a:ln w="10160">
            <a:solidFill>
              <a:srgbClr val="36D6C5"/>
            </a:solidFill>
            <a:prstDash val="solid"/>
          </a:ln>
        </p:spPr>
      </p:sp>
      <p:sp>
        <p:nvSpPr>
          <p:cNvPr id="34" name="Text 32"/>
          <p:cNvSpPr txBox="1"/>
          <p:nvPr/>
        </p:nvSpPr>
        <p:spPr>
          <a:xfrm>
            <a:off x="7315200" y="4325112"/>
            <a:ext cx="530352" cy="173736"/>
          </a:xfrm>
          <a:prstGeom prst="rect">
            <a:avLst/>
          </a:prstGeom>
          <a:noFill/>
        </p:spPr>
        <p:txBody>
          <a:bodyPr wrap="square" lIns="0" tIns="0" rIns="0" bIns="0" rtlCol="0" anchor="ctr">
            <a:normAutofit/>
          </a:bodyPr>
          <a:lstStyle/>
          <a:p>
            <a:pPr marL="0" indent="0" algn="r">
              <a:buNone/>
            </a:pPr>
            <a:r>
              <a:rPr lang="en-US" sz="800" dirty="0">
                <a:solidFill>
                  <a:srgbClr val="A7B4CE"/>
                </a:solidFill>
                <a:latin typeface="Aptos" pitchFamily="34" charset="0"/>
                <a:ea typeface="Aptos" pitchFamily="34" charset="-122"/>
                <a:cs typeface="Aptos" pitchFamily="34" charset="-120"/>
              </a:rPr>
              <a:t>0.8973</a:t>
            </a:r>
            <a:endParaRPr lang="en-US" sz="800" dirty="0"/>
          </a:p>
        </p:txBody>
      </p:sp>
      <p:sp>
        <p:nvSpPr>
          <p:cNvPr id="35" name="Text 33"/>
          <p:cNvSpPr txBox="1"/>
          <p:nvPr/>
        </p:nvSpPr>
        <p:spPr>
          <a:xfrm>
            <a:off x="7315200" y="4562856"/>
            <a:ext cx="530352" cy="173736"/>
          </a:xfrm>
          <a:prstGeom prst="rect">
            <a:avLst/>
          </a:prstGeom>
          <a:noFill/>
        </p:spPr>
        <p:txBody>
          <a:bodyPr wrap="square" lIns="0" tIns="0" rIns="0" bIns="0" rtlCol="0" anchor="ctr">
            <a:normAutofit/>
          </a:bodyPr>
          <a:lstStyle/>
          <a:p>
            <a:pPr marL="0" indent="0" algn="r">
              <a:buNone/>
            </a:pPr>
            <a:r>
              <a:rPr lang="en-US" sz="800" b="1" dirty="0">
                <a:solidFill>
                  <a:srgbClr val="36D6C5"/>
                </a:solidFill>
                <a:latin typeface="Aptos" pitchFamily="34" charset="0"/>
                <a:ea typeface="Aptos" pitchFamily="34" charset="-122"/>
                <a:cs typeface="Aptos" pitchFamily="34" charset="-120"/>
              </a:rPr>
              <a:t>0.9881</a:t>
            </a:r>
            <a:endParaRPr lang="en-US" sz="800" dirty="0"/>
          </a:p>
        </p:txBody>
      </p:sp>
      <p:sp>
        <p:nvSpPr>
          <p:cNvPr id="36" name="Text 34"/>
          <p:cNvSpPr txBox="1"/>
          <p:nvPr/>
        </p:nvSpPr>
        <p:spPr>
          <a:xfrm>
            <a:off x="914400" y="5065776"/>
            <a:ext cx="1691640" cy="201168"/>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F1 score</a:t>
            </a:r>
            <a:endParaRPr lang="en-US" sz="1100" dirty="0"/>
          </a:p>
        </p:txBody>
      </p:sp>
      <p:sp>
        <p:nvSpPr>
          <p:cNvPr id="37" name="Shape 35"/>
          <p:cNvSpPr/>
          <p:nvPr/>
        </p:nvSpPr>
        <p:spPr>
          <a:xfrm>
            <a:off x="2743200" y="5047488"/>
            <a:ext cx="4480560" cy="164592"/>
          </a:xfrm>
          <a:prstGeom prst="roundRect">
            <a:avLst>
              <a:gd name="adj" fmla="val 44444"/>
            </a:avLst>
          </a:prstGeom>
          <a:solidFill>
            <a:srgbClr val="24334C"/>
          </a:solidFill>
          <a:ln w="10160">
            <a:solidFill>
              <a:srgbClr val="24334C"/>
            </a:solidFill>
            <a:prstDash val="solid"/>
          </a:ln>
        </p:spPr>
      </p:sp>
      <p:sp>
        <p:nvSpPr>
          <p:cNvPr id="38" name="Shape 36"/>
          <p:cNvSpPr/>
          <p:nvPr/>
        </p:nvSpPr>
        <p:spPr>
          <a:xfrm>
            <a:off x="2743200" y="5047488"/>
            <a:ext cx="2908331" cy="164592"/>
          </a:xfrm>
          <a:prstGeom prst="roundRect">
            <a:avLst>
              <a:gd name="adj" fmla="val 44444"/>
            </a:avLst>
          </a:prstGeom>
          <a:solidFill>
            <a:srgbClr val="6B9BFF"/>
          </a:solidFill>
          <a:ln w="10160">
            <a:solidFill>
              <a:srgbClr val="6B9BFF"/>
            </a:solidFill>
            <a:prstDash val="solid"/>
          </a:ln>
        </p:spPr>
      </p:sp>
      <p:sp>
        <p:nvSpPr>
          <p:cNvPr id="39" name="Shape 37"/>
          <p:cNvSpPr/>
          <p:nvPr/>
        </p:nvSpPr>
        <p:spPr>
          <a:xfrm>
            <a:off x="2743200" y="5276088"/>
            <a:ext cx="4480560" cy="164592"/>
          </a:xfrm>
          <a:prstGeom prst="roundRect">
            <a:avLst>
              <a:gd name="adj" fmla="val 44444"/>
            </a:avLst>
          </a:prstGeom>
          <a:solidFill>
            <a:srgbClr val="24334C"/>
          </a:solidFill>
          <a:ln w="10160">
            <a:solidFill>
              <a:srgbClr val="24334C"/>
            </a:solidFill>
            <a:prstDash val="solid"/>
          </a:ln>
        </p:spPr>
      </p:sp>
      <p:sp>
        <p:nvSpPr>
          <p:cNvPr id="40" name="Shape 38"/>
          <p:cNvSpPr/>
          <p:nvPr/>
        </p:nvSpPr>
        <p:spPr>
          <a:xfrm>
            <a:off x="2743200" y="5276088"/>
            <a:ext cx="3844320" cy="164592"/>
          </a:xfrm>
          <a:prstGeom prst="roundRect">
            <a:avLst>
              <a:gd name="adj" fmla="val 44444"/>
            </a:avLst>
          </a:prstGeom>
          <a:solidFill>
            <a:srgbClr val="36D6C5"/>
          </a:solidFill>
          <a:ln w="10160">
            <a:solidFill>
              <a:srgbClr val="36D6C5"/>
            </a:solidFill>
            <a:prstDash val="solid"/>
          </a:ln>
        </p:spPr>
      </p:sp>
      <p:sp>
        <p:nvSpPr>
          <p:cNvPr id="41" name="Text 39"/>
          <p:cNvSpPr txBox="1"/>
          <p:nvPr/>
        </p:nvSpPr>
        <p:spPr>
          <a:xfrm>
            <a:off x="7315200" y="5020056"/>
            <a:ext cx="530352" cy="173736"/>
          </a:xfrm>
          <a:prstGeom prst="rect">
            <a:avLst/>
          </a:prstGeom>
          <a:noFill/>
        </p:spPr>
        <p:txBody>
          <a:bodyPr wrap="square" lIns="0" tIns="0" rIns="0" bIns="0" rtlCol="0" anchor="ctr">
            <a:normAutofit/>
          </a:bodyPr>
          <a:lstStyle/>
          <a:p>
            <a:pPr marL="0" indent="0" algn="r">
              <a:buNone/>
            </a:pPr>
            <a:r>
              <a:rPr lang="en-US" sz="800" dirty="0">
                <a:solidFill>
                  <a:srgbClr val="A7B4CE"/>
                </a:solidFill>
                <a:latin typeface="Aptos" pitchFamily="34" charset="0"/>
                <a:ea typeface="Aptos" pitchFamily="34" charset="-122"/>
                <a:cs typeface="Aptos" pitchFamily="34" charset="-120"/>
              </a:rPr>
              <a:t>0.6491</a:t>
            </a:r>
            <a:endParaRPr lang="en-US" sz="800" dirty="0"/>
          </a:p>
        </p:txBody>
      </p:sp>
      <p:sp>
        <p:nvSpPr>
          <p:cNvPr id="42" name="Text 40"/>
          <p:cNvSpPr txBox="1"/>
          <p:nvPr/>
        </p:nvSpPr>
        <p:spPr>
          <a:xfrm>
            <a:off x="7315200" y="5257800"/>
            <a:ext cx="530352" cy="173736"/>
          </a:xfrm>
          <a:prstGeom prst="rect">
            <a:avLst/>
          </a:prstGeom>
          <a:noFill/>
        </p:spPr>
        <p:txBody>
          <a:bodyPr wrap="square" lIns="0" tIns="0" rIns="0" bIns="0" rtlCol="0" anchor="ctr">
            <a:normAutofit/>
          </a:bodyPr>
          <a:lstStyle/>
          <a:p>
            <a:pPr marL="0" indent="0" algn="r">
              <a:buNone/>
            </a:pPr>
            <a:r>
              <a:rPr lang="en-US" sz="800" b="1" dirty="0">
                <a:solidFill>
                  <a:srgbClr val="36D6C5"/>
                </a:solidFill>
                <a:latin typeface="Aptos" pitchFamily="34" charset="0"/>
                <a:ea typeface="Aptos" pitchFamily="34" charset="-122"/>
                <a:cs typeface="Aptos" pitchFamily="34" charset="-120"/>
              </a:rPr>
              <a:t>0.8580</a:t>
            </a:r>
            <a:endParaRPr lang="en-US" sz="800" dirty="0"/>
          </a:p>
        </p:txBody>
      </p:sp>
      <p:sp>
        <p:nvSpPr>
          <p:cNvPr id="43" name="Shape 41"/>
          <p:cNvSpPr/>
          <p:nvPr/>
        </p:nvSpPr>
        <p:spPr>
          <a:xfrm>
            <a:off x="914400" y="5742432"/>
            <a:ext cx="146304" cy="146304"/>
          </a:xfrm>
          <a:prstGeom prst="rect">
            <a:avLst/>
          </a:prstGeom>
          <a:solidFill>
            <a:srgbClr val="6B9BFF"/>
          </a:solidFill>
          <a:ln w="10160">
            <a:solidFill>
              <a:srgbClr val="6B9BFF"/>
            </a:solidFill>
            <a:prstDash val="solid"/>
          </a:ln>
        </p:spPr>
      </p:sp>
      <p:sp>
        <p:nvSpPr>
          <p:cNvPr id="44" name="Text 42"/>
          <p:cNvSpPr txBox="1"/>
          <p:nvPr/>
        </p:nvSpPr>
        <p:spPr>
          <a:xfrm>
            <a:off x="1143000" y="5724144"/>
            <a:ext cx="1005840" cy="164592"/>
          </a:xfrm>
          <a:prstGeom prst="rect">
            <a:avLst/>
          </a:prstGeom>
          <a:noFill/>
        </p:spPr>
        <p:txBody>
          <a:bodyPr wrap="square" lIns="0" tIns="0" rIns="0" bIns="0" rtlCol="0" anchor="ctr">
            <a:normAutofit/>
          </a:bodyPr>
          <a:lstStyle/>
          <a:p>
            <a:pPr marL="0" indent="0" algn="l">
              <a:buNone/>
            </a:pPr>
            <a:r>
              <a:rPr lang="en-US" sz="900" dirty="0">
                <a:solidFill>
                  <a:srgbClr val="A7B4CE"/>
                </a:solidFill>
                <a:latin typeface="Aptos" pitchFamily="34" charset="0"/>
                <a:ea typeface="Aptos" pitchFamily="34" charset="-122"/>
                <a:cs typeface="Aptos" pitchFamily="34" charset="-120"/>
              </a:rPr>
              <a:t>Baseline</a:t>
            </a:r>
            <a:endParaRPr lang="en-US" sz="900" dirty="0"/>
          </a:p>
        </p:txBody>
      </p:sp>
      <p:sp>
        <p:nvSpPr>
          <p:cNvPr id="45" name="Shape 43"/>
          <p:cNvSpPr/>
          <p:nvPr/>
        </p:nvSpPr>
        <p:spPr>
          <a:xfrm>
            <a:off x="2240280" y="5742432"/>
            <a:ext cx="146304" cy="146304"/>
          </a:xfrm>
          <a:prstGeom prst="rect">
            <a:avLst/>
          </a:prstGeom>
          <a:solidFill>
            <a:srgbClr val="36D6C5"/>
          </a:solidFill>
          <a:ln w="10160">
            <a:solidFill>
              <a:srgbClr val="36D6C5"/>
            </a:solidFill>
            <a:prstDash val="solid"/>
          </a:ln>
        </p:spPr>
      </p:sp>
      <p:sp>
        <p:nvSpPr>
          <p:cNvPr id="46" name="Text 44"/>
          <p:cNvSpPr txBox="1"/>
          <p:nvPr/>
        </p:nvSpPr>
        <p:spPr>
          <a:xfrm>
            <a:off x="2468880" y="5724144"/>
            <a:ext cx="1005840" cy="164592"/>
          </a:xfrm>
          <a:prstGeom prst="rect">
            <a:avLst/>
          </a:prstGeom>
          <a:noFill/>
        </p:spPr>
        <p:txBody>
          <a:bodyPr wrap="square" lIns="0" tIns="0" rIns="0" bIns="0" rtlCol="0" anchor="ctr">
            <a:normAutofit/>
          </a:bodyPr>
          <a:lstStyle/>
          <a:p>
            <a:pPr marL="0" indent="0" algn="l">
              <a:buNone/>
            </a:pPr>
            <a:r>
              <a:rPr lang="en-US" sz="900" dirty="0">
                <a:solidFill>
                  <a:srgbClr val="A7B4CE"/>
                </a:solidFill>
                <a:latin typeface="Aptos" pitchFamily="34" charset="0"/>
                <a:ea typeface="Aptos" pitchFamily="34" charset="-122"/>
                <a:cs typeface="Aptos" pitchFamily="34" charset="-120"/>
              </a:rPr>
              <a:t>Tuned CNN</a:t>
            </a:r>
            <a:endParaRPr lang="en-US" sz="900" dirty="0"/>
          </a:p>
        </p:txBody>
      </p:sp>
      <p:sp>
        <p:nvSpPr>
          <p:cNvPr id="47" name="Shape 45"/>
          <p:cNvSpPr/>
          <p:nvPr/>
        </p:nvSpPr>
        <p:spPr>
          <a:xfrm>
            <a:off x="8302752" y="1664208"/>
            <a:ext cx="3227832" cy="4434840"/>
          </a:xfrm>
          <a:prstGeom prst="roundRect">
            <a:avLst>
              <a:gd name="adj" fmla="val 2266"/>
            </a:avLst>
          </a:prstGeom>
          <a:solidFill>
            <a:srgbClr val="17273B"/>
          </a:solidFill>
          <a:ln w="10160">
            <a:solidFill>
              <a:srgbClr val="2A6571"/>
            </a:solidFill>
            <a:prstDash val="solid"/>
          </a:ln>
        </p:spPr>
      </p:sp>
      <p:sp>
        <p:nvSpPr>
          <p:cNvPr id="48" name="Text 46"/>
          <p:cNvSpPr txBox="1"/>
          <p:nvPr/>
        </p:nvSpPr>
        <p:spPr>
          <a:xfrm>
            <a:off x="8549640" y="1938528"/>
            <a:ext cx="2468880" cy="182880"/>
          </a:xfrm>
          <a:prstGeom prst="rect">
            <a:avLst/>
          </a:prstGeom>
          <a:noFill/>
        </p:spPr>
        <p:txBody>
          <a:bodyPr wrap="square" lIns="0" tIns="0" rIns="0" bIns="0" rtlCol="0" anchor="ctr">
            <a:normAutofit/>
          </a:bodyPr>
          <a:lstStyle/>
          <a:p>
            <a:pPr marL="0" indent="0" algn="l">
              <a:buNone/>
            </a:pPr>
            <a:r>
              <a:rPr lang="en-US" sz="900" b="1" kern="0" spc="100" dirty="0">
                <a:solidFill>
                  <a:srgbClr val="36D6C5"/>
                </a:solidFill>
                <a:latin typeface="Aptos" pitchFamily="34" charset="0"/>
                <a:ea typeface="Aptos" pitchFamily="34" charset="-122"/>
                <a:cs typeface="Aptos" pitchFamily="34" charset="-120"/>
              </a:rPr>
              <a:t>VALIDATION SUMMARY</a:t>
            </a:r>
            <a:endParaRPr lang="en-US" sz="900" dirty="0"/>
          </a:p>
        </p:txBody>
      </p:sp>
      <p:sp>
        <p:nvSpPr>
          <p:cNvPr id="49" name="Text 47"/>
          <p:cNvSpPr txBox="1"/>
          <p:nvPr/>
        </p:nvSpPr>
        <p:spPr>
          <a:xfrm>
            <a:off x="8549640" y="2359152"/>
            <a:ext cx="2560320" cy="502920"/>
          </a:xfrm>
          <a:prstGeom prst="rect">
            <a:avLst/>
          </a:prstGeom>
          <a:noFill/>
        </p:spPr>
        <p:txBody>
          <a:bodyPr wrap="square" lIns="0" tIns="0" rIns="0" bIns="0" rtlCol="0" anchor="ctr">
            <a:normAutofit/>
          </a:bodyPr>
          <a:lstStyle/>
          <a:p>
            <a:pPr marL="0" indent="0" algn="l">
              <a:buNone/>
            </a:pPr>
            <a:r>
              <a:rPr lang="en-US" sz="2800" b="1" dirty="0">
                <a:solidFill>
                  <a:srgbClr val="36D6C5"/>
                </a:solidFill>
                <a:latin typeface="Aptos" pitchFamily="34" charset="0"/>
                <a:ea typeface="Aptos" pitchFamily="34" charset="-122"/>
                <a:cs typeface="Aptos" pitchFamily="34" charset="-120"/>
              </a:rPr>
              <a:t>+2.96 pp</a:t>
            </a:r>
            <a:endParaRPr lang="en-US" sz="2800" dirty="0"/>
          </a:p>
        </p:txBody>
      </p:sp>
      <p:sp>
        <p:nvSpPr>
          <p:cNvPr id="50" name="Text 48"/>
          <p:cNvSpPr txBox="1"/>
          <p:nvPr/>
        </p:nvSpPr>
        <p:spPr>
          <a:xfrm>
            <a:off x="8549640" y="2852928"/>
            <a:ext cx="2468880" cy="237744"/>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macro balanced accuracy</a:t>
            </a:r>
            <a:endParaRPr lang="en-US" sz="1100" dirty="0"/>
          </a:p>
        </p:txBody>
      </p:sp>
      <p:sp>
        <p:nvSpPr>
          <p:cNvPr id="51" name="Shape 49"/>
          <p:cNvSpPr/>
          <p:nvPr/>
        </p:nvSpPr>
        <p:spPr>
          <a:xfrm>
            <a:off x="8549640" y="3246120"/>
            <a:ext cx="2651760" cy="0"/>
          </a:xfrm>
          <a:prstGeom prst="line">
            <a:avLst/>
          </a:prstGeom>
          <a:noFill/>
          <a:ln w="12700">
            <a:solidFill>
              <a:srgbClr val="2B3B58"/>
            </a:solidFill>
            <a:prstDash val="solid"/>
          </a:ln>
        </p:spPr>
      </p:sp>
      <p:sp>
        <p:nvSpPr>
          <p:cNvPr id="52" name="Text 50"/>
          <p:cNvSpPr txBox="1"/>
          <p:nvPr/>
        </p:nvSpPr>
        <p:spPr>
          <a:xfrm>
            <a:off x="8549640" y="3429000"/>
            <a:ext cx="2194560" cy="228600"/>
          </a:xfrm>
          <a:prstGeom prst="rect">
            <a:avLst/>
          </a:prstGeom>
          <a:noFill/>
        </p:spPr>
        <p:txBody>
          <a:bodyPr wrap="square" lIns="0" tIns="0" rIns="0" bIns="0" rtlCol="0" anchor="ctr">
            <a:normAutofit/>
          </a:bodyPr>
          <a:lstStyle/>
          <a:p>
            <a:pPr marL="0" indent="0" algn="l">
              <a:buNone/>
            </a:pPr>
            <a:r>
              <a:rPr lang="en-US" sz="1400" b="1" dirty="0">
                <a:solidFill>
                  <a:srgbClr val="FFB65E"/>
                </a:solidFill>
                <a:latin typeface="Aptos" pitchFamily="34" charset="0"/>
                <a:ea typeface="Aptos" pitchFamily="34" charset="-122"/>
                <a:cs typeface="Aptos" pitchFamily="34" charset="-120"/>
              </a:rPr>
              <a:t>Trade-off</a:t>
            </a:r>
            <a:endParaRPr lang="en-US" sz="1400" dirty="0"/>
          </a:p>
        </p:txBody>
      </p:sp>
      <p:sp>
        <p:nvSpPr>
          <p:cNvPr id="53" name="Text 51"/>
          <p:cNvSpPr txBox="1"/>
          <p:nvPr/>
        </p:nvSpPr>
        <p:spPr>
          <a:xfrm>
            <a:off x="8549640" y="3749040"/>
            <a:ext cx="2514600" cy="658368"/>
          </a:xfrm>
          <a:prstGeom prst="rect">
            <a:avLst/>
          </a:prstGeom>
          <a:noFill/>
        </p:spPr>
        <p:txBody>
          <a:bodyPr wrap="square" lIns="0" tIns="0" rIns="0" bIns="0" rtlCol="0" anchor="t">
            <a:normAutofit/>
          </a:bodyPr>
          <a:lstStyle/>
          <a:p>
            <a:pPr marL="0" indent="0" algn="l">
              <a:buNone/>
            </a:pPr>
            <a:r>
              <a:rPr lang="en-US" sz="1200" dirty="0">
                <a:solidFill>
                  <a:srgbClr val="A7B4CE"/>
                </a:solidFill>
                <a:latin typeface="Aptos" pitchFamily="34" charset="0"/>
                <a:ea typeface="Aptos" pitchFamily="34" charset="-122"/>
                <a:cs typeface="Aptos" pitchFamily="34" charset="-120"/>
              </a:rPr>
              <a:t>Precision, specificity and F1 improve; recall falls slightly (−3.16 pp).</a:t>
            </a:r>
            <a:endParaRPr lang="en-US" sz="1200" dirty="0"/>
          </a:p>
        </p:txBody>
      </p:sp>
      <p:sp>
        <p:nvSpPr>
          <p:cNvPr id="54" name="Text 52"/>
          <p:cNvSpPr txBox="1"/>
          <p:nvPr/>
        </p:nvSpPr>
        <p:spPr>
          <a:xfrm>
            <a:off x="8549640" y="4791456"/>
            <a:ext cx="2514600" cy="822960"/>
          </a:xfrm>
          <a:prstGeom prst="rect">
            <a:avLst/>
          </a:prstGeom>
          <a:noFill/>
        </p:spPr>
        <p:txBody>
          <a:bodyPr wrap="square" lIns="0" tIns="0" rIns="0" bIns="0" rtlCol="0" anchor="t">
            <a:normAutofit/>
          </a:bodyPr>
          <a:lstStyle/>
          <a:p>
            <a:pPr marL="0" indent="0" algn="l">
              <a:buNone/>
            </a:pPr>
            <a:r>
              <a:rPr lang="en-US" sz="1000" dirty="0">
                <a:solidFill>
                  <a:srgbClr val="F4F7FF"/>
                </a:solidFill>
                <a:latin typeface="Aptos" pitchFamily="34" charset="0"/>
                <a:ea typeface="Aptos" pitchFamily="34" charset="-122"/>
                <a:cs typeface="Aptos" pitchFamily="34" charset="-120"/>
              </a:rPr>
              <a:t>Threshold = 0.20 was selected using validation diagnostics, before final test reporting.</a:t>
            </a:r>
            <a:endParaRPr lang="en-US" sz="1000" dirty="0"/>
          </a:p>
        </p:txBody>
      </p:sp>
      <p:sp>
        <p:nvSpPr>
          <p:cNvPr id="55" name="Slide Number Placeholder 0"/>
          <p:cNvSpPr>
            <a:spLocks noGrp="1"/>
          </p:cNvSpPr>
          <p:nvPr>
            <p:ph type="sldNum" sz="quarter" idx="4294967295"/>
          </p:nvPr>
        </p:nvSpPr>
        <p:spPr>
          <a:xfrm>
            <a:off x="11292840" y="6510528"/>
            <a:ext cx="800000" cy="300000"/>
          </a:xfrm>
          <a:prstGeom prst="rect">
            <a:avLst/>
          </a:prstGeom>
        </p:spPr>
        <p:txBody>
          <a:bodyPr/>
          <a:lstStyle>
            <a:lvl1pPr>
              <a:defRPr sz="800">
                <a:solidFill>
                  <a:srgbClr val="8090B0"/>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0"/>
          <p:cNvSpPr txBox="1"/>
          <p:nvPr/>
        </p:nvSpPr>
        <p:spPr>
          <a:xfrm>
            <a:off x="621792" y="292608"/>
            <a:ext cx="4572000" cy="219456"/>
          </a:xfrm>
          <a:prstGeom prst="rect">
            <a:avLst/>
          </a:prstGeom>
          <a:noFill/>
        </p:spPr>
        <p:txBody>
          <a:bodyPr wrap="square" lIns="0" tIns="0" rIns="0" bIns="0" rtlCol="0" anchor="ctr">
            <a:normAutofit/>
          </a:bodyPr>
          <a:lstStyle/>
          <a:p>
            <a:pPr marL="0" indent="0" algn="l">
              <a:buNone/>
            </a:pPr>
            <a:r>
              <a:rPr lang="en-US" sz="900" b="1" kern="0" spc="180" dirty="0">
                <a:solidFill>
                  <a:srgbClr val="36D6C5"/>
                </a:solidFill>
                <a:latin typeface="Aptos" pitchFamily="34" charset="0"/>
                <a:ea typeface="Aptos" pitchFamily="34" charset="-122"/>
                <a:cs typeface="Aptos" pitchFamily="34" charset="-120"/>
              </a:rPr>
              <a:t>08  •  FINAL TEST RESULTS</a:t>
            </a:r>
            <a:endParaRPr lang="en-US" sz="900" dirty="0"/>
          </a:p>
        </p:txBody>
      </p:sp>
      <p:sp>
        <p:nvSpPr>
          <p:cNvPr id="3" name="Text 1"/>
          <p:cNvSpPr txBox="1"/>
          <p:nvPr/>
        </p:nvSpPr>
        <p:spPr>
          <a:xfrm>
            <a:off x="621792" y="612648"/>
            <a:ext cx="10972800" cy="475488"/>
          </a:xfrm>
          <a:prstGeom prst="rect">
            <a:avLst/>
          </a:prstGeom>
          <a:noFill/>
        </p:spPr>
        <p:txBody>
          <a:bodyPr wrap="square" lIns="0" tIns="0" rIns="0" bIns="0" rtlCol="0" anchor="ctr">
            <a:normAutofit/>
          </a:bodyPr>
          <a:lstStyle/>
          <a:p>
            <a:pPr marL="0" indent="0" algn="l">
              <a:buNone/>
            </a:pPr>
            <a:r>
              <a:rPr lang="en-US" sz="2700" b="1" dirty="0">
                <a:solidFill>
                  <a:srgbClr val="F4F7FF"/>
                </a:solidFill>
                <a:latin typeface="Aptos" pitchFamily="34" charset="0"/>
                <a:ea typeface="Aptos" pitchFamily="34" charset="-122"/>
                <a:cs typeface="Aptos" pitchFamily="34" charset="-120"/>
              </a:rPr>
              <a:t>Cross-benchmark test performance at the fixed 0.20 threshold</a:t>
            </a:r>
            <a:endParaRPr lang="en-US" sz="2700" dirty="0"/>
          </a:p>
        </p:txBody>
      </p:sp>
      <p:sp>
        <p:nvSpPr>
          <p:cNvPr id="4" name="Text 2"/>
          <p:cNvSpPr txBox="1"/>
          <p:nvPr/>
        </p:nvSpPr>
        <p:spPr>
          <a:xfrm>
            <a:off x="640080" y="1106424"/>
            <a:ext cx="10789920" cy="292608"/>
          </a:xfrm>
          <a:prstGeom prst="rect">
            <a:avLst/>
          </a:prstGeom>
          <a:noFill/>
        </p:spPr>
        <p:txBody>
          <a:bodyPr wrap="square" lIns="0" tIns="0" rIns="0" bIns="0" rtlCol="0" anchor="ctr">
            <a:normAutofit/>
          </a:bodyPr>
          <a:lstStyle/>
          <a:p>
            <a:pPr marL="0" indent="0" algn="l">
              <a:buNone/>
            </a:pPr>
            <a:r>
              <a:rPr lang="en-US" sz="1200" dirty="0">
                <a:solidFill>
                  <a:srgbClr val="A7B4CE"/>
                </a:solidFill>
                <a:latin typeface="Aptos" pitchFamily="34" charset="0"/>
                <a:ea typeface="Aptos" pitchFamily="34" charset="-122"/>
                <a:cs typeface="Aptos" pitchFamily="34" charset="-120"/>
              </a:rPr>
              <a:t>Balanced accuracy and specificity shown for the same final baseline and tuned-model comparisons.</a:t>
            </a:r>
            <a:endParaRPr lang="en-US" sz="1200" dirty="0"/>
          </a:p>
        </p:txBody>
      </p:sp>
      <p:sp>
        <p:nvSpPr>
          <p:cNvPr id="6" name="Shape 4"/>
          <p:cNvSpPr/>
          <p:nvPr/>
        </p:nvSpPr>
        <p:spPr>
          <a:xfrm>
            <a:off x="658368" y="1700784"/>
            <a:ext cx="10881360" cy="3639312"/>
          </a:xfrm>
          <a:prstGeom prst="roundRect">
            <a:avLst>
              <a:gd name="adj" fmla="val 2010"/>
            </a:avLst>
          </a:prstGeom>
          <a:solidFill>
            <a:srgbClr val="131D31"/>
          </a:solidFill>
          <a:ln w="10160">
            <a:solidFill>
              <a:srgbClr val="2B3B58"/>
            </a:solidFill>
            <a:prstDash val="solid"/>
          </a:ln>
        </p:spPr>
      </p:sp>
      <p:sp>
        <p:nvSpPr>
          <p:cNvPr id="7" name="Text 5"/>
          <p:cNvSpPr txBox="1"/>
          <p:nvPr/>
        </p:nvSpPr>
        <p:spPr>
          <a:xfrm>
            <a:off x="768096" y="1938528"/>
            <a:ext cx="1572768" cy="274320"/>
          </a:xfrm>
          <a:prstGeom prst="rect">
            <a:avLst/>
          </a:prstGeom>
          <a:noFill/>
        </p:spPr>
        <p:txBody>
          <a:bodyPr wrap="square" lIns="0" tIns="0" rIns="0" bIns="0" rtlCol="0" anchor="ctr">
            <a:normAutofit/>
          </a:bodyPr>
          <a:lstStyle/>
          <a:p>
            <a:pPr marL="0" indent="0" algn="l">
              <a:buNone/>
            </a:pPr>
            <a:r>
              <a:rPr lang="en-US" sz="1000" b="1" dirty="0">
                <a:solidFill>
                  <a:srgbClr val="36D6C5"/>
                </a:solidFill>
                <a:latin typeface="Aptos" pitchFamily="34" charset="0"/>
                <a:ea typeface="Aptos" pitchFamily="34" charset="-122"/>
                <a:cs typeface="Aptos" pitchFamily="34" charset="-120"/>
              </a:rPr>
              <a:t>Benchmark</a:t>
            </a:r>
            <a:endParaRPr lang="en-US" sz="1000" dirty="0"/>
          </a:p>
        </p:txBody>
      </p:sp>
      <p:sp>
        <p:nvSpPr>
          <p:cNvPr id="8" name="Text 6"/>
          <p:cNvSpPr txBox="1"/>
          <p:nvPr/>
        </p:nvSpPr>
        <p:spPr>
          <a:xfrm>
            <a:off x="2423160" y="1938528"/>
            <a:ext cx="1627632" cy="274320"/>
          </a:xfrm>
          <a:prstGeom prst="rect">
            <a:avLst/>
          </a:prstGeom>
          <a:noFill/>
        </p:spPr>
        <p:txBody>
          <a:bodyPr wrap="square" lIns="0" tIns="0" rIns="0" bIns="0" rtlCol="0" anchor="ctr">
            <a:normAutofit/>
          </a:bodyPr>
          <a:lstStyle/>
          <a:p>
            <a:pPr marL="0" indent="0" algn="ctr">
              <a:buNone/>
            </a:pPr>
            <a:r>
              <a:rPr lang="en-US" sz="1000" b="1" dirty="0">
                <a:solidFill>
                  <a:srgbClr val="36D6C5"/>
                </a:solidFill>
                <a:latin typeface="Aptos" pitchFamily="34" charset="0"/>
                <a:ea typeface="Aptos" pitchFamily="34" charset="-122"/>
                <a:cs typeface="Aptos" pitchFamily="34" charset="-120"/>
              </a:rPr>
              <a:t>BA • Baseline</a:t>
            </a:r>
            <a:endParaRPr lang="en-US" sz="1000" dirty="0"/>
          </a:p>
        </p:txBody>
      </p:sp>
      <p:sp>
        <p:nvSpPr>
          <p:cNvPr id="9" name="Text 7"/>
          <p:cNvSpPr txBox="1"/>
          <p:nvPr/>
        </p:nvSpPr>
        <p:spPr>
          <a:xfrm>
            <a:off x="4160520" y="1938528"/>
            <a:ext cx="1536192" cy="274320"/>
          </a:xfrm>
          <a:prstGeom prst="rect">
            <a:avLst/>
          </a:prstGeom>
          <a:noFill/>
        </p:spPr>
        <p:txBody>
          <a:bodyPr wrap="square" lIns="0" tIns="0" rIns="0" bIns="0" rtlCol="0" anchor="ctr">
            <a:normAutofit/>
          </a:bodyPr>
          <a:lstStyle/>
          <a:p>
            <a:pPr marL="0" indent="0" algn="ctr">
              <a:buNone/>
            </a:pPr>
            <a:r>
              <a:rPr lang="en-US" sz="1000" b="1" dirty="0">
                <a:solidFill>
                  <a:srgbClr val="36D6C5"/>
                </a:solidFill>
                <a:latin typeface="Aptos" pitchFamily="34" charset="0"/>
                <a:ea typeface="Aptos" pitchFamily="34" charset="-122"/>
                <a:cs typeface="Aptos" pitchFamily="34" charset="-120"/>
              </a:rPr>
              <a:t>BA • Tuned</a:t>
            </a:r>
            <a:endParaRPr lang="en-US" sz="1000" dirty="0"/>
          </a:p>
        </p:txBody>
      </p:sp>
      <p:sp>
        <p:nvSpPr>
          <p:cNvPr id="10" name="Text 8"/>
          <p:cNvSpPr txBox="1"/>
          <p:nvPr/>
        </p:nvSpPr>
        <p:spPr>
          <a:xfrm>
            <a:off x="5870448" y="1938528"/>
            <a:ext cx="1874520" cy="274320"/>
          </a:xfrm>
          <a:prstGeom prst="rect">
            <a:avLst/>
          </a:prstGeom>
          <a:noFill/>
        </p:spPr>
        <p:txBody>
          <a:bodyPr wrap="square" lIns="0" tIns="0" rIns="0" bIns="0" rtlCol="0" anchor="ctr">
            <a:normAutofit/>
          </a:bodyPr>
          <a:lstStyle/>
          <a:p>
            <a:pPr marL="0" indent="0" algn="ctr">
              <a:buNone/>
            </a:pPr>
            <a:r>
              <a:rPr lang="en-US" sz="1000" b="1" dirty="0">
                <a:solidFill>
                  <a:srgbClr val="36D6C5"/>
                </a:solidFill>
                <a:latin typeface="Aptos" pitchFamily="34" charset="0"/>
                <a:ea typeface="Aptos" pitchFamily="34" charset="-122"/>
                <a:cs typeface="Aptos" pitchFamily="34" charset="-120"/>
              </a:rPr>
              <a:t>Spec • Baseline</a:t>
            </a:r>
            <a:endParaRPr lang="en-US" sz="1000" dirty="0"/>
          </a:p>
        </p:txBody>
      </p:sp>
      <p:sp>
        <p:nvSpPr>
          <p:cNvPr id="11" name="Text 9"/>
          <p:cNvSpPr txBox="1"/>
          <p:nvPr/>
        </p:nvSpPr>
        <p:spPr>
          <a:xfrm>
            <a:off x="7909560" y="1938528"/>
            <a:ext cx="1572768" cy="274320"/>
          </a:xfrm>
          <a:prstGeom prst="rect">
            <a:avLst/>
          </a:prstGeom>
          <a:noFill/>
        </p:spPr>
        <p:txBody>
          <a:bodyPr wrap="square" lIns="0" tIns="0" rIns="0" bIns="0" rtlCol="0" anchor="ctr">
            <a:normAutofit/>
          </a:bodyPr>
          <a:lstStyle/>
          <a:p>
            <a:pPr marL="0" indent="0" algn="ctr">
              <a:buNone/>
            </a:pPr>
            <a:r>
              <a:rPr lang="en-US" sz="1000" b="1" dirty="0">
                <a:solidFill>
                  <a:srgbClr val="36D6C5"/>
                </a:solidFill>
                <a:latin typeface="Aptos" pitchFamily="34" charset="0"/>
                <a:ea typeface="Aptos" pitchFamily="34" charset="-122"/>
                <a:cs typeface="Aptos" pitchFamily="34" charset="-120"/>
              </a:rPr>
              <a:t>Spec • Tuned</a:t>
            </a:r>
            <a:endParaRPr lang="en-US" sz="1000" dirty="0"/>
          </a:p>
        </p:txBody>
      </p:sp>
      <p:sp>
        <p:nvSpPr>
          <p:cNvPr id="12" name="Shape 10"/>
          <p:cNvSpPr/>
          <p:nvPr/>
        </p:nvSpPr>
        <p:spPr>
          <a:xfrm>
            <a:off x="822960" y="2304288"/>
            <a:ext cx="10515600" cy="0"/>
          </a:xfrm>
          <a:prstGeom prst="line">
            <a:avLst/>
          </a:prstGeom>
          <a:noFill/>
          <a:ln w="12700">
            <a:solidFill>
              <a:srgbClr val="2B3B58"/>
            </a:solidFill>
            <a:prstDash val="solid"/>
          </a:ln>
        </p:spPr>
      </p:sp>
      <p:sp>
        <p:nvSpPr>
          <p:cNvPr id="13" name="Text 11"/>
          <p:cNvSpPr txBox="1"/>
          <p:nvPr/>
        </p:nvSpPr>
        <p:spPr>
          <a:xfrm>
            <a:off x="768096" y="2432304"/>
            <a:ext cx="1572768" cy="228600"/>
          </a:xfrm>
          <a:prstGeom prst="rect">
            <a:avLst/>
          </a:prstGeom>
          <a:noFill/>
        </p:spPr>
        <p:txBody>
          <a:bodyPr wrap="square" lIns="0" tIns="0" rIns="0" bIns="0" rtlCol="0" anchor="ctr">
            <a:normAutofit/>
          </a:bodyPr>
          <a:lstStyle/>
          <a:p>
            <a:pPr marL="0" indent="0" algn="l">
              <a:buNone/>
            </a:pPr>
            <a:r>
              <a:rPr lang="en-US" sz="1100" dirty="0">
                <a:solidFill>
                  <a:srgbClr val="A7B4CE"/>
                </a:solidFill>
                <a:latin typeface="Aptos" pitchFamily="34" charset="0"/>
                <a:ea typeface="Aptos" pitchFamily="34" charset="-122"/>
                <a:cs typeface="Aptos" pitchFamily="34" charset="-120"/>
              </a:rPr>
              <a:t>ICCAD1</a:t>
            </a:r>
            <a:endParaRPr lang="en-US" sz="1100" dirty="0"/>
          </a:p>
        </p:txBody>
      </p:sp>
      <p:sp>
        <p:nvSpPr>
          <p:cNvPr id="14" name="Text 12"/>
          <p:cNvSpPr txBox="1"/>
          <p:nvPr/>
        </p:nvSpPr>
        <p:spPr>
          <a:xfrm>
            <a:off x="2423160" y="2432304"/>
            <a:ext cx="1627632" cy="228600"/>
          </a:xfrm>
          <a:prstGeom prst="rect">
            <a:avLst/>
          </a:prstGeom>
          <a:noFill/>
        </p:spPr>
        <p:txBody>
          <a:bodyPr wrap="square" lIns="0" tIns="0" rIns="0" bIns="0" rtlCol="0" anchor="ctr">
            <a:normAutofit/>
          </a:bodyPr>
          <a:lstStyle/>
          <a:p>
            <a:pPr marL="0" indent="0" algn="ctr">
              <a:buNone/>
            </a:pPr>
            <a:r>
              <a:rPr lang="en-US" sz="1100" dirty="0">
                <a:solidFill>
                  <a:srgbClr val="A7B4CE"/>
                </a:solidFill>
                <a:latin typeface="Aptos" pitchFamily="34" charset="0"/>
                <a:ea typeface="Aptos" pitchFamily="34" charset="-122"/>
                <a:cs typeface="Aptos" pitchFamily="34" charset="-120"/>
              </a:rPr>
              <a:t>0.8150</a:t>
            </a:r>
            <a:endParaRPr lang="en-US" sz="1100" dirty="0"/>
          </a:p>
        </p:txBody>
      </p:sp>
      <p:sp>
        <p:nvSpPr>
          <p:cNvPr id="15" name="Text 13"/>
          <p:cNvSpPr txBox="1"/>
          <p:nvPr/>
        </p:nvSpPr>
        <p:spPr>
          <a:xfrm>
            <a:off x="4160520" y="2432304"/>
            <a:ext cx="1536192" cy="228600"/>
          </a:xfrm>
          <a:prstGeom prst="rect">
            <a:avLst/>
          </a:prstGeom>
          <a:noFill/>
        </p:spPr>
        <p:txBody>
          <a:bodyPr wrap="square" lIns="0" tIns="0" rIns="0" bIns="0" rtlCol="0" anchor="ctr">
            <a:normAutofit/>
          </a:bodyPr>
          <a:lstStyle/>
          <a:p>
            <a:pPr marL="0" indent="0" algn="ctr">
              <a:buNone/>
            </a:pPr>
            <a:r>
              <a:rPr lang="en-US" sz="1100" dirty="0">
                <a:solidFill>
                  <a:srgbClr val="F4F7FF"/>
                </a:solidFill>
                <a:latin typeface="Aptos" pitchFamily="34" charset="0"/>
                <a:ea typeface="Aptos" pitchFamily="34" charset="-122"/>
                <a:cs typeface="Aptos" pitchFamily="34" charset="-120"/>
              </a:rPr>
              <a:t>0.8119</a:t>
            </a:r>
            <a:endParaRPr lang="en-US" sz="1100" dirty="0"/>
          </a:p>
        </p:txBody>
      </p:sp>
      <p:sp>
        <p:nvSpPr>
          <p:cNvPr id="16" name="Text 14"/>
          <p:cNvSpPr txBox="1"/>
          <p:nvPr/>
        </p:nvSpPr>
        <p:spPr>
          <a:xfrm>
            <a:off x="5870448" y="2432304"/>
            <a:ext cx="1874520" cy="228600"/>
          </a:xfrm>
          <a:prstGeom prst="rect">
            <a:avLst/>
          </a:prstGeom>
          <a:noFill/>
        </p:spPr>
        <p:txBody>
          <a:bodyPr wrap="square" lIns="0" tIns="0" rIns="0" bIns="0" rtlCol="0" anchor="ctr">
            <a:normAutofit/>
          </a:bodyPr>
          <a:lstStyle/>
          <a:p>
            <a:pPr marL="0" indent="0" algn="ctr">
              <a:buNone/>
            </a:pPr>
            <a:r>
              <a:rPr lang="en-US" sz="1100" dirty="0">
                <a:solidFill>
                  <a:srgbClr val="A7B4CE"/>
                </a:solidFill>
                <a:latin typeface="Aptos" pitchFamily="34" charset="0"/>
                <a:ea typeface="Aptos" pitchFamily="34" charset="-122"/>
                <a:cs typeface="Aptos" pitchFamily="34" charset="-120"/>
              </a:rPr>
              <a:t>0.6300</a:t>
            </a:r>
            <a:endParaRPr lang="en-US" sz="1100" dirty="0"/>
          </a:p>
        </p:txBody>
      </p:sp>
      <p:sp>
        <p:nvSpPr>
          <p:cNvPr id="17" name="Text 15"/>
          <p:cNvSpPr txBox="1"/>
          <p:nvPr/>
        </p:nvSpPr>
        <p:spPr>
          <a:xfrm>
            <a:off x="7909560" y="2432304"/>
            <a:ext cx="1572768" cy="228600"/>
          </a:xfrm>
          <a:prstGeom prst="rect">
            <a:avLst/>
          </a:prstGeom>
          <a:noFill/>
        </p:spPr>
        <p:txBody>
          <a:bodyPr wrap="square" lIns="0" tIns="0" rIns="0" bIns="0" rtlCol="0" anchor="ctr">
            <a:normAutofit/>
          </a:bodyPr>
          <a:lstStyle/>
          <a:p>
            <a:pPr marL="0" indent="0" algn="ctr">
              <a:buNone/>
            </a:pPr>
            <a:r>
              <a:rPr lang="en-US" sz="1100" dirty="0">
                <a:solidFill>
                  <a:srgbClr val="F4F7FF"/>
                </a:solidFill>
                <a:latin typeface="Aptos" pitchFamily="34" charset="0"/>
                <a:ea typeface="Aptos" pitchFamily="34" charset="-122"/>
                <a:cs typeface="Aptos" pitchFamily="34" charset="-120"/>
              </a:rPr>
              <a:t>0.6239</a:t>
            </a:r>
            <a:endParaRPr lang="en-US" sz="1100" dirty="0"/>
          </a:p>
        </p:txBody>
      </p:sp>
      <p:sp>
        <p:nvSpPr>
          <p:cNvPr id="18" name="Text 16"/>
          <p:cNvSpPr txBox="1"/>
          <p:nvPr/>
        </p:nvSpPr>
        <p:spPr>
          <a:xfrm>
            <a:off x="768096" y="2862072"/>
            <a:ext cx="1572768" cy="228600"/>
          </a:xfrm>
          <a:prstGeom prst="rect">
            <a:avLst/>
          </a:prstGeom>
          <a:noFill/>
        </p:spPr>
        <p:txBody>
          <a:bodyPr wrap="square" lIns="0" tIns="0" rIns="0" bIns="0" rtlCol="0" anchor="ctr">
            <a:normAutofit/>
          </a:bodyPr>
          <a:lstStyle/>
          <a:p>
            <a:pPr marL="0" indent="0" algn="l">
              <a:buNone/>
            </a:pPr>
            <a:r>
              <a:rPr lang="en-US" sz="1100" dirty="0">
                <a:solidFill>
                  <a:srgbClr val="A7B4CE"/>
                </a:solidFill>
                <a:latin typeface="Aptos" pitchFamily="34" charset="0"/>
                <a:ea typeface="Aptos" pitchFamily="34" charset="-122"/>
                <a:cs typeface="Aptos" pitchFamily="34" charset="-120"/>
              </a:rPr>
              <a:t>ICCAD2</a:t>
            </a:r>
            <a:endParaRPr lang="en-US" sz="1100" dirty="0"/>
          </a:p>
        </p:txBody>
      </p:sp>
      <p:sp>
        <p:nvSpPr>
          <p:cNvPr id="19" name="Text 17"/>
          <p:cNvSpPr txBox="1"/>
          <p:nvPr/>
        </p:nvSpPr>
        <p:spPr>
          <a:xfrm>
            <a:off x="2423160" y="2862072"/>
            <a:ext cx="1627632" cy="228600"/>
          </a:xfrm>
          <a:prstGeom prst="rect">
            <a:avLst/>
          </a:prstGeom>
          <a:noFill/>
        </p:spPr>
        <p:txBody>
          <a:bodyPr wrap="square" lIns="0" tIns="0" rIns="0" bIns="0" rtlCol="0" anchor="ctr">
            <a:normAutofit/>
          </a:bodyPr>
          <a:lstStyle/>
          <a:p>
            <a:pPr marL="0" indent="0" algn="ctr">
              <a:buNone/>
            </a:pPr>
            <a:r>
              <a:rPr lang="en-US" sz="1100" dirty="0">
                <a:solidFill>
                  <a:srgbClr val="A7B4CE"/>
                </a:solidFill>
                <a:latin typeface="Aptos" pitchFamily="34" charset="0"/>
                <a:ea typeface="Aptos" pitchFamily="34" charset="-122"/>
                <a:cs typeface="Aptos" pitchFamily="34" charset="-120"/>
              </a:rPr>
              <a:t>0.9851</a:t>
            </a:r>
            <a:endParaRPr lang="en-US" sz="1100" dirty="0"/>
          </a:p>
        </p:txBody>
      </p:sp>
      <p:sp>
        <p:nvSpPr>
          <p:cNvPr id="20" name="Text 18"/>
          <p:cNvSpPr txBox="1"/>
          <p:nvPr/>
        </p:nvSpPr>
        <p:spPr>
          <a:xfrm>
            <a:off x="4160520" y="2862072"/>
            <a:ext cx="1536192" cy="228600"/>
          </a:xfrm>
          <a:prstGeom prst="rect">
            <a:avLst/>
          </a:prstGeom>
          <a:noFill/>
        </p:spPr>
        <p:txBody>
          <a:bodyPr wrap="square" lIns="0" tIns="0" rIns="0" bIns="0" rtlCol="0" anchor="ctr">
            <a:normAutofit/>
          </a:bodyPr>
          <a:lstStyle/>
          <a:p>
            <a:pPr marL="0" indent="0" algn="ctr">
              <a:buNone/>
            </a:pPr>
            <a:r>
              <a:rPr lang="en-US" sz="1100" dirty="0">
                <a:solidFill>
                  <a:srgbClr val="F4F7FF"/>
                </a:solidFill>
                <a:latin typeface="Aptos" pitchFamily="34" charset="0"/>
                <a:ea typeface="Aptos" pitchFamily="34" charset="-122"/>
                <a:cs typeface="Aptos" pitchFamily="34" charset="-120"/>
              </a:rPr>
              <a:t>0.9648</a:t>
            </a:r>
            <a:endParaRPr lang="en-US" sz="1100" dirty="0"/>
          </a:p>
        </p:txBody>
      </p:sp>
      <p:sp>
        <p:nvSpPr>
          <p:cNvPr id="21" name="Text 19"/>
          <p:cNvSpPr txBox="1"/>
          <p:nvPr/>
        </p:nvSpPr>
        <p:spPr>
          <a:xfrm>
            <a:off x="5870448" y="2862072"/>
            <a:ext cx="1874520" cy="228600"/>
          </a:xfrm>
          <a:prstGeom prst="rect">
            <a:avLst/>
          </a:prstGeom>
          <a:noFill/>
        </p:spPr>
        <p:txBody>
          <a:bodyPr wrap="square" lIns="0" tIns="0" rIns="0" bIns="0" rtlCol="0" anchor="ctr">
            <a:normAutofit/>
          </a:bodyPr>
          <a:lstStyle/>
          <a:p>
            <a:pPr marL="0" indent="0" algn="ctr">
              <a:buNone/>
            </a:pPr>
            <a:r>
              <a:rPr lang="en-US" sz="1100" dirty="0">
                <a:solidFill>
                  <a:srgbClr val="A7B4CE"/>
                </a:solidFill>
                <a:latin typeface="Aptos" pitchFamily="34" charset="0"/>
                <a:ea typeface="Aptos" pitchFamily="34" charset="-122"/>
                <a:cs typeface="Aptos" pitchFamily="34" charset="-120"/>
              </a:rPr>
              <a:t>0.9943</a:t>
            </a:r>
            <a:endParaRPr lang="en-US" sz="1100" dirty="0"/>
          </a:p>
        </p:txBody>
      </p:sp>
      <p:sp>
        <p:nvSpPr>
          <p:cNvPr id="22" name="Text 20"/>
          <p:cNvSpPr txBox="1"/>
          <p:nvPr/>
        </p:nvSpPr>
        <p:spPr>
          <a:xfrm>
            <a:off x="7909560" y="2862072"/>
            <a:ext cx="1572768" cy="228600"/>
          </a:xfrm>
          <a:prstGeom prst="rect">
            <a:avLst/>
          </a:prstGeom>
          <a:noFill/>
        </p:spPr>
        <p:txBody>
          <a:bodyPr wrap="square" lIns="0" tIns="0" rIns="0" bIns="0" rtlCol="0" anchor="ctr">
            <a:normAutofit/>
          </a:bodyPr>
          <a:lstStyle/>
          <a:p>
            <a:pPr marL="0" indent="0" algn="ctr">
              <a:buNone/>
            </a:pPr>
            <a:r>
              <a:rPr lang="en-US" sz="1100" dirty="0">
                <a:solidFill>
                  <a:srgbClr val="F4F7FF"/>
                </a:solidFill>
                <a:latin typeface="Aptos" pitchFamily="34" charset="0"/>
                <a:ea typeface="Aptos" pitchFamily="34" charset="-122"/>
                <a:cs typeface="Aptos" pitchFamily="34" charset="-120"/>
              </a:rPr>
              <a:t>0.9817</a:t>
            </a:r>
            <a:endParaRPr lang="en-US" sz="1100" dirty="0"/>
          </a:p>
        </p:txBody>
      </p:sp>
      <p:sp>
        <p:nvSpPr>
          <p:cNvPr id="23" name="Text 21"/>
          <p:cNvSpPr txBox="1"/>
          <p:nvPr/>
        </p:nvSpPr>
        <p:spPr>
          <a:xfrm>
            <a:off x="768096" y="3291840"/>
            <a:ext cx="1572768" cy="228600"/>
          </a:xfrm>
          <a:prstGeom prst="rect">
            <a:avLst/>
          </a:prstGeom>
          <a:noFill/>
        </p:spPr>
        <p:txBody>
          <a:bodyPr wrap="square" lIns="0" tIns="0" rIns="0" bIns="0" rtlCol="0" anchor="ctr">
            <a:normAutofit/>
          </a:bodyPr>
          <a:lstStyle/>
          <a:p>
            <a:pPr marL="0" indent="0" algn="l">
              <a:buNone/>
            </a:pPr>
            <a:r>
              <a:rPr lang="en-US" sz="1100" dirty="0">
                <a:solidFill>
                  <a:srgbClr val="A7B4CE"/>
                </a:solidFill>
                <a:latin typeface="Aptos" pitchFamily="34" charset="0"/>
                <a:ea typeface="Aptos" pitchFamily="34" charset="-122"/>
                <a:cs typeface="Aptos" pitchFamily="34" charset="-120"/>
              </a:rPr>
              <a:t>ICCAD3</a:t>
            </a:r>
            <a:endParaRPr lang="en-US" sz="1100" dirty="0"/>
          </a:p>
        </p:txBody>
      </p:sp>
      <p:sp>
        <p:nvSpPr>
          <p:cNvPr id="24" name="Text 22"/>
          <p:cNvSpPr txBox="1"/>
          <p:nvPr/>
        </p:nvSpPr>
        <p:spPr>
          <a:xfrm>
            <a:off x="2423160" y="3291840"/>
            <a:ext cx="1627632" cy="228600"/>
          </a:xfrm>
          <a:prstGeom prst="rect">
            <a:avLst/>
          </a:prstGeom>
          <a:noFill/>
        </p:spPr>
        <p:txBody>
          <a:bodyPr wrap="square" lIns="0" tIns="0" rIns="0" bIns="0" rtlCol="0" anchor="ctr">
            <a:normAutofit/>
          </a:bodyPr>
          <a:lstStyle/>
          <a:p>
            <a:pPr marL="0" indent="0" algn="ctr">
              <a:buNone/>
            </a:pPr>
            <a:r>
              <a:rPr lang="en-US" sz="1100" dirty="0">
                <a:solidFill>
                  <a:srgbClr val="A7B4CE"/>
                </a:solidFill>
                <a:latin typeface="Aptos" pitchFamily="34" charset="0"/>
                <a:ea typeface="Aptos" pitchFamily="34" charset="-122"/>
                <a:cs typeface="Aptos" pitchFamily="34" charset="-120"/>
              </a:rPr>
              <a:t>0.9675</a:t>
            </a:r>
            <a:endParaRPr lang="en-US" sz="1100" dirty="0"/>
          </a:p>
        </p:txBody>
      </p:sp>
      <p:sp>
        <p:nvSpPr>
          <p:cNvPr id="25" name="Text 23"/>
          <p:cNvSpPr txBox="1"/>
          <p:nvPr/>
        </p:nvSpPr>
        <p:spPr>
          <a:xfrm>
            <a:off x="4160520" y="3291840"/>
            <a:ext cx="1536192" cy="228600"/>
          </a:xfrm>
          <a:prstGeom prst="rect">
            <a:avLst/>
          </a:prstGeom>
          <a:noFill/>
        </p:spPr>
        <p:txBody>
          <a:bodyPr wrap="square" lIns="0" tIns="0" rIns="0" bIns="0" rtlCol="0" anchor="ctr">
            <a:normAutofit/>
          </a:bodyPr>
          <a:lstStyle/>
          <a:p>
            <a:pPr marL="0" indent="0" algn="ctr">
              <a:buNone/>
            </a:pPr>
            <a:r>
              <a:rPr lang="en-US" sz="1100" dirty="0">
                <a:solidFill>
                  <a:srgbClr val="F4F7FF"/>
                </a:solidFill>
                <a:latin typeface="Aptos" pitchFamily="34" charset="0"/>
                <a:ea typeface="Aptos" pitchFamily="34" charset="-122"/>
                <a:cs typeface="Aptos" pitchFamily="34" charset="-120"/>
              </a:rPr>
              <a:t>0.9618</a:t>
            </a:r>
            <a:endParaRPr lang="en-US" sz="1100" dirty="0"/>
          </a:p>
        </p:txBody>
      </p:sp>
      <p:sp>
        <p:nvSpPr>
          <p:cNvPr id="26" name="Text 24"/>
          <p:cNvSpPr txBox="1"/>
          <p:nvPr/>
        </p:nvSpPr>
        <p:spPr>
          <a:xfrm>
            <a:off x="5870448" y="3291840"/>
            <a:ext cx="1874520" cy="228600"/>
          </a:xfrm>
          <a:prstGeom prst="rect">
            <a:avLst/>
          </a:prstGeom>
          <a:noFill/>
        </p:spPr>
        <p:txBody>
          <a:bodyPr wrap="square" lIns="0" tIns="0" rIns="0" bIns="0" rtlCol="0" anchor="ctr">
            <a:normAutofit/>
          </a:bodyPr>
          <a:lstStyle/>
          <a:p>
            <a:pPr marL="0" indent="0" algn="ctr">
              <a:buNone/>
            </a:pPr>
            <a:r>
              <a:rPr lang="en-US" sz="1100" dirty="0">
                <a:solidFill>
                  <a:srgbClr val="A7B4CE"/>
                </a:solidFill>
                <a:latin typeface="Aptos" pitchFamily="34" charset="0"/>
                <a:ea typeface="Aptos" pitchFamily="34" charset="-122"/>
                <a:cs typeface="Aptos" pitchFamily="34" charset="-120"/>
              </a:rPr>
              <a:t>0.9572</a:t>
            </a:r>
            <a:endParaRPr lang="en-US" sz="1100" dirty="0"/>
          </a:p>
        </p:txBody>
      </p:sp>
      <p:sp>
        <p:nvSpPr>
          <p:cNvPr id="27" name="Text 25"/>
          <p:cNvSpPr txBox="1"/>
          <p:nvPr/>
        </p:nvSpPr>
        <p:spPr>
          <a:xfrm>
            <a:off x="7909560" y="3291840"/>
            <a:ext cx="1572768" cy="228600"/>
          </a:xfrm>
          <a:prstGeom prst="rect">
            <a:avLst/>
          </a:prstGeom>
          <a:noFill/>
        </p:spPr>
        <p:txBody>
          <a:bodyPr wrap="square" lIns="0" tIns="0" rIns="0" bIns="0" rtlCol="0" anchor="ctr">
            <a:normAutofit/>
          </a:bodyPr>
          <a:lstStyle/>
          <a:p>
            <a:pPr marL="0" indent="0" algn="ctr">
              <a:buNone/>
            </a:pPr>
            <a:r>
              <a:rPr lang="en-US" sz="1100" dirty="0">
                <a:solidFill>
                  <a:srgbClr val="F4F7FF"/>
                </a:solidFill>
                <a:latin typeface="Aptos" pitchFamily="34" charset="0"/>
                <a:ea typeface="Aptos" pitchFamily="34" charset="-122"/>
                <a:cs typeface="Aptos" pitchFamily="34" charset="-120"/>
              </a:rPr>
              <a:t>0.9429</a:t>
            </a:r>
            <a:endParaRPr lang="en-US" sz="1100" dirty="0"/>
          </a:p>
        </p:txBody>
      </p:sp>
      <p:sp>
        <p:nvSpPr>
          <p:cNvPr id="28" name="Text 26"/>
          <p:cNvSpPr txBox="1"/>
          <p:nvPr/>
        </p:nvSpPr>
        <p:spPr>
          <a:xfrm>
            <a:off x="768096" y="3721608"/>
            <a:ext cx="1572768" cy="228600"/>
          </a:xfrm>
          <a:prstGeom prst="rect">
            <a:avLst/>
          </a:prstGeom>
          <a:noFill/>
        </p:spPr>
        <p:txBody>
          <a:bodyPr wrap="square" lIns="0" tIns="0" rIns="0" bIns="0" rtlCol="0" anchor="ctr">
            <a:normAutofit/>
          </a:bodyPr>
          <a:lstStyle/>
          <a:p>
            <a:pPr marL="0" indent="0" algn="l">
              <a:buNone/>
            </a:pPr>
            <a:r>
              <a:rPr lang="en-US" sz="1100" dirty="0">
                <a:solidFill>
                  <a:srgbClr val="A7B4CE"/>
                </a:solidFill>
                <a:latin typeface="Aptos" pitchFamily="34" charset="0"/>
                <a:ea typeface="Aptos" pitchFamily="34" charset="-122"/>
                <a:cs typeface="Aptos" pitchFamily="34" charset="-120"/>
              </a:rPr>
              <a:t>ICCAD4</a:t>
            </a:r>
            <a:endParaRPr lang="en-US" sz="1100" dirty="0"/>
          </a:p>
        </p:txBody>
      </p:sp>
      <p:sp>
        <p:nvSpPr>
          <p:cNvPr id="29" name="Text 27"/>
          <p:cNvSpPr txBox="1"/>
          <p:nvPr/>
        </p:nvSpPr>
        <p:spPr>
          <a:xfrm>
            <a:off x="2423160" y="3721608"/>
            <a:ext cx="1627632" cy="228600"/>
          </a:xfrm>
          <a:prstGeom prst="rect">
            <a:avLst/>
          </a:prstGeom>
          <a:noFill/>
        </p:spPr>
        <p:txBody>
          <a:bodyPr wrap="square" lIns="0" tIns="0" rIns="0" bIns="0" rtlCol="0" anchor="ctr">
            <a:normAutofit/>
          </a:bodyPr>
          <a:lstStyle/>
          <a:p>
            <a:pPr marL="0" indent="0" algn="ctr">
              <a:buNone/>
            </a:pPr>
            <a:r>
              <a:rPr lang="en-US" sz="1100" dirty="0">
                <a:solidFill>
                  <a:srgbClr val="A7B4CE"/>
                </a:solidFill>
                <a:latin typeface="Aptos" pitchFamily="34" charset="0"/>
                <a:ea typeface="Aptos" pitchFamily="34" charset="-122"/>
                <a:cs typeface="Aptos" pitchFamily="34" charset="-120"/>
              </a:rPr>
              <a:t>0.9089</a:t>
            </a:r>
            <a:endParaRPr lang="en-US" sz="1100" dirty="0"/>
          </a:p>
        </p:txBody>
      </p:sp>
      <p:sp>
        <p:nvSpPr>
          <p:cNvPr id="30" name="Text 28"/>
          <p:cNvSpPr txBox="1"/>
          <p:nvPr/>
        </p:nvSpPr>
        <p:spPr>
          <a:xfrm>
            <a:off x="4160520" y="3721608"/>
            <a:ext cx="1536192" cy="228600"/>
          </a:xfrm>
          <a:prstGeom prst="rect">
            <a:avLst/>
          </a:prstGeom>
          <a:noFill/>
        </p:spPr>
        <p:txBody>
          <a:bodyPr wrap="square" lIns="0" tIns="0" rIns="0" bIns="0" rtlCol="0" anchor="ctr">
            <a:normAutofit/>
          </a:bodyPr>
          <a:lstStyle/>
          <a:p>
            <a:pPr marL="0" indent="0" algn="ctr">
              <a:buNone/>
            </a:pPr>
            <a:r>
              <a:rPr lang="en-US" sz="1100" dirty="0">
                <a:solidFill>
                  <a:srgbClr val="F4F7FF"/>
                </a:solidFill>
                <a:latin typeface="Aptos" pitchFamily="34" charset="0"/>
                <a:ea typeface="Aptos" pitchFamily="34" charset="-122"/>
                <a:cs typeface="Aptos" pitchFamily="34" charset="-120"/>
              </a:rPr>
              <a:t>0.8912</a:t>
            </a:r>
            <a:endParaRPr lang="en-US" sz="1100" dirty="0"/>
          </a:p>
        </p:txBody>
      </p:sp>
      <p:sp>
        <p:nvSpPr>
          <p:cNvPr id="31" name="Text 29"/>
          <p:cNvSpPr txBox="1"/>
          <p:nvPr/>
        </p:nvSpPr>
        <p:spPr>
          <a:xfrm>
            <a:off x="5870448" y="3721608"/>
            <a:ext cx="1874520" cy="228600"/>
          </a:xfrm>
          <a:prstGeom prst="rect">
            <a:avLst/>
          </a:prstGeom>
          <a:noFill/>
        </p:spPr>
        <p:txBody>
          <a:bodyPr wrap="square" lIns="0" tIns="0" rIns="0" bIns="0" rtlCol="0" anchor="ctr">
            <a:normAutofit/>
          </a:bodyPr>
          <a:lstStyle/>
          <a:p>
            <a:pPr marL="0" indent="0" algn="ctr">
              <a:buNone/>
            </a:pPr>
            <a:r>
              <a:rPr lang="en-US" sz="1100" dirty="0">
                <a:solidFill>
                  <a:srgbClr val="A7B4CE"/>
                </a:solidFill>
                <a:latin typeface="Aptos" pitchFamily="34" charset="0"/>
                <a:ea typeface="Aptos" pitchFamily="34" charset="-122"/>
                <a:cs typeface="Aptos" pitchFamily="34" charset="-120"/>
              </a:rPr>
              <a:t>0.8403</a:t>
            </a:r>
            <a:endParaRPr lang="en-US" sz="1100" dirty="0"/>
          </a:p>
        </p:txBody>
      </p:sp>
      <p:sp>
        <p:nvSpPr>
          <p:cNvPr id="32" name="Text 30"/>
          <p:cNvSpPr txBox="1"/>
          <p:nvPr/>
        </p:nvSpPr>
        <p:spPr>
          <a:xfrm>
            <a:off x="7909560" y="3721608"/>
            <a:ext cx="1572768" cy="228600"/>
          </a:xfrm>
          <a:prstGeom prst="rect">
            <a:avLst/>
          </a:prstGeom>
          <a:noFill/>
        </p:spPr>
        <p:txBody>
          <a:bodyPr wrap="square" lIns="0" tIns="0" rIns="0" bIns="0" rtlCol="0" anchor="ctr">
            <a:normAutofit/>
          </a:bodyPr>
          <a:lstStyle/>
          <a:p>
            <a:pPr marL="0" indent="0" algn="ctr">
              <a:buNone/>
            </a:pPr>
            <a:r>
              <a:rPr lang="en-US" sz="1100" dirty="0">
                <a:solidFill>
                  <a:srgbClr val="F4F7FF"/>
                </a:solidFill>
                <a:latin typeface="Aptos" pitchFamily="34" charset="0"/>
                <a:ea typeface="Aptos" pitchFamily="34" charset="-122"/>
                <a:cs typeface="Aptos" pitchFamily="34" charset="-120"/>
              </a:rPr>
              <a:t>0.9123</a:t>
            </a:r>
            <a:endParaRPr lang="en-US" sz="1100" dirty="0"/>
          </a:p>
        </p:txBody>
      </p:sp>
      <p:sp>
        <p:nvSpPr>
          <p:cNvPr id="33" name="Text 31"/>
          <p:cNvSpPr txBox="1"/>
          <p:nvPr/>
        </p:nvSpPr>
        <p:spPr>
          <a:xfrm>
            <a:off x="768096" y="4151376"/>
            <a:ext cx="1572768" cy="228600"/>
          </a:xfrm>
          <a:prstGeom prst="rect">
            <a:avLst/>
          </a:prstGeom>
          <a:noFill/>
        </p:spPr>
        <p:txBody>
          <a:bodyPr wrap="square" lIns="0" tIns="0" rIns="0" bIns="0" rtlCol="0" anchor="ctr">
            <a:normAutofit/>
          </a:bodyPr>
          <a:lstStyle/>
          <a:p>
            <a:pPr marL="0" indent="0" algn="l">
              <a:buNone/>
            </a:pPr>
            <a:r>
              <a:rPr lang="en-US" sz="1100" dirty="0">
                <a:solidFill>
                  <a:srgbClr val="A7B4CE"/>
                </a:solidFill>
                <a:latin typeface="Aptos" pitchFamily="34" charset="0"/>
                <a:ea typeface="Aptos" pitchFamily="34" charset="-122"/>
                <a:cs typeface="Aptos" pitchFamily="34" charset="-120"/>
              </a:rPr>
              <a:t>ICCAD5</a:t>
            </a:r>
            <a:endParaRPr lang="en-US" sz="1100" dirty="0"/>
          </a:p>
        </p:txBody>
      </p:sp>
      <p:sp>
        <p:nvSpPr>
          <p:cNvPr id="34" name="Text 32"/>
          <p:cNvSpPr txBox="1"/>
          <p:nvPr/>
        </p:nvSpPr>
        <p:spPr>
          <a:xfrm>
            <a:off x="2423160" y="4151376"/>
            <a:ext cx="1627632" cy="228600"/>
          </a:xfrm>
          <a:prstGeom prst="rect">
            <a:avLst/>
          </a:prstGeom>
          <a:noFill/>
        </p:spPr>
        <p:txBody>
          <a:bodyPr wrap="square" lIns="0" tIns="0" rIns="0" bIns="0" rtlCol="0" anchor="ctr">
            <a:normAutofit/>
          </a:bodyPr>
          <a:lstStyle/>
          <a:p>
            <a:pPr marL="0" indent="0" algn="ctr">
              <a:buNone/>
            </a:pPr>
            <a:r>
              <a:rPr lang="en-US" sz="1100" dirty="0">
                <a:solidFill>
                  <a:srgbClr val="A7B4CE"/>
                </a:solidFill>
                <a:latin typeface="Aptos" pitchFamily="34" charset="0"/>
                <a:ea typeface="Aptos" pitchFamily="34" charset="-122"/>
                <a:cs typeface="Aptos" pitchFamily="34" charset="-120"/>
              </a:rPr>
              <a:t>0.7502</a:t>
            </a:r>
            <a:endParaRPr lang="en-US" sz="1100" dirty="0"/>
          </a:p>
        </p:txBody>
      </p:sp>
      <p:sp>
        <p:nvSpPr>
          <p:cNvPr id="35" name="Text 33"/>
          <p:cNvSpPr txBox="1"/>
          <p:nvPr/>
        </p:nvSpPr>
        <p:spPr>
          <a:xfrm>
            <a:off x="4160520" y="4151376"/>
            <a:ext cx="1536192" cy="228600"/>
          </a:xfrm>
          <a:prstGeom prst="rect">
            <a:avLst/>
          </a:prstGeom>
          <a:noFill/>
        </p:spPr>
        <p:txBody>
          <a:bodyPr wrap="square" lIns="0" tIns="0" rIns="0" bIns="0" rtlCol="0" anchor="ctr">
            <a:normAutofit/>
          </a:bodyPr>
          <a:lstStyle/>
          <a:p>
            <a:pPr marL="0" indent="0" algn="ctr">
              <a:buNone/>
            </a:pPr>
            <a:r>
              <a:rPr lang="en-US" sz="1100" b="1" dirty="0">
                <a:solidFill>
                  <a:srgbClr val="F4F7FF"/>
                </a:solidFill>
                <a:latin typeface="Aptos" pitchFamily="34" charset="0"/>
                <a:ea typeface="Aptos" pitchFamily="34" charset="-122"/>
                <a:cs typeface="Aptos" pitchFamily="34" charset="-120"/>
              </a:rPr>
              <a:t>0.9407</a:t>
            </a:r>
            <a:endParaRPr lang="en-US" sz="1100" dirty="0"/>
          </a:p>
        </p:txBody>
      </p:sp>
      <p:sp>
        <p:nvSpPr>
          <p:cNvPr id="36" name="Text 34"/>
          <p:cNvSpPr txBox="1"/>
          <p:nvPr/>
        </p:nvSpPr>
        <p:spPr>
          <a:xfrm>
            <a:off x="5870448" y="4151376"/>
            <a:ext cx="1874520" cy="228600"/>
          </a:xfrm>
          <a:prstGeom prst="rect">
            <a:avLst/>
          </a:prstGeom>
          <a:noFill/>
        </p:spPr>
        <p:txBody>
          <a:bodyPr wrap="square" lIns="0" tIns="0" rIns="0" bIns="0" rtlCol="0" anchor="ctr">
            <a:normAutofit/>
          </a:bodyPr>
          <a:lstStyle/>
          <a:p>
            <a:pPr marL="0" indent="0" algn="ctr">
              <a:buNone/>
            </a:pPr>
            <a:r>
              <a:rPr lang="en-US" sz="1100" dirty="0">
                <a:solidFill>
                  <a:srgbClr val="A7B4CE"/>
                </a:solidFill>
                <a:latin typeface="Aptos" pitchFamily="34" charset="0"/>
                <a:ea typeface="Aptos" pitchFamily="34" charset="-122"/>
                <a:cs typeface="Aptos" pitchFamily="34" charset="-120"/>
              </a:rPr>
              <a:t>0.5248</a:t>
            </a:r>
            <a:endParaRPr lang="en-US" sz="1100" dirty="0"/>
          </a:p>
        </p:txBody>
      </p:sp>
      <p:sp>
        <p:nvSpPr>
          <p:cNvPr id="37" name="Text 35"/>
          <p:cNvSpPr txBox="1"/>
          <p:nvPr/>
        </p:nvSpPr>
        <p:spPr>
          <a:xfrm>
            <a:off x="7909560" y="4151376"/>
            <a:ext cx="1572768" cy="228600"/>
          </a:xfrm>
          <a:prstGeom prst="rect">
            <a:avLst/>
          </a:prstGeom>
          <a:noFill/>
        </p:spPr>
        <p:txBody>
          <a:bodyPr wrap="square" lIns="0" tIns="0" rIns="0" bIns="0" rtlCol="0" anchor="ctr">
            <a:normAutofit/>
          </a:bodyPr>
          <a:lstStyle/>
          <a:p>
            <a:pPr marL="0" indent="0" algn="ctr">
              <a:buNone/>
            </a:pPr>
            <a:r>
              <a:rPr lang="en-US" sz="1100" b="1" dirty="0">
                <a:solidFill>
                  <a:srgbClr val="F4F7FF"/>
                </a:solidFill>
                <a:latin typeface="Aptos" pitchFamily="34" charset="0"/>
                <a:ea typeface="Aptos" pitchFamily="34" charset="-122"/>
                <a:cs typeface="Aptos" pitchFamily="34" charset="-120"/>
              </a:rPr>
              <a:t>0.9546</a:t>
            </a:r>
            <a:endParaRPr lang="en-US" sz="1100" dirty="0"/>
          </a:p>
        </p:txBody>
      </p:sp>
      <p:sp>
        <p:nvSpPr>
          <p:cNvPr id="38" name="Shape 36"/>
          <p:cNvSpPr/>
          <p:nvPr/>
        </p:nvSpPr>
        <p:spPr>
          <a:xfrm>
            <a:off x="804672" y="4544568"/>
            <a:ext cx="10469880" cy="365760"/>
          </a:xfrm>
          <a:prstGeom prst="roundRect">
            <a:avLst>
              <a:gd name="adj" fmla="val 20000"/>
            </a:avLst>
          </a:prstGeom>
          <a:solidFill>
            <a:srgbClr val="1C3042"/>
          </a:solidFill>
          <a:ln w="10160">
            <a:solidFill>
              <a:srgbClr val="1C3042"/>
            </a:solidFill>
            <a:prstDash val="solid"/>
          </a:ln>
        </p:spPr>
      </p:sp>
      <p:sp>
        <p:nvSpPr>
          <p:cNvPr id="39" name="Text 37"/>
          <p:cNvSpPr txBox="1"/>
          <p:nvPr/>
        </p:nvSpPr>
        <p:spPr>
          <a:xfrm>
            <a:off x="768096" y="4581144"/>
            <a:ext cx="1572768" cy="228600"/>
          </a:xfrm>
          <a:prstGeom prst="rect">
            <a:avLst/>
          </a:prstGeom>
          <a:noFill/>
        </p:spPr>
        <p:txBody>
          <a:bodyPr wrap="square" lIns="0" tIns="0" rIns="0" bIns="0" rtlCol="0" anchor="ctr">
            <a:normAutofit/>
          </a:bodyPr>
          <a:lstStyle/>
          <a:p>
            <a:pPr marL="0" indent="0" algn="l">
              <a:buNone/>
            </a:pPr>
            <a:r>
              <a:rPr lang="en-US" sz="1100" b="1" dirty="0">
                <a:solidFill>
                  <a:srgbClr val="F4F7FF"/>
                </a:solidFill>
                <a:latin typeface="Aptos" pitchFamily="34" charset="0"/>
                <a:ea typeface="Aptos" pitchFamily="34" charset="-122"/>
                <a:cs typeface="Aptos" pitchFamily="34" charset="-120"/>
              </a:rPr>
              <a:t>Macro avg.</a:t>
            </a:r>
            <a:endParaRPr lang="en-US" sz="1100" dirty="0"/>
          </a:p>
        </p:txBody>
      </p:sp>
      <p:sp>
        <p:nvSpPr>
          <p:cNvPr id="40" name="Text 38"/>
          <p:cNvSpPr txBox="1"/>
          <p:nvPr/>
        </p:nvSpPr>
        <p:spPr>
          <a:xfrm>
            <a:off x="2423160" y="4581144"/>
            <a:ext cx="1627632" cy="228600"/>
          </a:xfrm>
          <a:prstGeom prst="rect">
            <a:avLst/>
          </a:prstGeom>
          <a:noFill/>
        </p:spPr>
        <p:txBody>
          <a:bodyPr wrap="square" lIns="0" tIns="0" rIns="0" bIns="0" rtlCol="0" anchor="ctr">
            <a:normAutofit/>
          </a:bodyPr>
          <a:lstStyle/>
          <a:p>
            <a:pPr marL="0" indent="0" algn="ctr">
              <a:buNone/>
            </a:pPr>
            <a:r>
              <a:rPr lang="en-US" sz="1100" b="1" dirty="0">
                <a:solidFill>
                  <a:srgbClr val="F4F7FF"/>
                </a:solidFill>
                <a:latin typeface="Aptos" pitchFamily="34" charset="0"/>
                <a:ea typeface="Aptos" pitchFamily="34" charset="-122"/>
                <a:cs typeface="Aptos" pitchFamily="34" charset="-120"/>
              </a:rPr>
              <a:t>0.8854</a:t>
            </a:r>
            <a:endParaRPr lang="en-US" sz="1100" dirty="0"/>
          </a:p>
        </p:txBody>
      </p:sp>
      <p:sp>
        <p:nvSpPr>
          <p:cNvPr id="41" name="Text 39"/>
          <p:cNvSpPr txBox="1"/>
          <p:nvPr/>
        </p:nvSpPr>
        <p:spPr>
          <a:xfrm>
            <a:off x="4160520" y="4581144"/>
            <a:ext cx="1536192" cy="228600"/>
          </a:xfrm>
          <a:prstGeom prst="rect">
            <a:avLst/>
          </a:prstGeom>
          <a:noFill/>
        </p:spPr>
        <p:txBody>
          <a:bodyPr wrap="square" lIns="0" tIns="0" rIns="0" bIns="0" rtlCol="0" anchor="ctr">
            <a:normAutofit/>
          </a:bodyPr>
          <a:lstStyle/>
          <a:p>
            <a:pPr marL="0" indent="0" algn="ctr">
              <a:buNone/>
            </a:pPr>
            <a:r>
              <a:rPr lang="en-US" sz="1100" b="1" dirty="0">
                <a:solidFill>
                  <a:srgbClr val="F4F7FF"/>
                </a:solidFill>
                <a:latin typeface="Aptos" pitchFamily="34" charset="0"/>
                <a:ea typeface="Aptos" pitchFamily="34" charset="-122"/>
                <a:cs typeface="Aptos" pitchFamily="34" charset="-120"/>
              </a:rPr>
              <a:t>0.9141</a:t>
            </a:r>
            <a:endParaRPr lang="en-US" sz="1100" dirty="0"/>
          </a:p>
        </p:txBody>
      </p:sp>
      <p:sp>
        <p:nvSpPr>
          <p:cNvPr id="42" name="Text 40"/>
          <p:cNvSpPr txBox="1"/>
          <p:nvPr/>
        </p:nvSpPr>
        <p:spPr>
          <a:xfrm>
            <a:off x="5870448" y="4581144"/>
            <a:ext cx="1874520" cy="228600"/>
          </a:xfrm>
          <a:prstGeom prst="rect">
            <a:avLst/>
          </a:prstGeom>
          <a:noFill/>
        </p:spPr>
        <p:txBody>
          <a:bodyPr wrap="square" lIns="0" tIns="0" rIns="0" bIns="0" rtlCol="0" anchor="ctr">
            <a:normAutofit/>
          </a:bodyPr>
          <a:lstStyle/>
          <a:p>
            <a:pPr marL="0" indent="0" algn="ctr">
              <a:buNone/>
            </a:pPr>
            <a:r>
              <a:rPr lang="en-US" sz="1100" b="1" dirty="0">
                <a:solidFill>
                  <a:srgbClr val="F4F7FF"/>
                </a:solidFill>
                <a:latin typeface="Aptos" pitchFamily="34" charset="0"/>
                <a:ea typeface="Aptos" pitchFamily="34" charset="-122"/>
                <a:cs typeface="Aptos" pitchFamily="34" charset="-120"/>
              </a:rPr>
              <a:t>0.7893</a:t>
            </a:r>
            <a:endParaRPr lang="en-US" sz="1100" dirty="0"/>
          </a:p>
        </p:txBody>
      </p:sp>
      <p:sp>
        <p:nvSpPr>
          <p:cNvPr id="43" name="Text 41"/>
          <p:cNvSpPr txBox="1"/>
          <p:nvPr/>
        </p:nvSpPr>
        <p:spPr>
          <a:xfrm>
            <a:off x="7909560" y="4581144"/>
            <a:ext cx="1572768" cy="228600"/>
          </a:xfrm>
          <a:prstGeom prst="rect">
            <a:avLst/>
          </a:prstGeom>
          <a:noFill/>
        </p:spPr>
        <p:txBody>
          <a:bodyPr wrap="square" lIns="0" tIns="0" rIns="0" bIns="0" rtlCol="0" anchor="ctr">
            <a:normAutofit/>
          </a:bodyPr>
          <a:lstStyle/>
          <a:p>
            <a:pPr marL="0" indent="0" algn="ctr">
              <a:buNone/>
            </a:pPr>
            <a:r>
              <a:rPr lang="en-US" sz="1100" b="1" dirty="0">
                <a:solidFill>
                  <a:srgbClr val="F4F7FF"/>
                </a:solidFill>
                <a:latin typeface="Aptos" pitchFamily="34" charset="0"/>
                <a:ea typeface="Aptos" pitchFamily="34" charset="-122"/>
                <a:cs typeface="Aptos" pitchFamily="34" charset="-120"/>
              </a:rPr>
              <a:t>0.8831</a:t>
            </a:r>
            <a:endParaRPr lang="en-US" sz="1100" dirty="0"/>
          </a:p>
        </p:txBody>
      </p:sp>
      <p:sp>
        <p:nvSpPr>
          <p:cNvPr id="44" name="Shape 42"/>
          <p:cNvSpPr/>
          <p:nvPr/>
        </p:nvSpPr>
        <p:spPr>
          <a:xfrm>
            <a:off x="658368" y="5522976"/>
            <a:ext cx="10881360" cy="539496"/>
          </a:xfrm>
          <a:prstGeom prst="roundRect">
            <a:avLst>
              <a:gd name="adj" fmla="val 13559"/>
            </a:avLst>
          </a:prstGeom>
          <a:solidFill>
            <a:srgbClr val="35291F"/>
          </a:solidFill>
          <a:ln w="10160">
            <a:solidFill>
              <a:srgbClr val="705331"/>
            </a:solidFill>
            <a:prstDash val="solid"/>
          </a:ln>
        </p:spPr>
      </p:sp>
      <p:sp>
        <p:nvSpPr>
          <p:cNvPr id="45" name="Text 43"/>
          <p:cNvSpPr txBox="1"/>
          <p:nvPr/>
        </p:nvSpPr>
        <p:spPr>
          <a:xfrm>
            <a:off x="868680" y="5669280"/>
            <a:ext cx="10332720" cy="201168"/>
          </a:xfrm>
          <a:prstGeom prst="rect">
            <a:avLst/>
          </a:prstGeom>
          <a:noFill/>
        </p:spPr>
        <p:txBody>
          <a:bodyPr wrap="square" lIns="0" tIns="0" rIns="0" bIns="0" rtlCol="0" anchor="ctr">
            <a:normAutofit/>
          </a:bodyPr>
          <a:lstStyle/>
          <a:p>
            <a:pPr marL="0" indent="0" algn="l">
              <a:buNone/>
            </a:pPr>
            <a:r>
              <a:rPr lang="en-US" sz="1100" b="1" dirty="0">
                <a:solidFill>
                  <a:srgbClr val="FFB65E"/>
                </a:solidFill>
                <a:latin typeface="Aptos" pitchFamily="34" charset="0"/>
                <a:ea typeface="Aptos" pitchFamily="34" charset="-122"/>
                <a:cs typeface="Aptos" pitchFamily="34" charset="-120"/>
              </a:rPr>
              <a:t>Interpretation: tuned CNN improves macro BA by 2.87 pp and macro specificity by 9.37 pp, but macro precision, recall and F1 decrease.</a:t>
            </a:r>
            <a:endParaRPr lang="en-US" sz="1100" dirty="0"/>
          </a:p>
        </p:txBody>
      </p:sp>
      <p:sp>
        <p:nvSpPr>
          <p:cNvPr id="46" name="Slide Number Placeholder 0"/>
          <p:cNvSpPr>
            <a:spLocks noGrp="1"/>
          </p:cNvSpPr>
          <p:nvPr>
            <p:ph type="sldNum" sz="quarter" idx="4294967295"/>
          </p:nvPr>
        </p:nvSpPr>
        <p:spPr>
          <a:xfrm>
            <a:off x="11292840" y="6510528"/>
            <a:ext cx="800000" cy="300000"/>
          </a:xfrm>
          <a:prstGeom prst="rect">
            <a:avLst/>
          </a:prstGeom>
        </p:spPr>
        <p:txBody>
          <a:bodyPr/>
          <a:lstStyle>
            <a:lvl1pPr>
              <a:defRPr sz="800">
                <a:solidFill>
                  <a:srgbClr val="8090B0"/>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0"/>
          <p:cNvSpPr txBox="1"/>
          <p:nvPr/>
        </p:nvSpPr>
        <p:spPr>
          <a:xfrm>
            <a:off x="621792" y="292608"/>
            <a:ext cx="4572000" cy="219456"/>
          </a:xfrm>
          <a:prstGeom prst="rect">
            <a:avLst/>
          </a:prstGeom>
          <a:noFill/>
        </p:spPr>
        <p:txBody>
          <a:bodyPr wrap="square" lIns="0" tIns="0" rIns="0" bIns="0" rtlCol="0" anchor="ctr">
            <a:normAutofit/>
          </a:bodyPr>
          <a:lstStyle/>
          <a:p>
            <a:pPr marL="0" indent="0" algn="l">
              <a:buNone/>
            </a:pPr>
            <a:r>
              <a:rPr lang="en-US" sz="900" b="1" kern="0" spc="180" dirty="0">
                <a:solidFill>
                  <a:srgbClr val="36D6C5"/>
                </a:solidFill>
                <a:latin typeface="Aptos" pitchFamily="34" charset="0"/>
                <a:ea typeface="Aptos" pitchFamily="34" charset="-122"/>
                <a:cs typeface="Aptos" pitchFamily="34" charset="-120"/>
              </a:rPr>
              <a:t>09  •  ERROR ANALYSIS</a:t>
            </a:r>
            <a:endParaRPr lang="en-US" sz="900" dirty="0"/>
          </a:p>
        </p:txBody>
      </p:sp>
      <p:sp>
        <p:nvSpPr>
          <p:cNvPr id="3" name="Text 1"/>
          <p:cNvSpPr txBox="1"/>
          <p:nvPr/>
        </p:nvSpPr>
        <p:spPr>
          <a:xfrm>
            <a:off x="621792" y="612648"/>
            <a:ext cx="10972800" cy="475488"/>
          </a:xfrm>
          <a:prstGeom prst="rect">
            <a:avLst/>
          </a:prstGeom>
          <a:noFill/>
        </p:spPr>
        <p:txBody>
          <a:bodyPr wrap="square" lIns="0" tIns="0" rIns="0" bIns="0" rtlCol="0" anchor="ctr">
            <a:normAutofit/>
          </a:bodyPr>
          <a:lstStyle/>
          <a:p>
            <a:pPr marL="0" indent="0" algn="l">
              <a:buNone/>
            </a:pPr>
            <a:r>
              <a:rPr lang="en-US" sz="2700" b="1" dirty="0">
                <a:solidFill>
                  <a:srgbClr val="F4F7FF"/>
                </a:solidFill>
                <a:latin typeface="Aptos" pitchFamily="34" charset="0"/>
                <a:ea typeface="Aptos" pitchFamily="34" charset="-122"/>
                <a:cs typeface="Aptos" pitchFamily="34" charset="-120"/>
              </a:rPr>
              <a:t>Confusion matrices: where errors remain</a:t>
            </a:r>
            <a:endParaRPr lang="en-US" sz="2700" dirty="0"/>
          </a:p>
        </p:txBody>
      </p:sp>
      <p:sp>
        <p:nvSpPr>
          <p:cNvPr id="4" name="Text 2"/>
          <p:cNvSpPr txBox="1"/>
          <p:nvPr/>
        </p:nvSpPr>
        <p:spPr>
          <a:xfrm>
            <a:off x="640080" y="1106424"/>
            <a:ext cx="10789920" cy="292608"/>
          </a:xfrm>
          <a:prstGeom prst="rect">
            <a:avLst/>
          </a:prstGeom>
          <a:noFill/>
        </p:spPr>
        <p:txBody>
          <a:bodyPr wrap="square" lIns="0" tIns="0" rIns="0" bIns="0" rtlCol="0" anchor="ctr">
            <a:normAutofit/>
          </a:bodyPr>
          <a:lstStyle/>
          <a:p>
            <a:pPr marL="0" indent="0" algn="l">
              <a:buNone/>
            </a:pPr>
            <a:r>
              <a:rPr lang="en-US" sz="1200" dirty="0">
                <a:solidFill>
                  <a:srgbClr val="A7B4CE"/>
                </a:solidFill>
                <a:latin typeface="Aptos" pitchFamily="34" charset="0"/>
                <a:ea typeface="Aptos" pitchFamily="34" charset="-122"/>
                <a:cs typeface="Aptos" pitchFamily="34" charset="-120"/>
              </a:rPr>
              <a:t>Final test counts, with hotspot as the positive class; TP/FP/FN/TN are reported for each benchmark.</a:t>
            </a:r>
            <a:endParaRPr lang="en-US" sz="1200" dirty="0"/>
          </a:p>
        </p:txBody>
      </p:sp>
      <p:sp>
        <p:nvSpPr>
          <p:cNvPr id="6" name="Shape 4"/>
          <p:cNvSpPr/>
          <p:nvPr/>
        </p:nvSpPr>
        <p:spPr>
          <a:xfrm>
            <a:off x="658368" y="1682496"/>
            <a:ext cx="5321808" cy="3456432"/>
          </a:xfrm>
          <a:prstGeom prst="roundRect">
            <a:avLst>
              <a:gd name="adj" fmla="val 2116"/>
            </a:avLst>
          </a:prstGeom>
          <a:solidFill>
            <a:srgbClr val="131D31"/>
          </a:solidFill>
          <a:ln w="10160">
            <a:solidFill>
              <a:srgbClr val="2B3B58"/>
            </a:solidFill>
            <a:prstDash val="solid"/>
          </a:ln>
        </p:spPr>
      </p:sp>
      <p:sp>
        <p:nvSpPr>
          <p:cNvPr id="7" name="Text 5"/>
          <p:cNvSpPr txBox="1"/>
          <p:nvPr/>
        </p:nvSpPr>
        <p:spPr>
          <a:xfrm>
            <a:off x="877824" y="1874520"/>
            <a:ext cx="2286000" cy="201168"/>
          </a:xfrm>
          <a:prstGeom prst="rect">
            <a:avLst/>
          </a:prstGeom>
          <a:noFill/>
        </p:spPr>
        <p:txBody>
          <a:bodyPr wrap="square" lIns="0" tIns="0" rIns="0" bIns="0" rtlCol="0" anchor="ctr">
            <a:normAutofit/>
          </a:bodyPr>
          <a:lstStyle/>
          <a:p>
            <a:pPr marL="0" indent="0" algn="l">
              <a:buNone/>
            </a:pPr>
            <a:r>
              <a:rPr lang="en-US" sz="1000" b="1" kern="0" spc="100" dirty="0">
                <a:solidFill>
                  <a:srgbClr val="6B9BFF"/>
                </a:solidFill>
                <a:latin typeface="Aptos" pitchFamily="34" charset="0"/>
                <a:ea typeface="Aptos" pitchFamily="34" charset="-122"/>
                <a:cs typeface="Aptos" pitchFamily="34" charset="-120"/>
              </a:rPr>
              <a:t>BASELINE • TEST</a:t>
            </a:r>
            <a:endParaRPr lang="en-US" sz="1000" dirty="0"/>
          </a:p>
        </p:txBody>
      </p:sp>
      <p:sp>
        <p:nvSpPr>
          <p:cNvPr id="8" name="Text 6"/>
          <p:cNvSpPr txBox="1"/>
          <p:nvPr/>
        </p:nvSpPr>
        <p:spPr>
          <a:xfrm>
            <a:off x="896112" y="2212848"/>
            <a:ext cx="822960" cy="164592"/>
          </a:xfrm>
          <a:prstGeom prst="rect">
            <a:avLst/>
          </a:prstGeom>
          <a:noFill/>
        </p:spPr>
        <p:txBody>
          <a:bodyPr wrap="square" lIns="0" tIns="0" rIns="0" bIns="0" rtlCol="0" anchor="ctr">
            <a:normAutofit/>
          </a:bodyPr>
          <a:lstStyle/>
          <a:p>
            <a:pPr marL="0" indent="0" algn="l">
              <a:buNone/>
            </a:pPr>
            <a:r>
              <a:rPr lang="en-US" sz="900" b="1" dirty="0">
                <a:solidFill>
                  <a:srgbClr val="36D6C5"/>
                </a:solidFill>
                <a:latin typeface="Aptos" pitchFamily="34" charset="0"/>
                <a:ea typeface="Aptos" pitchFamily="34" charset="-122"/>
                <a:cs typeface="Aptos" pitchFamily="34" charset="-120"/>
              </a:rPr>
              <a:t>BM</a:t>
            </a:r>
            <a:endParaRPr lang="en-US" sz="900" dirty="0"/>
          </a:p>
        </p:txBody>
      </p:sp>
      <p:sp>
        <p:nvSpPr>
          <p:cNvPr id="9" name="Text 7"/>
          <p:cNvSpPr txBox="1"/>
          <p:nvPr/>
        </p:nvSpPr>
        <p:spPr>
          <a:xfrm>
            <a:off x="1792224" y="2212848"/>
            <a:ext cx="566928" cy="164592"/>
          </a:xfrm>
          <a:prstGeom prst="rect">
            <a:avLst/>
          </a:prstGeom>
          <a:noFill/>
        </p:spPr>
        <p:txBody>
          <a:bodyPr wrap="square" lIns="0" tIns="0" rIns="0" bIns="0" rtlCol="0" anchor="ctr">
            <a:normAutofit/>
          </a:bodyPr>
          <a:lstStyle/>
          <a:p>
            <a:pPr marL="0" indent="0" algn="ctr">
              <a:buNone/>
            </a:pPr>
            <a:r>
              <a:rPr lang="en-US" sz="900" b="1" dirty="0">
                <a:solidFill>
                  <a:srgbClr val="36D6C5"/>
                </a:solidFill>
                <a:latin typeface="Aptos" pitchFamily="34" charset="0"/>
                <a:ea typeface="Aptos" pitchFamily="34" charset="-122"/>
                <a:cs typeface="Aptos" pitchFamily="34" charset="-120"/>
              </a:rPr>
              <a:t>TP</a:t>
            </a:r>
            <a:endParaRPr lang="en-US" sz="900" dirty="0"/>
          </a:p>
        </p:txBody>
      </p:sp>
      <p:sp>
        <p:nvSpPr>
          <p:cNvPr id="10" name="Text 8"/>
          <p:cNvSpPr txBox="1"/>
          <p:nvPr/>
        </p:nvSpPr>
        <p:spPr>
          <a:xfrm>
            <a:off x="2423160" y="2212848"/>
            <a:ext cx="694944" cy="164592"/>
          </a:xfrm>
          <a:prstGeom prst="rect">
            <a:avLst/>
          </a:prstGeom>
          <a:noFill/>
        </p:spPr>
        <p:txBody>
          <a:bodyPr wrap="square" lIns="0" tIns="0" rIns="0" bIns="0" rtlCol="0" anchor="ctr">
            <a:normAutofit/>
          </a:bodyPr>
          <a:lstStyle/>
          <a:p>
            <a:pPr marL="0" indent="0" algn="ctr">
              <a:buNone/>
            </a:pPr>
            <a:r>
              <a:rPr lang="en-US" sz="900" b="1" dirty="0">
                <a:solidFill>
                  <a:srgbClr val="36D6C5"/>
                </a:solidFill>
                <a:latin typeface="Aptos" pitchFamily="34" charset="0"/>
                <a:ea typeface="Aptos" pitchFamily="34" charset="-122"/>
                <a:cs typeface="Aptos" pitchFamily="34" charset="-120"/>
              </a:rPr>
              <a:t>FP</a:t>
            </a:r>
            <a:endParaRPr lang="en-US" sz="900" dirty="0"/>
          </a:p>
        </p:txBody>
      </p:sp>
      <p:sp>
        <p:nvSpPr>
          <p:cNvPr id="11" name="Text 9"/>
          <p:cNvSpPr txBox="1"/>
          <p:nvPr/>
        </p:nvSpPr>
        <p:spPr>
          <a:xfrm>
            <a:off x="3154680" y="2212848"/>
            <a:ext cx="594360" cy="164592"/>
          </a:xfrm>
          <a:prstGeom prst="rect">
            <a:avLst/>
          </a:prstGeom>
          <a:noFill/>
        </p:spPr>
        <p:txBody>
          <a:bodyPr wrap="square" lIns="0" tIns="0" rIns="0" bIns="0" rtlCol="0" anchor="ctr">
            <a:normAutofit/>
          </a:bodyPr>
          <a:lstStyle/>
          <a:p>
            <a:pPr marL="0" indent="0" algn="ctr">
              <a:buNone/>
            </a:pPr>
            <a:r>
              <a:rPr lang="en-US" sz="900" b="1" dirty="0">
                <a:solidFill>
                  <a:srgbClr val="36D6C5"/>
                </a:solidFill>
                <a:latin typeface="Aptos" pitchFamily="34" charset="0"/>
                <a:ea typeface="Aptos" pitchFamily="34" charset="-122"/>
                <a:cs typeface="Aptos" pitchFamily="34" charset="-120"/>
              </a:rPr>
              <a:t>FN</a:t>
            </a:r>
            <a:endParaRPr lang="en-US" sz="900" dirty="0"/>
          </a:p>
        </p:txBody>
      </p:sp>
      <p:sp>
        <p:nvSpPr>
          <p:cNvPr id="12" name="Text 10"/>
          <p:cNvSpPr txBox="1"/>
          <p:nvPr/>
        </p:nvSpPr>
        <p:spPr>
          <a:xfrm>
            <a:off x="3840480" y="2212848"/>
            <a:ext cx="1645920" cy="164592"/>
          </a:xfrm>
          <a:prstGeom prst="rect">
            <a:avLst/>
          </a:prstGeom>
          <a:noFill/>
        </p:spPr>
        <p:txBody>
          <a:bodyPr wrap="square" lIns="0" tIns="0" rIns="0" bIns="0" rtlCol="0" anchor="ctr">
            <a:normAutofit/>
          </a:bodyPr>
          <a:lstStyle/>
          <a:p>
            <a:pPr marL="0" indent="0" algn="ctr">
              <a:buNone/>
            </a:pPr>
            <a:r>
              <a:rPr lang="en-US" sz="900" b="1" dirty="0">
                <a:solidFill>
                  <a:srgbClr val="36D6C5"/>
                </a:solidFill>
                <a:latin typeface="Aptos" pitchFamily="34" charset="0"/>
                <a:ea typeface="Aptos" pitchFamily="34" charset="-122"/>
                <a:cs typeface="Aptos" pitchFamily="34" charset="-120"/>
              </a:rPr>
              <a:t>TN</a:t>
            </a:r>
            <a:endParaRPr lang="en-US" sz="900" dirty="0"/>
          </a:p>
        </p:txBody>
      </p:sp>
      <p:sp>
        <p:nvSpPr>
          <p:cNvPr id="13" name="Shape 11"/>
          <p:cNvSpPr/>
          <p:nvPr/>
        </p:nvSpPr>
        <p:spPr>
          <a:xfrm>
            <a:off x="868680" y="2450592"/>
            <a:ext cx="4892040" cy="0"/>
          </a:xfrm>
          <a:prstGeom prst="line">
            <a:avLst/>
          </a:prstGeom>
          <a:noFill/>
          <a:ln w="12700">
            <a:solidFill>
              <a:srgbClr val="2B3B58"/>
            </a:solidFill>
            <a:prstDash val="solid"/>
          </a:ln>
        </p:spPr>
      </p:sp>
      <p:sp>
        <p:nvSpPr>
          <p:cNvPr id="14" name="Text 12"/>
          <p:cNvSpPr txBox="1"/>
          <p:nvPr/>
        </p:nvSpPr>
        <p:spPr>
          <a:xfrm>
            <a:off x="896112" y="2587752"/>
            <a:ext cx="822960" cy="192024"/>
          </a:xfrm>
          <a:prstGeom prst="rect">
            <a:avLst/>
          </a:prstGeom>
          <a:noFill/>
        </p:spPr>
        <p:txBody>
          <a:bodyPr wrap="square" lIns="0" tIns="0" rIns="0" bIns="0" rtlCol="0" anchor="ctr">
            <a:normAutofit/>
          </a:bodyPr>
          <a:lstStyle/>
          <a:p>
            <a:pPr marL="0" indent="0" algn="l">
              <a:buNone/>
            </a:pPr>
            <a:r>
              <a:rPr lang="en-US" sz="1000" dirty="0">
                <a:solidFill>
                  <a:srgbClr val="F4F7FF"/>
                </a:solidFill>
                <a:latin typeface="Aptos" pitchFamily="34" charset="0"/>
                <a:ea typeface="Aptos" pitchFamily="34" charset="-122"/>
                <a:cs typeface="Aptos" pitchFamily="34" charset="-120"/>
              </a:rPr>
              <a:t>1</a:t>
            </a:r>
            <a:endParaRPr lang="en-US" sz="1000" dirty="0"/>
          </a:p>
        </p:txBody>
      </p:sp>
      <p:sp>
        <p:nvSpPr>
          <p:cNvPr id="15" name="Text 13"/>
          <p:cNvSpPr txBox="1"/>
          <p:nvPr/>
        </p:nvSpPr>
        <p:spPr>
          <a:xfrm>
            <a:off x="1792224" y="2587752"/>
            <a:ext cx="566928"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226</a:t>
            </a:r>
            <a:endParaRPr lang="en-US" sz="1000" dirty="0"/>
          </a:p>
        </p:txBody>
      </p:sp>
      <p:sp>
        <p:nvSpPr>
          <p:cNvPr id="16" name="Text 14"/>
          <p:cNvSpPr txBox="1"/>
          <p:nvPr/>
        </p:nvSpPr>
        <p:spPr>
          <a:xfrm>
            <a:off x="2423160" y="2587752"/>
            <a:ext cx="694944"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1731</a:t>
            </a:r>
            <a:endParaRPr lang="en-US" sz="1000" dirty="0"/>
          </a:p>
        </p:txBody>
      </p:sp>
      <p:sp>
        <p:nvSpPr>
          <p:cNvPr id="17" name="Text 15"/>
          <p:cNvSpPr txBox="1"/>
          <p:nvPr/>
        </p:nvSpPr>
        <p:spPr>
          <a:xfrm>
            <a:off x="3154680" y="2587752"/>
            <a:ext cx="59436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0</a:t>
            </a:r>
            <a:endParaRPr lang="en-US" sz="1000" dirty="0"/>
          </a:p>
        </p:txBody>
      </p:sp>
      <p:sp>
        <p:nvSpPr>
          <p:cNvPr id="18" name="Text 16"/>
          <p:cNvSpPr txBox="1"/>
          <p:nvPr/>
        </p:nvSpPr>
        <p:spPr>
          <a:xfrm>
            <a:off x="3840480" y="2587752"/>
            <a:ext cx="164592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2948</a:t>
            </a:r>
            <a:endParaRPr lang="en-US" sz="1000" dirty="0"/>
          </a:p>
        </p:txBody>
      </p:sp>
      <p:sp>
        <p:nvSpPr>
          <p:cNvPr id="19" name="Text 17"/>
          <p:cNvSpPr txBox="1"/>
          <p:nvPr/>
        </p:nvSpPr>
        <p:spPr>
          <a:xfrm>
            <a:off x="896112" y="3026664"/>
            <a:ext cx="822960" cy="192024"/>
          </a:xfrm>
          <a:prstGeom prst="rect">
            <a:avLst/>
          </a:prstGeom>
          <a:noFill/>
        </p:spPr>
        <p:txBody>
          <a:bodyPr wrap="square" lIns="0" tIns="0" rIns="0" bIns="0" rtlCol="0" anchor="ctr">
            <a:normAutofit/>
          </a:bodyPr>
          <a:lstStyle/>
          <a:p>
            <a:pPr marL="0" indent="0" algn="l">
              <a:buNone/>
            </a:pPr>
            <a:r>
              <a:rPr lang="en-US" sz="1000" dirty="0">
                <a:solidFill>
                  <a:srgbClr val="F4F7FF"/>
                </a:solidFill>
                <a:latin typeface="Aptos" pitchFamily="34" charset="0"/>
                <a:ea typeface="Aptos" pitchFamily="34" charset="-122"/>
                <a:cs typeface="Aptos" pitchFamily="34" charset="-120"/>
              </a:rPr>
              <a:t>2</a:t>
            </a:r>
            <a:endParaRPr lang="en-US" sz="1000" dirty="0"/>
          </a:p>
        </p:txBody>
      </p:sp>
      <p:sp>
        <p:nvSpPr>
          <p:cNvPr id="20" name="Text 18"/>
          <p:cNvSpPr txBox="1"/>
          <p:nvPr/>
        </p:nvSpPr>
        <p:spPr>
          <a:xfrm>
            <a:off x="1792224" y="3026664"/>
            <a:ext cx="566928"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486</a:t>
            </a:r>
            <a:endParaRPr lang="en-US" sz="1000" dirty="0"/>
          </a:p>
        </p:txBody>
      </p:sp>
      <p:sp>
        <p:nvSpPr>
          <p:cNvPr id="21" name="Text 19"/>
          <p:cNvSpPr txBox="1"/>
          <p:nvPr/>
        </p:nvSpPr>
        <p:spPr>
          <a:xfrm>
            <a:off x="2423160" y="3026664"/>
            <a:ext cx="694944"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234</a:t>
            </a:r>
            <a:endParaRPr lang="en-US" sz="1000" dirty="0"/>
          </a:p>
        </p:txBody>
      </p:sp>
      <p:sp>
        <p:nvSpPr>
          <p:cNvPr id="22" name="Text 20"/>
          <p:cNvSpPr txBox="1"/>
          <p:nvPr/>
        </p:nvSpPr>
        <p:spPr>
          <a:xfrm>
            <a:off x="3154680" y="3026664"/>
            <a:ext cx="59436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12</a:t>
            </a:r>
            <a:endParaRPr lang="en-US" sz="1000" dirty="0"/>
          </a:p>
        </p:txBody>
      </p:sp>
      <p:sp>
        <p:nvSpPr>
          <p:cNvPr id="23" name="Text 21"/>
          <p:cNvSpPr txBox="1"/>
          <p:nvPr/>
        </p:nvSpPr>
        <p:spPr>
          <a:xfrm>
            <a:off x="3840480" y="3026664"/>
            <a:ext cx="164592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41064</a:t>
            </a:r>
            <a:endParaRPr lang="en-US" sz="1000" dirty="0"/>
          </a:p>
        </p:txBody>
      </p:sp>
      <p:sp>
        <p:nvSpPr>
          <p:cNvPr id="24" name="Text 22"/>
          <p:cNvSpPr txBox="1"/>
          <p:nvPr/>
        </p:nvSpPr>
        <p:spPr>
          <a:xfrm>
            <a:off x="896112" y="3465576"/>
            <a:ext cx="822960" cy="192024"/>
          </a:xfrm>
          <a:prstGeom prst="rect">
            <a:avLst/>
          </a:prstGeom>
          <a:noFill/>
        </p:spPr>
        <p:txBody>
          <a:bodyPr wrap="square" lIns="0" tIns="0" rIns="0" bIns="0" rtlCol="0" anchor="ctr">
            <a:normAutofit/>
          </a:bodyPr>
          <a:lstStyle/>
          <a:p>
            <a:pPr marL="0" indent="0" algn="l">
              <a:buNone/>
            </a:pPr>
            <a:r>
              <a:rPr lang="en-US" sz="1000" dirty="0">
                <a:solidFill>
                  <a:srgbClr val="F4F7FF"/>
                </a:solidFill>
                <a:latin typeface="Aptos" pitchFamily="34" charset="0"/>
                <a:ea typeface="Aptos" pitchFamily="34" charset="-122"/>
                <a:cs typeface="Aptos" pitchFamily="34" charset="-120"/>
              </a:rPr>
              <a:t>3</a:t>
            </a:r>
            <a:endParaRPr lang="en-US" sz="1000" dirty="0"/>
          </a:p>
        </p:txBody>
      </p:sp>
      <p:sp>
        <p:nvSpPr>
          <p:cNvPr id="25" name="Text 23"/>
          <p:cNvSpPr txBox="1"/>
          <p:nvPr/>
        </p:nvSpPr>
        <p:spPr>
          <a:xfrm>
            <a:off x="1792224" y="3465576"/>
            <a:ext cx="566928"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1768</a:t>
            </a:r>
            <a:endParaRPr lang="en-US" sz="1000" dirty="0"/>
          </a:p>
        </p:txBody>
      </p:sp>
      <p:sp>
        <p:nvSpPr>
          <p:cNvPr id="26" name="Text 24"/>
          <p:cNvSpPr txBox="1"/>
          <p:nvPr/>
        </p:nvSpPr>
        <p:spPr>
          <a:xfrm>
            <a:off x="2423160" y="3465576"/>
            <a:ext cx="694944"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1983</a:t>
            </a:r>
            <a:endParaRPr lang="en-US" sz="1000" dirty="0"/>
          </a:p>
        </p:txBody>
      </p:sp>
      <p:sp>
        <p:nvSpPr>
          <p:cNvPr id="27" name="Text 25"/>
          <p:cNvSpPr txBox="1"/>
          <p:nvPr/>
        </p:nvSpPr>
        <p:spPr>
          <a:xfrm>
            <a:off x="3154680" y="3465576"/>
            <a:ext cx="59436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40</a:t>
            </a:r>
            <a:endParaRPr lang="en-US" sz="1000" dirty="0"/>
          </a:p>
        </p:txBody>
      </p:sp>
      <p:sp>
        <p:nvSpPr>
          <p:cNvPr id="28" name="Text 26"/>
          <p:cNvSpPr txBox="1"/>
          <p:nvPr/>
        </p:nvSpPr>
        <p:spPr>
          <a:xfrm>
            <a:off x="3840480" y="3465576"/>
            <a:ext cx="164592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44350</a:t>
            </a:r>
            <a:endParaRPr lang="en-US" sz="1000" dirty="0"/>
          </a:p>
        </p:txBody>
      </p:sp>
      <p:sp>
        <p:nvSpPr>
          <p:cNvPr id="29" name="Text 27"/>
          <p:cNvSpPr txBox="1"/>
          <p:nvPr/>
        </p:nvSpPr>
        <p:spPr>
          <a:xfrm>
            <a:off x="896112" y="3904488"/>
            <a:ext cx="822960" cy="192024"/>
          </a:xfrm>
          <a:prstGeom prst="rect">
            <a:avLst/>
          </a:prstGeom>
          <a:noFill/>
        </p:spPr>
        <p:txBody>
          <a:bodyPr wrap="square" lIns="0" tIns="0" rIns="0" bIns="0" rtlCol="0" anchor="ctr">
            <a:normAutofit/>
          </a:bodyPr>
          <a:lstStyle/>
          <a:p>
            <a:pPr marL="0" indent="0" algn="l">
              <a:buNone/>
            </a:pPr>
            <a:r>
              <a:rPr lang="en-US" sz="1000" dirty="0">
                <a:solidFill>
                  <a:srgbClr val="F4F7FF"/>
                </a:solidFill>
                <a:latin typeface="Aptos" pitchFamily="34" charset="0"/>
                <a:ea typeface="Aptos" pitchFamily="34" charset="-122"/>
                <a:cs typeface="Aptos" pitchFamily="34" charset="-120"/>
              </a:rPr>
              <a:t>4</a:t>
            </a:r>
            <a:endParaRPr lang="en-US" sz="1000" dirty="0"/>
          </a:p>
        </p:txBody>
      </p:sp>
      <p:sp>
        <p:nvSpPr>
          <p:cNvPr id="30" name="Text 28"/>
          <p:cNvSpPr txBox="1"/>
          <p:nvPr/>
        </p:nvSpPr>
        <p:spPr>
          <a:xfrm>
            <a:off x="1792224" y="3904488"/>
            <a:ext cx="566928"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173</a:t>
            </a:r>
            <a:endParaRPr lang="en-US" sz="1000" dirty="0"/>
          </a:p>
        </p:txBody>
      </p:sp>
      <p:sp>
        <p:nvSpPr>
          <p:cNvPr id="31" name="Text 29"/>
          <p:cNvSpPr txBox="1"/>
          <p:nvPr/>
        </p:nvSpPr>
        <p:spPr>
          <a:xfrm>
            <a:off x="2423160" y="3904488"/>
            <a:ext cx="694944"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5092</a:t>
            </a:r>
            <a:endParaRPr lang="en-US" sz="1000" dirty="0"/>
          </a:p>
        </p:txBody>
      </p:sp>
      <p:sp>
        <p:nvSpPr>
          <p:cNvPr id="32" name="Text 30"/>
          <p:cNvSpPr txBox="1"/>
          <p:nvPr/>
        </p:nvSpPr>
        <p:spPr>
          <a:xfrm>
            <a:off x="3154680" y="3904488"/>
            <a:ext cx="59436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4</a:t>
            </a:r>
            <a:endParaRPr lang="en-US" sz="1000" dirty="0"/>
          </a:p>
        </p:txBody>
      </p:sp>
      <p:sp>
        <p:nvSpPr>
          <p:cNvPr id="33" name="Text 31"/>
          <p:cNvSpPr txBox="1"/>
          <p:nvPr/>
        </p:nvSpPr>
        <p:spPr>
          <a:xfrm>
            <a:off x="3840480" y="3904488"/>
            <a:ext cx="164592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26798</a:t>
            </a:r>
            <a:endParaRPr lang="en-US" sz="1000" dirty="0"/>
          </a:p>
        </p:txBody>
      </p:sp>
      <p:sp>
        <p:nvSpPr>
          <p:cNvPr id="34" name="Text 32"/>
          <p:cNvSpPr txBox="1"/>
          <p:nvPr/>
        </p:nvSpPr>
        <p:spPr>
          <a:xfrm>
            <a:off x="896112" y="4343400"/>
            <a:ext cx="822960" cy="192024"/>
          </a:xfrm>
          <a:prstGeom prst="rect">
            <a:avLst/>
          </a:prstGeom>
          <a:noFill/>
        </p:spPr>
        <p:txBody>
          <a:bodyPr wrap="square" lIns="0" tIns="0" rIns="0" bIns="0" rtlCol="0" anchor="ctr">
            <a:normAutofit/>
          </a:bodyPr>
          <a:lstStyle/>
          <a:p>
            <a:pPr marL="0" indent="0" algn="l">
              <a:buNone/>
            </a:pPr>
            <a:r>
              <a:rPr lang="en-US" sz="1000" dirty="0">
                <a:solidFill>
                  <a:srgbClr val="F4F7FF"/>
                </a:solidFill>
                <a:latin typeface="Aptos" pitchFamily="34" charset="0"/>
                <a:ea typeface="Aptos" pitchFamily="34" charset="-122"/>
                <a:cs typeface="Aptos" pitchFamily="34" charset="-120"/>
              </a:rPr>
              <a:t>5</a:t>
            </a:r>
            <a:endParaRPr lang="en-US" sz="1000" dirty="0"/>
          </a:p>
        </p:txBody>
      </p:sp>
      <p:sp>
        <p:nvSpPr>
          <p:cNvPr id="35" name="Text 33"/>
          <p:cNvSpPr txBox="1"/>
          <p:nvPr/>
        </p:nvSpPr>
        <p:spPr>
          <a:xfrm>
            <a:off x="1792224" y="4343400"/>
            <a:ext cx="566928"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40</a:t>
            </a:r>
            <a:endParaRPr lang="en-US" sz="1000" dirty="0"/>
          </a:p>
        </p:txBody>
      </p:sp>
      <p:sp>
        <p:nvSpPr>
          <p:cNvPr id="36" name="Text 34"/>
          <p:cNvSpPr txBox="1"/>
          <p:nvPr/>
        </p:nvSpPr>
        <p:spPr>
          <a:xfrm>
            <a:off x="2423160" y="4343400"/>
            <a:ext cx="694944"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9184</a:t>
            </a:r>
            <a:endParaRPr lang="en-US" sz="1000" dirty="0"/>
          </a:p>
        </p:txBody>
      </p:sp>
      <p:sp>
        <p:nvSpPr>
          <p:cNvPr id="37" name="Text 35"/>
          <p:cNvSpPr txBox="1"/>
          <p:nvPr/>
        </p:nvSpPr>
        <p:spPr>
          <a:xfrm>
            <a:off x="3154680" y="4343400"/>
            <a:ext cx="59436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1</a:t>
            </a:r>
            <a:endParaRPr lang="en-US" sz="1000" dirty="0"/>
          </a:p>
        </p:txBody>
      </p:sp>
      <p:sp>
        <p:nvSpPr>
          <p:cNvPr id="38" name="Text 36"/>
          <p:cNvSpPr txBox="1"/>
          <p:nvPr/>
        </p:nvSpPr>
        <p:spPr>
          <a:xfrm>
            <a:off x="3840480" y="4343400"/>
            <a:ext cx="164592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10143</a:t>
            </a:r>
            <a:endParaRPr lang="en-US" sz="1000" dirty="0"/>
          </a:p>
        </p:txBody>
      </p:sp>
      <p:sp>
        <p:nvSpPr>
          <p:cNvPr id="39" name="Shape 37"/>
          <p:cNvSpPr/>
          <p:nvPr/>
        </p:nvSpPr>
        <p:spPr>
          <a:xfrm>
            <a:off x="6199632" y="1682496"/>
            <a:ext cx="5340096" cy="3456432"/>
          </a:xfrm>
          <a:prstGeom prst="roundRect">
            <a:avLst>
              <a:gd name="adj" fmla="val 2116"/>
            </a:avLst>
          </a:prstGeom>
          <a:solidFill>
            <a:srgbClr val="131D31"/>
          </a:solidFill>
          <a:ln w="10160">
            <a:solidFill>
              <a:srgbClr val="2B3B58"/>
            </a:solidFill>
            <a:prstDash val="solid"/>
          </a:ln>
        </p:spPr>
      </p:sp>
      <p:sp>
        <p:nvSpPr>
          <p:cNvPr id="40" name="Text 38"/>
          <p:cNvSpPr txBox="1"/>
          <p:nvPr/>
        </p:nvSpPr>
        <p:spPr>
          <a:xfrm>
            <a:off x="6428232" y="1874520"/>
            <a:ext cx="2468880" cy="201168"/>
          </a:xfrm>
          <a:prstGeom prst="rect">
            <a:avLst/>
          </a:prstGeom>
          <a:noFill/>
        </p:spPr>
        <p:txBody>
          <a:bodyPr wrap="square" lIns="0" tIns="0" rIns="0" bIns="0" rtlCol="0" anchor="ctr">
            <a:normAutofit/>
          </a:bodyPr>
          <a:lstStyle/>
          <a:p>
            <a:pPr marL="0" indent="0" algn="l">
              <a:buNone/>
            </a:pPr>
            <a:r>
              <a:rPr lang="en-US" sz="1000" b="1" kern="0" spc="100" dirty="0">
                <a:solidFill>
                  <a:srgbClr val="36D6C5"/>
                </a:solidFill>
                <a:latin typeface="Aptos" pitchFamily="34" charset="0"/>
                <a:ea typeface="Aptos" pitchFamily="34" charset="-122"/>
                <a:cs typeface="Aptos" pitchFamily="34" charset="-120"/>
              </a:rPr>
              <a:t>TUNED CNN • TEST</a:t>
            </a:r>
            <a:endParaRPr lang="en-US" sz="1000" dirty="0"/>
          </a:p>
        </p:txBody>
      </p:sp>
      <p:sp>
        <p:nvSpPr>
          <p:cNvPr id="41" name="Text 39"/>
          <p:cNvSpPr txBox="1"/>
          <p:nvPr/>
        </p:nvSpPr>
        <p:spPr>
          <a:xfrm>
            <a:off x="6437376" y="2212848"/>
            <a:ext cx="822960" cy="164592"/>
          </a:xfrm>
          <a:prstGeom prst="rect">
            <a:avLst/>
          </a:prstGeom>
          <a:noFill/>
        </p:spPr>
        <p:txBody>
          <a:bodyPr wrap="square" lIns="0" tIns="0" rIns="0" bIns="0" rtlCol="0" anchor="ctr">
            <a:normAutofit/>
          </a:bodyPr>
          <a:lstStyle/>
          <a:p>
            <a:pPr marL="0" indent="0" algn="l">
              <a:buNone/>
            </a:pPr>
            <a:r>
              <a:rPr lang="en-US" sz="900" b="1" dirty="0">
                <a:solidFill>
                  <a:srgbClr val="36D6C5"/>
                </a:solidFill>
                <a:latin typeface="Aptos" pitchFamily="34" charset="0"/>
                <a:ea typeface="Aptos" pitchFamily="34" charset="-122"/>
                <a:cs typeface="Aptos" pitchFamily="34" charset="-120"/>
              </a:rPr>
              <a:t>BM</a:t>
            </a:r>
            <a:endParaRPr lang="en-US" sz="900" dirty="0"/>
          </a:p>
        </p:txBody>
      </p:sp>
      <p:sp>
        <p:nvSpPr>
          <p:cNvPr id="42" name="Text 40"/>
          <p:cNvSpPr txBox="1"/>
          <p:nvPr/>
        </p:nvSpPr>
        <p:spPr>
          <a:xfrm>
            <a:off x="7333488" y="2212848"/>
            <a:ext cx="566928" cy="164592"/>
          </a:xfrm>
          <a:prstGeom prst="rect">
            <a:avLst/>
          </a:prstGeom>
          <a:noFill/>
        </p:spPr>
        <p:txBody>
          <a:bodyPr wrap="square" lIns="0" tIns="0" rIns="0" bIns="0" rtlCol="0" anchor="ctr">
            <a:normAutofit/>
          </a:bodyPr>
          <a:lstStyle/>
          <a:p>
            <a:pPr marL="0" indent="0" algn="ctr">
              <a:buNone/>
            </a:pPr>
            <a:r>
              <a:rPr lang="en-US" sz="900" b="1" dirty="0">
                <a:solidFill>
                  <a:srgbClr val="36D6C5"/>
                </a:solidFill>
                <a:latin typeface="Aptos" pitchFamily="34" charset="0"/>
                <a:ea typeface="Aptos" pitchFamily="34" charset="-122"/>
                <a:cs typeface="Aptos" pitchFamily="34" charset="-120"/>
              </a:rPr>
              <a:t>TP</a:t>
            </a:r>
            <a:endParaRPr lang="en-US" sz="900" dirty="0"/>
          </a:p>
        </p:txBody>
      </p:sp>
      <p:sp>
        <p:nvSpPr>
          <p:cNvPr id="43" name="Text 41"/>
          <p:cNvSpPr txBox="1"/>
          <p:nvPr/>
        </p:nvSpPr>
        <p:spPr>
          <a:xfrm>
            <a:off x="7964424" y="2212848"/>
            <a:ext cx="694944" cy="164592"/>
          </a:xfrm>
          <a:prstGeom prst="rect">
            <a:avLst/>
          </a:prstGeom>
          <a:noFill/>
        </p:spPr>
        <p:txBody>
          <a:bodyPr wrap="square" lIns="0" tIns="0" rIns="0" bIns="0" rtlCol="0" anchor="ctr">
            <a:normAutofit/>
          </a:bodyPr>
          <a:lstStyle/>
          <a:p>
            <a:pPr marL="0" indent="0" algn="ctr">
              <a:buNone/>
            </a:pPr>
            <a:r>
              <a:rPr lang="en-US" sz="900" b="1" dirty="0">
                <a:solidFill>
                  <a:srgbClr val="36D6C5"/>
                </a:solidFill>
                <a:latin typeface="Aptos" pitchFamily="34" charset="0"/>
                <a:ea typeface="Aptos" pitchFamily="34" charset="-122"/>
                <a:cs typeface="Aptos" pitchFamily="34" charset="-120"/>
              </a:rPr>
              <a:t>FP</a:t>
            </a:r>
            <a:endParaRPr lang="en-US" sz="900" dirty="0"/>
          </a:p>
        </p:txBody>
      </p:sp>
      <p:sp>
        <p:nvSpPr>
          <p:cNvPr id="44" name="Text 42"/>
          <p:cNvSpPr txBox="1"/>
          <p:nvPr/>
        </p:nvSpPr>
        <p:spPr>
          <a:xfrm>
            <a:off x="8695944" y="2212848"/>
            <a:ext cx="594360" cy="164592"/>
          </a:xfrm>
          <a:prstGeom prst="rect">
            <a:avLst/>
          </a:prstGeom>
          <a:noFill/>
        </p:spPr>
        <p:txBody>
          <a:bodyPr wrap="square" lIns="0" tIns="0" rIns="0" bIns="0" rtlCol="0" anchor="ctr">
            <a:normAutofit/>
          </a:bodyPr>
          <a:lstStyle/>
          <a:p>
            <a:pPr marL="0" indent="0" algn="ctr">
              <a:buNone/>
            </a:pPr>
            <a:r>
              <a:rPr lang="en-US" sz="900" b="1" dirty="0">
                <a:solidFill>
                  <a:srgbClr val="36D6C5"/>
                </a:solidFill>
                <a:latin typeface="Aptos" pitchFamily="34" charset="0"/>
                <a:ea typeface="Aptos" pitchFamily="34" charset="-122"/>
                <a:cs typeface="Aptos" pitchFamily="34" charset="-120"/>
              </a:rPr>
              <a:t>FN</a:t>
            </a:r>
            <a:endParaRPr lang="en-US" sz="900" dirty="0"/>
          </a:p>
        </p:txBody>
      </p:sp>
      <p:sp>
        <p:nvSpPr>
          <p:cNvPr id="45" name="Text 43"/>
          <p:cNvSpPr txBox="1"/>
          <p:nvPr/>
        </p:nvSpPr>
        <p:spPr>
          <a:xfrm>
            <a:off x="9381744" y="2212848"/>
            <a:ext cx="1783080" cy="164592"/>
          </a:xfrm>
          <a:prstGeom prst="rect">
            <a:avLst/>
          </a:prstGeom>
          <a:noFill/>
        </p:spPr>
        <p:txBody>
          <a:bodyPr wrap="square" lIns="0" tIns="0" rIns="0" bIns="0" rtlCol="0" anchor="ctr">
            <a:normAutofit/>
          </a:bodyPr>
          <a:lstStyle/>
          <a:p>
            <a:pPr marL="0" indent="0" algn="ctr">
              <a:buNone/>
            </a:pPr>
            <a:r>
              <a:rPr lang="en-US" sz="900" b="1" dirty="0">
                <a:solidFill>
                  <a:srgbClr val="36D6C5"/>
                </a:solidFill>
                <a:latin typeface="Aptos" pitchFamily="34" charset="0"/>
                <a:ea typeface="Aptos" pitchFamily="34" charset="-122"/>
                <a:cs typeface="Aptos" pitchFamily="34" charset="-120"/>
              </a:rPr>
              <a:t>TN</a:t>
            </a:r>
            <a:endParaRPr lang="en-US" sz="900" dirty="0"/>
          </a:p>
        </p:txBody>
      </p:sp>
      <p:sp>
        <p:nvSpPr>
          <p:cNvPr id="46" name="Shape 44"/>
          <p:cNvSpPr/>
          <p:nvPr/>
        </p:nvSpPr>
        <p:spPr>
          <a:xfrm>
            <a:off x="6400800" y="2450592"/>
            <a:ext cx="4937760" cy="0"/>
          </a:xfrm>
          <a:prstGeom prst="line">
            <a:avLst/>
          </a:prstGeom>
          <a:noFill/>
          <a:ln w="12700">
            <a:solidFill>
              <a:srgbClr val="2B3B58"/>
            </a:solidFill>
            <a:prstDash val="solid"/>
          </a:ln>
        </p:spPr>
      </p:sp>
      <p:sp>
        <p:nvSpPr>
          <p:cNvPr id="47" name="Text 45"/>
          <p:cNvSpPr txBox="1"/>
          <p:nvPr/>
        </p:nvSpPr>
        <p:spPr>
          <a:xfrm>
            <a:off x="6437376" y="2587752"/>
            <a:ext cx="822960" cy="192024"/>
          </a:xfrm>
          <a:prstGeom prst="rect">
            <a:avLst/>
          </a:prstGeom>
          <a:noFill/>
        </p:spPr>
        <p:txBody>
          <a:bodyPr wrap="square" lIns="0" tIns="0" rIns="0" bIns="0" rtlCol="0" anchor="ctr">
            <a:normAutofit/>
          </a:bodyPr>
          <a:lstStyle/>
          <a:p>
            <a:pPr marL="0" indent="0" algn="l">
              <a:buNone/>
            </a:pPr>
            <a:r>
              <a:rPr lang="en-US" sz="1000" dirty="0">
                <a:solidFill>
                  <a:srgbClr val="F4F7FF"/>
                </a:solidFill>
                <a:latin typeface="Aptos" pitchFamily="34" charset="0"/>
                <a:ea typeface="Aptos" pitchFamily="34" charset="-122"/>
                <a:cs typeface="Aptos" pitchFamily="34" charset="-120"/>
              </a:rPr>
              <a:t>1</a:t>
            </a:r>
            <a:endParaRPr lang="en-US" sz="1000" dirty="0"/>
          </a:p>
        </p:txBody>
      </p:sp>
      <p:sp>
        <p:nvSpPr>
          <p:cNvPr id="48" name="Text 46"/>
          <p:cNvSpPr txBox="1"/>
          <p:nvPr/>
        </p:nvSpPr>
        <p:spPr>
          <a:xfrm>
            <a:off x="7333488" y="2587752"/>
            <a:ext cx="566928"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226</a:t>
            </a:r>
            <a:endParaRPr lang="en-US" sz="1000" dirty="0"/>
          </a:p>
        </p:txBody>
      </p:sp>
      <p:sp>
        <p:nvSpPr>
          <p:cNvPr id="49" name="Text 47"/>
          <p:cNvSpPr txBox="1"/>
          <p:nvPr/>
        </p:nvSpPr>
        <p:spPr>
          <a:xfrm>
            <a:off x="7964424" y="2587752"/>
            <a:ext cx="694944"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1760</a:t>
            </a:r>
            <a:endParaRPr lang="en-US" sz="1000" dirty="0"/>
          </a:p>
        </p:txBody>
      </p:sp>
      <p:sp>
        <p:nvSpPr>
          <p:cNvPr id="50" name="Text 48"/>
          <p:cNvSpPr txBox="1"/>
          <p:nvPr/>
        </p:nvSpPr>
        <p:spPr>
          <a:xfrm>
            <a:off x="8695944" y="2587752"/>
            <a:ext cx="59436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0</a:t>
            </a:r>
            <a:endParaRPr lang="en-US" sz="1000" dirty="0"/>
          </a:p>
        </p:txBody>
      </p:sp>
      <p:sp>
        <p:nvSpPr>
          <p:cNvPr id="51" name="Text 49"/>
          <p:cNvSpPr txBox="1"/>
          <p:nvPr/>
        </p:nvSpPr>
        <p:spPr>
          <a:xfrm>
            <a:off x="9381744" y="2587752"/>
            <a:ext cx="178308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2919</a:t>
            </a:r>
            <a:endParaRPr lang="en-US" sz="1000" dirty="0"/>
          </a:p>
        </p:txBody>
      </p:sp>
      <p:sp>
        <p:nvSpPr>
          <p:cNvPr id="52" name="Text 50"/>
          <p:cNvSpPr txBox="1"/>
          <p:nvPr/>
        </p:nvSpPr>
        <p:spPr>
          <a:xfrm>
            <a:off x="6437376" y="3026664"/>
            <a:ext cx="822960" cy="192024"/>
          </a:xfrm>
          <a:prstGeom prst="rect">
            <a:avLst/>
          </a:prstGeom>
          <a:noFill/>
        </p:spPr>
        <p:txBody>
          <a:bodyPr wrap="square" lIns="0" tIns="0" rIns="0" bIns="0" rtlCol="0" anchor="ctr">
            <a:normAutofit/>
          </a:bodyPr>
          <a:lstStyle/>
          <a:p>
            <a:pPr marL="0" indent="0" algn="l">
              <a:buNone/>
            </a:pPr>
            <a:r>
              <a:rPr lang="en-US" sz="1000" dirty="0">
                <a:solidFill>
                  <a:srgbClr val="F4F7FF"/>
                </a:solidFill>
                <a:latin typeface="Aptos" pitchFamily="34" charset="0"/>
                <a:ea typeface="Aptos" pitchFamily="34" charset="-122"/>
                <a:cs typeface="Aptos" pitchFamily="34" charset="-120"/>
              </a:rPr>
              <a:t>2</a:t>
            </a:r>
            <a:endParaRPr lang="en-US" sz="1000" dirty="0"/>
          </a:p>
        </p:txBody>
      </p:sp>
      <p:sp>
        <p:nvSpPr>
          <p:cNvPr id="53" name="Text 51"/>
          <p:cNvSpPr txBox="1"/>
          <p:nvPr/>
        </p:nvSpPr>
        <p:spPr>
          <a:xfrm>
            <a:off x="7333488" y="3026664"/>
            <a:ext cx="566928"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472</a:t>
            </a:r>
            <a:endParaRPr lang="en-US" sz="1000" dirty="0"/>
          </a:p>
        </p:txBody>
      </p:sp>
      <p:sp>
        <p:nvSpPr>
          <p:cNvPr id="54" name="Text 52"/>
          <p:cNvSpPr txBox="1"/>
          <p:nvPr/>
        </p:nvSpPr>
        <p:spPr>
          <a:xfrm>
            <a:off x="7964424" y="3026664"/>
            <a:ext cx="694944"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754</a:t>
            </a:r>
            <a:endParaRPr lang="en-US" sz="1000" dirty="0"/>
          </a:p>
        </p:txBody>
      </p:sp>
      <p:sp>
        <p:nvSpPr>
          <p:cNvPr id="55" name="Text 53"/>
          <p:cNvSpPr txBox="1"/>
          <p:nvPr/>
        </p:nvSpPr>
        <p:spPr>
          <a:xfrm>
            <a:off x="8695944" y="3026664"/>
            <a:ext cx="59436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26</a:t>
            </a:r>
            <a:endParaRPr lang="en-US" sz="1000" dirty="0"/>
          </a:p>
        </p:txBody>
      </p:sp>
      <p:sp>
        <p:nvSpPr>
          <p:cNvPr id="56" name="Text 54"/>
          <p:cNvSpPr txBox="1"/>
          <p:nvPr/>
        </p:nvSpPr>
        <p:spPr>
          <a:xfrm>
            <a:off x="9381744" y="3026664"/>
            <a:ext cx="178308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40544</a:t>
            </a:r>
            <a:endParaRPr lang="en-US" sz="1000" dirty="0"/>
          </a:p>
        </p:txBody>
      </p:sp>
      <p:sp>
        <p:nvSpPr>
          <p:cNvPr id="57" name="Text 55"/>
          <p:cNvSpPr txBox="1"/>
          <p:nvPr/>
        </p:nvSpPr>
        <p:spPr>
          <a:xfrm>
            <a:off x="6437376" y="3465576"/>
            <a:ext cx="822960" cy="192024"/>
          </a:xfrm>
          <a:prstGeom prst="rect">
            <a:avLst/>
          </a:prstGeom>
          <a:noFill/>
        </p:spPr>
        <p:txBody>
          <a:bodyPr wrap="square" lIns="0" tIns="0" rIns="0" bIns="0" rtlCol="0" anchor="ctr">
            <a:normAutofit/>
          </a:bodyPr>
          <a:lstStyle/>
          <a:p>
            <a:pPr marL="0" indent="0" algn="l">
              <a:buNone/>
            </a:pPr>
            <a:r>
              <a:rPr lang="en-US" sz="1000" dirty="0">
                <a:solidFill>
                  <a:srgbClr val="F4F7FF"/>
                </a:solidFill>
                <a:latin typeface="Aptos" pitchFamily="34" charset="0"/>
                <a:ea typeface="Aptos" pitchFamily="34" charset="-122"/>
                <a:cs typeface="Aptos" pitchFamily="34" charset="-120"/>
              </a:rPr>
              <a:t>3</a:t>
            </a:r>
            <a:endParaRPr lang="en-US" sz="1000" dirty="0"/>
          </a:p>
        </p:txBody>
      </p:sp>
      <p:sp>
        <p:nvSpPr>
          <p:cNvPr id="58" name="Text 56"/>
          <p:cNvSpPr txBox="1"/>
          <p:nvPr/>
        </p:nvSpPr>
        <p:spPr>
          <a:xfrm>
            <a:off x="7333488" y="3465576"/>
            <a:ext cx="566928"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1773</a:t>
            </a:r>
            <a:endParaRPr lang="en-US" sz="1000" dirty="0"/>
          </a:p>
        </p:txBody>
      </p:sp>
      <p:sp>
        <p:nvSpPr>
          <p:cNvPr id="59" name="Text 57"/>
          <p:cNvSpPr txBox="1"/>
          <p:nvPr/>
        </p:nvSpPr>
        <p:spPr>
          <a:xfrm>
            <a:off x="7964424" y="3465576"/>
            <a:ext cx="694944"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2646</a:t>
            </a:r>
            <a:endParaRPr lang="en-US" sz="1000" dirty="0"/>
          </a:p>
        </p:txBody>
      </p:sp>
      <p:sp>
        <p:nvSpPr>
          <p:cNvPr id="60" name="Text 58"/>
          <p:cNvSpPr txBox="1"/>
          <p:nvPr/>
        </p:nvSpPr>
        <p:spPr>
          <a:xfrm>
            <a:off x="8695944" y="3465576"/>
            <a:ext cx="59436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35</a:t>
            </a:r>
            <a:endParaRPr lang="en-US" sz="1000" dirty="0"/>
          </a:p>
        </p:txBody>
      </p:sp>
      <p:sp>
        <p:nvSpPr>
          <p:cNvPr id="61" name="Text 59"/>
          <p:cNvSpPr txBox="1"/>
          <p:nvPr/>
        </p:nvSpPr>
        <p:spPr>
          <a:xfrm>
            <a:off x="9381744" y="3465576"/>
            <a:ext cx="178308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43687</a:t>
            </a:r>
            <a:endParaRPr lang="en-US" sz="1000" dirty="0"/>
          </a:p>
        </p:txBody>
      </p:sp>
      <p:sp>
        <p:nvSpPr>
          <p:cNvPr id="62" name="Text 60"/>
          <p:cNvSpPr txBox="1"/>
          <p:nvPr/>
        </p:nvSpPr>
        <p:spPr>
          <a:xfrm>
            <a:off x="6437376" y="3904488"/>
            <a:ext cx="822960" cy="192024"/>
          </a:xfrm>
          <a:prstGeom prst="rect">
            <a:avLst/>
          </a:prstGeom>
          <a:noFill/>
        </p:spPr>
        <p:txBody>
          <a:bodyPr wrap="square" lIns="0" tIns="0" rIns="0" bIns="0" rtlCol="0" anchor="ctr">
            <a:normAutofit/>
          </a:bodyPr>
          <a:lstStyle/>
          <a:p>
            <a:pPr marL="0" indent="0" algn="l">
              <a:buNone/>
            </a:pPr>
            <a:r>
              <a:rPr lang="en-US" sz="1000" dirty="0">
                <a:solidFill>
                  <a:srgbClr val="F4F7FF"/>
                </a:solidFill>
                <a:latin typeface="Aptos" pitchFamily="34" charset="0"/>
                <a:ea typeface="Aptos" pitchFamily="34" charset="-122"/>
                <a:cs typeface="Aptos" pitchFamily="34" charset="-120"/>
              </a:rPr>
              <a:t>4</a:t>
            </a:r>
            <a:endParaRPr lang="en-US" sz="1000" dirty="0"/>
          </a:p>
        </p:txBody>
      </p:sp>
      <p:sp>
        <p:nvSpPr>
          <p:cNvPr id="63" name="Text 61"/>
          <p:cNvSpPr txBox="1"/>
          <p:nvPr/>
        </p:nvSpPr>
        <p:spPr>
          <a:xfrm>
            <a:off x="7333488" y="3904488"/>
            <a:ext cx="566928"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154</a:t>
            </a:r>
            <a:endParaRPr lang="en-US" sz="1000" dirty="0"/>
          </a:p>
        </p:txBody>
      </p:sp>
      <p:sp>
        <p:nvSpPr>
          <p:cNvPr id="64" name="Text 62"/>
          <p:cNvSpPr txBox="1"/>
          <p:nvPr/>
        </p:nvSpPr>
        <p:spPr>
          <a:xfrm>
            <a:off x="7964424" y="3904488"/>
            <a:ext cx="694944"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2797</a:t>
            </a:r>
            <a:endParaRPr lang="en-US" sz="1000" dirty="0"/>
          </a:p>
        </p:txBody>
      </p:sp>
      <p:sp>
        <p:nvSpPr>
          <p:cNvPr id="65" name="Text 63"/>
          <p:cNvSpPr txBox="1"/>
          <p:nvPr/>
        </p:nvSpPr>
        <p:spPr>
          <a:xfrm>
            <a:off x="8695944" y="3904488"/>
            <a:ext cx="59436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23</a:t>
            </a:r>
            <a:endParaRPr lang="en-US" sz="1000" dirty="0"/>
          </a:p>
        </p:txBody>
      </p:sp>
      <p:sp>
        <p:nvSpPr>
          <p:cNvPr id="66" name="Text 64"/>
          <p:cNvSpPr txBox="1"/>
          <p:nvPr/>
        </p:nvSpPr>
        <p:spPr>
          <a:xfrm>
            <a:off x="9381744" y="3904488"/>
            <a:ext cx="178308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29093</a:t>
            </a:r>
            <a:endParaRPr lang="en-US" sz="1000" dirty="0"/>
          </a:p>
        </p:txBody>
      </p:sp>
      <p:sp>
        <p:nvSpPr>
          <p:cNvPr id="67" name="Text 65"/>
          <p:cNvSpPr txBox="1"/>
          <p:nvPr/>
        </p:nvSpPr>
        <p:spPr>
          <a:xfrm>
            <a:off x="6437376" y="4343400"/>
            <a:ext cx="822960" cy="192024"/>
          </a:xfrm>
          <a:prstGeom prst="rect">
            <a:avLst/>
          </a:prstGeom>
          <a:noFill/>
        </p:spPr>
        <p:txBody>
          <a:bodyPr wrap="square" lIns="0" tIns="0" rIns="0" bIns="0" rtlCol="0" anchor="ctr">
            <a:normAutofit/>
          </a:bodyPr>
          <a:lstStyle/>
          <a:p>
            <a:pPr marL="0" indent="0" algn="l">
              <a:buNone/>
            </a:pPr>
            <a:r>
              <a:rPr lang="en-US" sz="1000" dirty="0">
                <a:solidFill>
                  <a:srgbClr val="F4F7FF"/>
                </a:solidFill>
                <a:latin typeface="Aptos" pitchFamily="34" charset="0"/>
                <a:ea typeface="Aptos" pitchFamily="34" charset="-122"/>
                <a:cs typeface="Aptos" pitchFamily="34" charset="-120"/>
              </a:rPr>
              <a:t>5</a:t>
            </a:r>
            <a:endParaRPr lang="en-US" sz="1000" dirty="0"/>
          </a:p>
        </p:txBody>
      </p:sp>
      <p:sp>
        <p:nvSpPr>
          <p:cNvPr id="68" name="Text 66"/>
          <p:cNvSpPr txBox="1"/>
          <p:nvPr/>
        </p:nvSpPr>
        <p:spPr>
          <a:xfrm>
            <a:off x="7333488" y="4343400"/>
            <a:ext cx="566928"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38</a:t>
            </a:r>
            <a:endParaRPr lang="en-US" sz="1000" dirty="0"/>
          </a:p>
        </p:txBody>
      </p:sp>
      <p:sp>
        <p:nvSpPr>
          <p:cNvPr id="69" name="Text 67"/>
          <p:cNvSpPr txBox="1"/>
          <p:nvPr/>
        </p:nvSpPr>
        <p:spPr>
          <a:xfrm>
            <a:off x="7964424" y="4343400"/>
            <a:ext cx="694944"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878</a:t>
            </a:r>
            <a:endParaRPr lang="en-US" sz="1000" dirty="0"/>
          </a:p>
        </p:txBody>
      </p:sp>
      <p:sp>
        <p:nvSpPr>
          <p:cNvPr id="70" name="Text 68"/>
          <p:cNvSpPr txBox="1"/>
          <p:nvPr/>
        </p:nvSpPr>
        <p:spPr>
          <a:xfrm>
            <a:off x="8695944" y="4343400"/>
            <a:ext cx="59436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3</a:t>
            </a:r>
            <a:endParaRPr lang="en-US" sz="1000" dirty="0"/>
          </a:p>
        </p:txBody>
      </p:sp>
      <p:sp>
        <p:nvSpPr>
          <p:cNvPr id="71" name="Text 69"/>
          <p:cNvSpPr txBox="1"/>
          <p:nvPr/>
        </p:nvSpPr>
        <p:spPr>
          <a:xfrm>
            <a:off x="9381744" y="4343400"/>
            <a:ext cx="1783080" cy="192024"/>
          </a:xfrm>
          <a:prstGeom prst="rect">
            <a:avLst/>
          </a:prstGeom>
          <a:noFill/>
        </p:spPr>
        <p:txBody>
          <a:bodyPr wrap="square" lIns="0" tIns="0" rIns="0" bIns="0" rtlCol="0" anchor="ctr">
            <a:normAutofit/>
          </a:bodyPr>
          <a:lstStyle/>
          <a:p>
            <a:pPr marL="0" indent="0" algn="ctr">
              <a:buNone/>
            </a:pPr>
            <a:r>
              <a:rPr lang="en-US" sz="1000" dirty="0">
                <a:solidFill>
                  <a:srgbClr val="A7B4CE"/>
                </a:solidFill>
                <a:latin typeface="Aptos" pitchFamily="34" charset="0"/>
                <a:ea typeface="Aptos" pitchFamily="34" charset="-122"/>
                <a:cs typeface="Aptos" pitchFamily="34" charset="-120"/>
              </a:rPr>
              <a:t>18449</a:t>
            </a:r>
            <a:endParaRPr lang="en-US" sz="1000" dirty="0"/>
          </a:p>
        </p:txBody>
      </p:sp>
      <p:sp>
        <p:nvSpPr>
          <p:cNvPr id="72" name="Shape 70"/>
          <p:cNvSpPr/>
          <p:nvPr/>
        </p:nvSpPr>
        <p:spPr>
          <a:xfrm>
            <a:off x="658368" y="5413248"/>
            <a:ext cx="3246120" cy="713232"/>
          </a:xfrm>
          <a:prstGeom prst="roundRect">
            <a:avLst>
              <a:gd name="adj" fmla="val 10256"/>
            </a:avLst>
          </a:prstGeom>
          <a:solidFill>
            <a:srgbClr val="192640"/>
          </a:solidFill>
          <a:ln w="10160">
            <a:solidFill>
              <a:srgbClr val="2B3B58"/>
            </a:solidFill>
            <a:prstDash val="solid"/>
          </a:ln>
        </p:spPr>
      </p:sp>
      <p:sp>
        <p:nvSpPr>
          <p:cNvPr id="73" name="Text 71"/>
          <p:cNvSpPr txBox="1"/>
          <p:nvPr/>
        </p:nvSpPr>
        <p:spPr>
          <a:xfrm>
            <a:off x="768096" y="5495544"/>
            <a:ext cx="3026664" cy="164592"/>
          </a:xfrm>
          <a:prstGeom prst="rect">
            <a:avLst/>
          </a:prstGeom>
          <a:noFill/>
        </p:spPr>
        <p:txBody>
          <a:bodyPr wrap="square" lIns="0" tIns="0" rIns="0" bIns="0" rtlCol="0" anchor="ctr">
            <a:normAutofit/>
          </a:bodyPr>
          <a:lstStyle/>
          <a:p>
            <a:pPr marL="0" indent="0" algn="l">
              <a:buNone/>
            </a:pPr>
            <a:r>
              <a:rPr lang="en-US" sz="800" b="1" kern="0" spc="70" dirty="0">
                <a:solidFill>
                  <a:srgbClr val="A7B4CE"/>
                </a:solidFill>
                <a:latin typeface="Aptos" pitchFamily="34" charset="0"/>
                <a:ea typeface="Aptos" pitchFamily="34" charset="-122"/>
                <a:cs typeface="Aptos" pitchFamily="34" charset="-120"/>
              </a:rPr>
              <a:t>KEY GAIN</a:t>
            </a:r>
            <a:endParaRPr lang="en-US" sz="800" dirty="0"/>
          </a:p>
        </p:txBody>
      </p:sp>
      <p:sp>
        <p:nvSpPr>
          <p:cNvPr id="74" name="Text 72"/>
          <p:cNvSpPr txBox="1"/>
          <p:nvPr/>
        </p:nvSpPr>
        <p:spPr>
          <a:xfrm>
            <a:off x="768096" y="5687568"/>
            <a:ext cx="3026664" cy="329184"/>
          </a:xfrm>
          <a:prstGeom prst="rect">
            <a:avLst/>
          </a:prstGeom>
          <a:noFill/>
        </p:spPr>
        <p:txBody>
          <a:bodyPr wrap="square" lIns="0" tIns="0" rIns="0" bIns="0" rtlCol="0" anchor="ctr">
            <a:normAutofit/>
          </a:bodyPr>
          <a:lstStyle/>
          <a:p>
            <a:pPr marL="0" indent="0" algn="l">
              <a:buNone/>
            </a:pPr>
            <a:r>
              <a:rPr lang="en-US" sz="1900" b="1" dirty="0">
                <a:solidFill>
                  <a:srgbClr val="67D391"/>
                </a:solidFill>
                <a:latin typeface="Aptos" pitchFamily="34" charset="0"/>
                <a:ea typeface="Aptos" pitchFamily="34" charset="-122"/>
                <a:cs typeface="Aptos" pitchFamily="34" charset="-120"/>
              </a:rPr>
              <a:t>ICCAD5 BA +19.05 pp</a:t>
            </a:r>
            <a:endParaRPr lang="en-US" sz="1900" dirty="0"/>
          </a:p>
        </p:txBody>
      </p:sp>
      <p:sp>
        <p:nvSpPr>
          <p:cNvPr id="75" name="Shape 73"/>
          <p:cNvSpPr/>
          <p:nvPr/>
        </p:nvSpPr>
        <p:spPr>
          <a:xfrm>
            <a:off x="4041648" y="5413248"/>
            <a:ext cx="3063240" cy="713232"/>
          </a:xfrm>
          <a:prstGeom prst="roundRect">
            <a:avLst>
              <a:gd name="adj" fmla="val 10256"/>
            </a:avLst>
          </a:prstGeom>
          <a:solidFill>
            <a:srgbClr val="192640"/>
          </a:solidFill>
          <a:ln w="10160">
            <a:solidFill>
              <a:srgbClr val="2B3B58"/>
            </a:solidFill>
            <a:prstDash val="solid"/>
          </a:ln>
        </p:spPr>
      </p:sp>
      <p:sp>
        <p:nvSpPr>
          <p:cNvPr id="76" name="Text 74"/>
          <p:cNvSpPr txBox="1"/>
          <p:nvPr/>
        </p:nvSpPr>
        <p:spPr>
          <a:xfrm>
            <a:off x="4151376" y="5495544"/>
            <a:ext cx="2843784" cy="164592"/>
          </a:xfrm>
          <a:prstGeom prst="rect">
            <a:avLst/>
          </a:prstGeom>
          <a:noFill/>
        </p:spPr>
        <p:txBody>
          <a:bodyPr wrap="square" lIns="0" tIns="0" rIns="0" bIns="0" rtlCol="0" anchor="ctr">
            <a:normAutofit/>
          </a:bodyPr>
          <a:lstStyle/>
          <a:p>
            <a:pPr marL="0" indent="0" algn="l">
              <a:buNone/>
            </a:pPr>
            <a:r>
              <a:rPr lang="en-US" sz="800" b="1" kern="0" spc="70" dirty="0">
                <a:solidFill>
                  <a:srgbClr val="A7B4CE"/>
                </a:solidFill>
                <a:latin typeface="Aptos" pitchFamily="34" charset="0"/>
                <a:ea typeface="Aptos" pitchFamily="34" charset="-122"/>
                <a:cs typeface="Aptos" pitchFamily="34" charset="-120"/>
              </a:rPr>
              <a:t>KEY LIMITATION</a:t>
            </a:r>
            <a:endParaRPr lang="en-US" sz="800" dirty="0"/>
          </a:p>
        </p:txBody>
      </p:sp>
      <p:sp>
        <p:nvSpPr>
          <p:cNvPr id="77" name="Text 75"/>
          <p:cNvSpPr txBox="1"/>
          <p:nvPr/>
        </p:nvSpPr>
        <p:spPr>
          <a:xfrm>
            <a:off x="4151376" y="5687568"/>
            <a:ext cx="2843784" cy="329184"/>
          </a:xfrm>
          <a:prstGeom prst="rect">
            <a:avLst/>
          </a:prstGeom>
          <a:noFill/>
        </p:spPr>
        <p:txBody>
          <a:bodyPr wrap="square" lIns="0" tIns="0" rIns="0" bIns="0" rtlCol="0" anchor="ctr">
            <a:normAutofit/>
          </a:bodyPr>
          <a:lstStyle/>
          <a:p>
            <a:pPr marL="0" indent="0" algn="l">
              <a:buNone/>
            </a:pPr>
            <a:r>
              <a:rPr lang="en-US" sz="1900" b="1" dirty="0">
                <a:solidFill>
                  <a:srgbClr val="FFB65E"/>
                </a:solidFill>
                <a:latin typeface="Aptos" pitchFamily="34" charset="0"/>
                <a:ea typeface="Aptos" pitchFamily="34" charset="-122"/>
                <a:cs typeface="Aptos" pitchFamily="34" charset="-120"/>
              </a:rPr>
              <a:t>Low precision</a:t>
            </a:r>
            <a:endParaRPr lang="en-US" sz="1900" dirty="0"/>
          </a:p>
        </p:txBody>
      </p:sp>
      <p:sp>
        <p:nvSpPr>
          <p:cNvPr id="78" name="Shape 76"/>
          <p:cNvSpPr/>
          <p:nvPr/>
        </p:nvSpPr>
        <p:spPr>
          <a:xfrm>
            <a:off x="7242048" y="5413248"/>
            <a:ext cx="4297680" cy="713232"/>
          </a:xfrm>
          <a:prstGeom prst="roundRect">
            <a:avLst>
              <a:gd name="adj" fmla="val 10256"/>
            </a:avLst>
          </a:prstGeom>
          <a:solidFill>
            <a:srgbClr val="192640"/>
          </a:solidFill>
          <a:ln w="10160">
            <a:solidFill>
              <a:srgbClr val="2B3B58"/>
            </a:solidFill>
            <a:prstDash val="solid"/>
          </a:ln>
        </p:spPr>
      </p:sp>
      <p:sp>
        <p:nvSpPr>
          <p:cNvPr id="79" name="Text 77"/>
          <p:cNvSpPr txBox="1"/>
          <p:nvPr/>
        </p:nvSpPr>
        <p:spPr>
          <a:xfrm>
            <a:off x="7351776" y="5495544"/>
            <a:ext cx="4078224" cy="164592"/>
          </a:xfrm>
          <a:prstGeom prst="rect">
            <a:avLst/>
          </a:prstGeom>
          <a:noFill/>
        </p:spPr>
        <p:txBody>
          <a:bodyPr wrap="square" lIns="0" tIns="0" rIns="0" bIns="0" rtlCol="0" anchor="ctr">
            <a:normAutofit/>
          </a:bodyPr>
          <a:lstStyle/>
          <a:p>
            <a:pPr marL="0" indent="0" algn="l">
              <a:buNone/>
            </a:pPr>
            <a:r>
              <a:rPr lang="en-US" sz="800" b="1" kern="0" spc="70" dirty="0">
                <a:solidFill>
                  <a:srgbClr val="A7B4CE"/>
                </a:solidFill>
                <a:latin typeface="Aptos" pitchFamily="34" charset="0"/>
                <a:ea typeface="Aptos" pitchFamily="34" charset="-122"/>
                <a:cs typeface="Aptos" pitchFamily="34" charset="-120"/>
              </a:rPr>
              <a:t>NEXT PRIORITY</a:t>
            </a:r>
            <a:endParaRPr lang="en-US" sz="800" dirty="0"/>
          </a:p>
        </p:txBody>
      </p:sp>
      <p:sp>
        <p:nvSpPr>
          <p:cNvPr id="80" name="Text 78"/>
          <p:cNvSpPr txBox="1"/>
          <p:nvPr/>
        </p:nvSpPr>
        <p:spPr>
          <a:xfrm>
            <a:off x="7351776" y="5687568"/>
            <a:ext cx="4078224" cy="329184"/>
          </a:xfrm>
          <a:prstGeom prst="rect">
            <a:avLst/>
          </a:prstGeom>
          <a:noFill/>
        </p:spPr>
        <p:txBody>
          <a:bodyPr wrap="square" lIns="0" tIns="0" rIns="0" bIns="0" rtlCol="0" anchor="ctr">
            <a:normAutofit/>
          </a:bodyPr>
          <a:lstStyle/>
          <a:p>
            <a:pPr marL="0" indent="0" algn="l">
              <a:buNone/>
            </a:pPr>
            <a:r>
              <a:rPr lang="en-US" sz="1900" b="1" dirty="0">
                <a:solidFill>
                  <a:srgbClr val="36D6C5"/>
                </a:solidFill>
                <a:latin typeface="Aptos" pitchFamily="34" charset="0"/>
                <a:ea typeface="Aptos" pitchFamily="34" charset="-122"/>
                <a:cs typeface="Aptos" pitchFamily="34" charset="-120"/>
              </a:rPr>
              <a:t>Reduce false positives</a:t>
            </a:r>
            <a:endParaRPr lang="en-US" sz="1900" dirty="0"/>
          </a:p>
        </p:txBody>
      </p:sp>
      <p:sp>
        <p:nvSpPr>
          <p:cNvPr id="81" name="Text 79"/>
          <p:cNvSpPr txBox="1"/>
          <p:nvPr/>
        </p:nvSpPr>
        <p:spPr>
          <a:xfrm>
            <a:off x="713232" y="6236208"/>
            <a:ext cx="10607040" cy="146304"/>
          </a:xfrm>
          <a:prstGeom prst="rect">
            <a:avLst/>
          </a:prstGeom>
          <a:noFill/>
        </p:spPr>
        <p:txBody>
          <a:bodyPr wrap="square" lIns="0" tIns="0" rIns="0" bIns="0" rtlCol="0" anchor="ctr">
            <a:normAutofit/>
          </a:bodyPr>
          <a:lstStyle/>
          <a:p>
            <a:pPr marL="0" indent="0" algn="l">
              <a:buNone/>
            </a:pPr>
            <a:r>
              <a:rPr lang="en-US" sz="800" i="1" dirty="0">
                <a:solidFill>
                  <a:srgbClr val="7D8BAB"/>
                </a:solidFill>
                <a:latin typeface="Aptos" pitchFamily="34" charset="0"/>
                <a:ea typeface="Aptos" pitchFamily="34" charset="-122"/>
                <a:cs typeface="Aptos" pitchFamily="34" charset="-120"/>
              </a:rPr>
              <a:t>Counts are test-set outcomes; use them for reporting, not for further model/threshold selection.</a:t>
            </a:r>
            <a:endParaRPr lang="en-US" sz="800" dirty="0"/>
          </a:p>
        </p:txBody>
      </p:sp>
      <p:sp>
        <p:nvSpPr>
          <p:cNvPr id="82" name="Slide Number Placeholder 0"/>
          <p:cNvSpPr>
            <a:spLocks noGrp="1"/>
          </p:cNvSpPr>
          <p:nvPr>
            <p:ph type="sldNum" sz="quarter" idx="4294967295"/>
          </p:nvPr>
        </p:nvSpPr>
        <p:spPr>
          <a:xfrm>
            <a:off x="11292840" y="6510528"/>
            <a:ext cx="800000" cy="300000"/>
          </a:xfrm>
          <a:prstGeom prst="rect">
            <a:avLst/>
          </a:prstGeom>
        </p:spPr>
        <p:txBody>
          <a:bodyPr/>
          <a:lstStyle>
            <a:lvl1pPr>
              <a:defRPr sz="800">
                <a:solidFill>
                  <a:srgbClr val="8090B0"/>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0"/>
          <p:cNvSpPr txBox="1"/>
          <p:nvPr/>
        </p:nvSpPr>
        <p:spPr>
          <a:xfrm>
            <a:off x="621792" y="292608"/>
            <a:ext cx="4572000" cy="219456"/>
          </a:xfrm>
          <a:prstGeom prst="rect">
            <a:avLst/>
          </a:prstGeom>
          <a:noFill/>
        </p:spPr>
        <p:txBody>
          <a:bodyPr wrap="square" lIns="0" tIns="0" rIns="0" bIns="0" rtlCol="0" anchor="ctr">
            <a:normAutofit/>
          </a:bodyPr>
          <a:lstStyle/>
          <a:p>
            <a:pPr marL="0" indent="0" algn="l">
              <a:buNone/>
            </a:pPr>
            <a:r>
              <a:rPr lang="en-US" sz="900" b="1" kern="0" spc="180" dirty="0">
                <a:solidFill>
                  <a:srgbClr val="36D6C5"/>
                </a:solidFill>
                <a:latin typeface="Aptos" pitchFamily="34" charset="0"/>
                <a:ea typeface="Aptos" pitchFamily="34" charset="-122"/>
                <a:cs typeface="Aptos" pitchFamily="34" charset="-120"/>
              </a:rPr>
              <a:t>10  •  TAKEAWAYS</a:t>
            </a:r>
            <a:endParaRPr lang="en-US" sz="900" dirty="0"/>
          </a:p>
        </p:txBody>
      </p:sp>
      <p:sp>
        <p:nvSpPr>
          <p:cNvPr id="3" name="Text 1"/>
          <p:cNvSpPr txBox="1"/>
          <p:nvPr/>
        </p:nvSpPr>
        <p:spPr>
          <a:xfrm>
            <a:off x="621792" y="612648"/>
            <a:ext cx="10972800" cy="475488"/>
          </a:xfrm>
          <a:prstGeom prst="rect">
            <a:avLst/>
          </a:prstGeom>
          <a:noFill/>
        </p:spPr>
        <p:txBody>
          <a:bodyPr wrap="square" lIns="0" tIns="0" rIns="0" bIns="0" rtlCol="0" anchor="ctr">
            <a:normAutofit/>
          </a:bodyPr>
          <a:lstStyle/>
          <a:p>
            <a:pPr marL="0" indent="0" algn="l">
              <a:buNone/>
            </a:pPr>
            <a:r>
              <a:rPr lang="en-US" sz="2700" b="1" dirty="0">
                <a:solidFill>
                  <a:srgbClr val="F4F7FF"/>
                </a:solidFill>
                <a:latin typeface="Aptos" pitchFamily="34" charset="0"/>
                <a:ea typeface="Aptos" pitchFamily="34" charset="-122"/>
                <a:cs typeface="Aptos" pitchFamily="34" charset="-120"/>
              </a:rPr>
              <a:t>What we can conclude and what comes next</a:t>
            </a:r>
            <a:endParaRPr lang="en-US" sz="2700" dirty="0"/>
          </a:p>
        </p:txBody>
      </p:sp>
      <p:sp>
        <p:nvSpPr>
          <p:cNvPr id="4" name="Text 2"/>
          <p:cNvSpPr txBox="1"/>
          <p:nvPr/>
        </p:nvSpPr>
        <p:spPr>
          <a:xfrm>
            <a:off x="640080" y="1106424"/>
            <a:ext cx="10789920" cy="292608"/>
          </a:xfrm>
          <a:prstGeom prst="rect">
            <a:avLst/>
          </a:prstGeom>
          <a:noFill/>
        </p:spPr>
        <p:txBody>
          <a:bodyPr wrap="square" lIns="0" tIns="0" rIns="0" bIns="0" rtlCol="0" anchor="ctr">
            <a:normAutofit/>
          </a:bodyPr>
          <a:lstStyle/>
          <a:p>
            <a:pPr marL="0" indent="0" algn="l">
              <a:buNone/>
            </a:pPr>
            <a:r>
              <a:rPr lang="en-US" sz="1200" dirty="0">
                <a:solidFill>
                  <a:srgbClr val="A7B4CE"/>
                </a:solidFill>
                <a:latin typeface="Aptos" pitchFamily="34" charset="0"/>
                <a:ea typeface="Aptos" pitchFamily="34" charset="-122"/>
                <a:cs typeface="Aptos" pitchFamily="34" charset="-120"/>
              </a:rPr>
              <a:t>A measured conclusion is stronger than claiming universal improvement.</a:t>
            </a:r>
            <a:endParaRPr lang="en-US" sz="1200" dirty="0"/>
          </a:p>
        </p:txBody>
      </p:sp>
      <p:sp>
        <p:nvSpPr>
          <p:cNvPr id="6" name="Shape 4"/>
          <p:cNvSpPr/>
          <p:nvPr/>
        </p:nvSpPr>
        <p:spPr>
          <a:xfrm>
            <a:off x="658368" y="1691640"/>
            <a:ext cx="5285232" cy="1243584"/>
          </a:xfrm>
          <a:prstGeom prst="roundRect">
            <a:avLst>
              <a:gd name="adj" fmla="val 5882"/>
            </a:avLst>
          </a:prstGeom>
          <a:solidFill>
            <a:srgbClr val="131D31"/>
          </a:solidFill>
          <a:ln w="10160">
            <a:solidFill>
              <a:srgbClr val="2B3B58"/>
            </a:solidFill>
            <a:prstDash val="solid"/>
          </a:ln>
        </p:spPr>
      </p:sp>
      <p:sp>
        <p:nvSpPr>
          <p:cNvPr id="7" name="Shape 5"/>
          <p:cNvSpPr/>
          <p:nvPr/>
        </p:nvSpPr>
        <p:spPr>
          <a:xfrm>
            <a:off x="658368" y="1691640"/>
            <a:ext cx="64008" cy="1243584"/>
          </a:xfrm>
          <a:prstGeom prst="rect">
            <a:avLst/>
          </a:prstGeom>
          <a:solidFill>
            <a:srgbClr val="36D6C5"/>
          </a:solidFill>
          <a:ln w="10160">
            <a:solidFill>
              <a:srgbClr val="36D6C5"/>
            </a:solidFill>
            <a:prstDash val="solid"/>
          </a:ln>
        </p:spPr>
      </p:sp>
      <p:sp>
        <p:nvSpPr>
          <p:cNvPr id="8" name="Text 6"/>
          <p:cNvSpPr txBox="1"/>
          <p:nvPr/>
        </p:nvSpPr>
        <p:spPr>
          <a:xfrm>
            <a:off x="859536" y="1847088"/>
            <a:ext cx="4919472" cy="292608"/>
          </a:xfrm>
          <a:prstGeom prst="rect">
            <a:avLst/>
          </a:prstGeom>
          <a:noFill/>
        </p:spPr>
        <p:txBody>
          <a:bodyPr wrap="square" lIns="0" tIns="0" rIns="0" bIns="0" rtlCol="0" anchor="ctr">
            <a:normAutofit/>
          </a:bodyPr>
          <a:lstStyle/>
          <a:p>
            <a:pPr marL="0" indent="0" algn="l">
              <a:buNone/>
            </a:pPr>
            <a:r>
              <a:rPr lang="en-US" sz="1500" b="1" dirty="0">
                <a:solidFill>
                  <a:srgbClr val="F4F7FF"/>
                </a:solidFill>
                <a:latin typeface="Aptos" pitchFamily="34" charset="0"/>
                <a:ea typeface="Aptos" pitchFamily="34" charset="-122"/>
                <a:cs typeface="Aptos" pitchFamily="34" charset="-120"/>
              </a:rPr>
              <a:t>TAKEAWAY 1</a:t>
            </a:r>
            <a:endParaRPr lang="en-US" sz="1500" dirty="0"/>
          </a:p>
        </p:txBody>
      </p:sp>
      <p:sp>
        <p:nvSpPr>
          <p:cNvPr id="9" name="Text 7"/>
          <p:cNvSpPr txBox="1"/>
          <p:nvPr/>
        </p:nvSpPr>
        <p:spPr>
          <a:xfrm>
            <a:off x="859536" y="2203704"/>
            <a:ext cx="4919472" cy="630936"/>
          </a:xfrm>
          <a:prstGeom prst="rect">
            <a:avLst/>
          </a:prstGeom>
          <a:noFill/>
        </p:spPr>
        <p:txBody>
          <a:bodyPr wrap="square" lIns="0" tIns="0" rIns="0" bIns="0" rtlCol="0" anchor="t">
            <a:normAutofit/>
          </a:bodyPr>
          <a:lstStyle/>
          <a:p>
            <a:pPr marL="0" indent="0" algn="l">
              <a:lnSpc>
                <a:spcPct val="100000"/>
              </a:lnSpc>
              <a:buNone/>
            </a:pPr>
            <a:r>
              <a:rPr lang="en-US" sz="1200" dirty="0">
                <a:solidFill>
                  <a:srgbClr val="A7B4CE"/>
                </a:solidFill>
                <a:latin typeface="Aptos" pitchFamily="34" charset="0"/>
                <a:ea typeface="Aptos" pitchFamily="34" charset="-122"/>
                <a:cs typeface="Aptos" pitchFamily="34" charset="-120"/>
              </a:rPr>
              <a:t>The revised protocol enables a more defensible comparison: validation driven selection and equal budget optimizer runs.</a:t>
            </a:r>
            <a:endParaRPr lang="en-US" sz="1200" dirty="0"/>
          </a:p>
        </p:txBody>
      </p:sp>
      <p:sp>
        <p:nvSpPr>
          <p:cNvPr id="10" name="Shape 8"/>
          <p:cNvSpPr/>
          <p:nvPr/>
        </p:nvSpPr>
        <p:spPr>
          <a:xfrm>
            <a:off x="6199632" y="1691640"/>
            <a:ext cx="5330952" cy="1243584"/>
          </a:xfrm>
          <a:prstGeom prst="roundRect">
            <a:avLst>
              <a:gd name="adj" fmla="val 5882"/>
            </a:avLst>
          </a:prstGeom>
          <a:solidFill>
            <a:srgbClr val="131D31"/>
          </a:solidFill>
          <a:ln w="10160">
            <a:solidFill>
              <a:srgbClr val="2B3B58"/>
            </a:solidFill>
            <a:prstDash val="solid"/>
          </a:ln>
        </p:spPr>
      </p:sp>
      <p:sp>
        <p:nvSpPr>
          <p:cNvPr id="11" name="Shape 9"/>
          <p:cNvSpPr/>
          <p:nvPr/>
        </p:nvSpPr>
        <p:spPr>
          <a:xfrm>
            <a:off x="6199632" y="1691640"/>
            <a:ext cx="64008" cy="1243584"/>
          </a:xfrm>
          <a:prstGeom prst="rect">
            <a:avLst/>
          </a:prstGeom>
          <a:solidFill>
            <a:srgbClr val="6B9BFF"/>
          </a:solidFill>
          <a:ln w="10160">
            <a:solidFill>
              <a:srgbClr val="6B9BFF"/>
            </a:solidFill>
            <a:prstDash val="solid"/>
          </a:ln>
        </p:spPr>
      </p:sp>
      <p:sp>
        <p:nvSpPr>
          <p:cNvPr id="12" name="Text 10"/>
          <p:cNvSpPr txBox="1"/>
          <p:nvPr/>
        </p:nvSpPr>
        <p:spPr>
          <a:xfrm>
            <a:off x="6400800" y="1847088"/>
            <a:ext cx="4965192" cy="292608"/>
          </a:xfrm>
          <a:prstGeom prst="rect">
            <a:avLst/>
          </a:prstGeom>
          <a:noFill/>
        </p:spPr>
        <p:txBody>
          <a:bodyPr wrap="square" lIns="0" tIns="0" rIns="0" bIns="0" rtlCol="0" anchor="ctr">
            <a:normAutofit/>
          </a:bodyPr>
          <a:lstStyle/>
          <a:p>
            <a:pPr marL="0" indent="0" algn="l">
              <a:buNone/>
            </a:pPr>
            <a:r>
              <a:rPr lang="en-US" sz="1500" b="1" dirty="0">
                <a:solidFill>
                  <a:srgbClr val="F4F7FF"/>
                </a:solidFill>
                <a:latin typeface="Aptos" pitchFamily="34" charset="0"/>
                <a:ea typeface="Aptos" pitchFamily="34" charset="-122"/>
                <a:cs typeface="Aptos" pitchFamily="34" charset="-120"/>
              </a:rPr>
              <a:t>TAKEAWAY 2</a:t>
            </a:r>
            <a:endParaRPr lang="en-US" sz="1500" dirty="0"/>
          </a:p>
        </p:txBody>
      </p:sp>
      <p:sp>
        <p:nvSpPr>
          <p:cNvPr id="13" name="Text 11"/>
          <p:cNvSpPr txBox="1"/>
          <p:nvPr/>
        </p:nvSpPr>
        <p:spPr>
          <a:xfrm>
            <a:off x="6400800" y="2203704"/>
            <a:ext cx="4965192" cy="630936"/>
          </a:xfrm>
          <a:prstGeom prst="rect">
            <a:avLst/>
          </a:prstGeom>
          <a:noFill/>
        </p:spPr>
        <p:txBody>
          <a:bodyPr wrap="square" lIns="0" tIns="0" rIns="0" bIns="0" rtlCol="0" anchor="t">
            <a:normAutofit/>
          </a:bodyPr>
          <a:lstStyle/>
          <a:p>
            <a:pPr marL="0" indent="0" algn="l">
              <a:lnSpc>
                <a:spcPct val="100000"/>
              </a:lnSpc>
              <a:buNone/>
            </a:pPr>
            <a:r>
              <a:rPr lang="en-US" sz="1200" dirty="0">
                <a:solidFill>
                  <a:srgbClr val="A7B4CE"/>
                </a:solidFill>
                <a:latin typeface="Aptos" pitchFamily="34" charset="0"/>
                <a:ea typeface="Aptos" pitchFamily="34" charset="-122"/>
                <a:cs typeface="Aptos" pitchFamily="34" charset="-120"/>
              </a:rPr>
              <a:t>Bayesian/TPE gave the best mean best-fitness on the search benchmark; tuned model test gains were benchmark-dependent.</a:t>
            </a:r>
            <a:endParaRPr lang="en-US" sz="1200" dirty="0"/>
          </a:p>
        </p:txBody>
      </p:sp>
      <p:sp>
        <p:nvSpPr>
          <p:cNvPr id="14" name="Shape 12"/>
          <p:cNvSpPr/>
          <p:nvPr/>
        </p:nvSpPr>
        <p:spPr>
          <a:xfrm>
            <a:off x="658368" y="3136392"/>
            <a:ext cx="5285232" cy="1243584"/>
          </a:xfrm>
          <a:prstGeom prst="roundRect">
            <a:avLst>
              <a:gd name="adj" fmla="val 5882"/>
            </a:avLst>
          </a:prstGeom>
          <a:solidFill>
            <a:srgbClr val="131D31"/>
          </a:solidFill>
          <a:ln w="10160">
            <a:solidFill>
              <a:srgbClr val="2B3B58"/>
            </a:solidFill>
            <a:prstDash val="solid"/>
          </a:ln>
        </p:spPr>
      </p:sp>
      <p:sp>
        <p:nvSpPr>
          <p:cNvPr id="15" name="Shape 13"/>
          <p:cNvSpPr/>
          <p:nvPr/>
        </p:nvSpPr>
        <p:spPr>
          <a:xfrm>
            <a:off x="658368" y="3136392"/>
            <a:ext cx="64008" cy="1243584"/>
          </a:xfrm>
          <a:prstGeom prst="rect">
            <a:avLst/>
          </a:prstGeom>
          <a:solidFill>
            <a:srgbClr val="FFB65E"/>
          </a:solidFill>
          <a:ln w="10160">
            <a:solidFill>
              <a:srgbClr val="FFB65E"/>
            </a:solidFill>
            <a:prstDash val="solid"/>
          </a:ln>
        </p:spPr>
      </p:sp>
      <p:sp>
        <p:nvSpPr>
          <p:cNvPr id="16" name="Text 14"/>
          <p:cNvSpPr txBox="1"/>
          <p:nvPr/>
        </p:nvSpPr>
        <p:spPr>
          <a:xfrm>
            <a:off x="859536" y="3291840"/>
            <a:ext cx="4919472" cy="292608"/>
          </a:xfrm>
          <a:prstGeom prst="rect">
            <a:avLst/>
          </a:prstGeom>
          <a:noFill/>
        </p:spPr>
        <p:txBody>
          <a:bodyPr wrap="square" lIns="0" tIns="0" rIns="0" bIns="0" rtlCol="0" anchor="ctr">
            <a:normAutofit/>
          </a:bodyPr>
          <a:lstStyle/>
          <a:p>
            <a:pPr marL="0" indent="0" algn="l">
              <a:buNone/>
            </a:pPr>
            <a:r>
              <a:rPr lang="en-US" sz="1500" b="1" dirty="0">
                <a:solidFill>
                  <a:srgbClr val="F4F7FF"/>
                </a:solidFill>
                <a:latin typeface="Aptos" pitchFamily="34" charset="0"/>
                <a:ea typeface="Aptos" pitchFamily="34" charset="-122"/>
                <a:cs typeface="Aptos" pitchFamily="34" charset="-120"/>
              </a:rPr>
              <a:t>LIMITATION</a:t>
            </a:r>
            <a:endParaRPr lang="en-US" sz="1500" dirty="0"/>
          </a:p>
        </p:txBody>
      </p:sp>
      <p:sp>
        <p:nvSpPr>
          <p:cNvPr id="17" name="Text 15"/>
          <p:cNvSpPr txBox="1"/>
          <p:nvPr/>
        </p:nvSpPr>
        <p:spPr>
          <a:xfrm>
            <a:off x="859536" y="3648456"/>
            <a:ext cx="4919472" cy="630936"/>
          </a:xfrm>
          <a:prstGeom prst="rect">
            <a:avLst/>
          </a:prstGeom>
          <a:noFill/>
        </p:spPr>
        <p:txBody>
          <a:bodyPr wrap="square" lIns="0" tIns="0" rIns="0" bIns="0" rtlCol="0" anchor="t">
            <a:normAutofit/>
          </a:bodyPr>
          <a:lstStyle/>
          <a:p>
            <a:pPr marL="0" indent="0" algn="l">
              <a:lnSpc>
                <a:spcPct val="100000"/>
              </a:lnSpc>
              <a:buNone/>
            </a:pPr>
            <a:r>
              <a:rPr lang="en-US" sz="1200" dirty="0">
                <a:solidFill>
                  <a:srgbClr val="A7B4CE"/>
                </a:solidFill>
                <a:latin typeface="Aptos" pitchFamily="34" charset="0"/>
                <a:ea typeface="Aptos" pitchFamily="34" charset="-122"/>
                <a:cs typeface="Aptos" pitchFamily="34" charset="-120"/>
              </a:rPr>
              <a:t>Macro precision and F1 fell on the final test comparison. ICCAD4/5 false alarms and per benchmark variability remain important.</a:t>
            </a:r>
            <a:endParaRPr lang="en-US" sz="1200" dirty="0"/>
          </a:p>
        </p:txBody>
      </p:sp>
      <p:sp>
        <p:nvSpPr>
          <p:cNvPr id="18" name="Shape 16"/>
          <p:cNvSpPr/>
          <p:nvPr/>
        </p:nvSpPr>
        <p:spPr>
          <a:xfrm>
            <a:off x="6199632" y="3136392"/>
            <a:ext cx="5330952" cy="1243584"/>
          </a:xfrm>
          <a:prstGeom prst="roundRect">
            <a:avLst>
              <a:gd name="adj" fmla="val 5882"/>
            </a:avLst>
          </a:prstGeom>
          <a:solidFill>
            <a:srgbClr val="131D31"/>
          </a:solidFill>
          <a:ln w="10160">
            <a:solidFill>
              <a:srgbClr val="2B3B58"/>
            </a:solidFill>
            <a:prstDash val="solid"/>
          </a:ln>
        </p:spPr>
      </p:sp>
      <p:sp>
        <p:nvSpPr>
          <p:cNvPr id="19" name="Shape 17"/>
          <p:cNvSpPr/>
          <p:nvPr/>
        </p:nvSpPr>
        <p:spPr>
          <a:xfrm>
            <a:off x="6199632" y="3136392"/>
            <a:ext cx="64008" cy="1243584"/>
          </a:xfrm>
          <a:prstGeom prst="rect">
            <a:avLst/>
          </a:prstGeom>
          <a:solidFill>
            <a:srgbClr val="B09AFF"/>
          </a:solidFill>
          <a:ln w="10160">
            <a:solidFill>
              <a:srgbClr val="B09AFF"/>
            </a:solidFill>
            <a:prstDash val="solid"/>
          </a:ln>
        </p:spPr>
      </p:sp>
      <p:sp>
        <p:nvSpPr>
          <p:cNvPr id="20" name="Text 18"/>
          <p:cNvSpPr txBox="1"/>
          <p:nvPr/>
        </p:nvSpPr>
        <p:spPr>
          <a:xfrm>
            <a:off x="6400800" y="3291840"/>
            <a:ext cx="4965192" cy="292608"/>
          </a:xfrm>
          <a:prstGeom prst="rect">
            <a:avLst/>
          </a:prstGeom>
          <a:noFill/>
        </p:spPr>
        <p:txBody>
          <a:bodyPr wrap="square" lIns="0" tIns="0" rIns="0" bIns="0" rtlCol="0" anchor="ctr">
            <a:normAutofit/>
          </a:bodyPr>
          <a:lstStyle/>
          <a:p>
            <a:pPr marL="0" indent="0" algn="l">
              <a:buNone/>
            </a:pPr>
            <a:r>
              <a:rPr lang="en-US" sz="1500" b="1" dirty="0">
                <a:solidFill>
                  <a:srgbClr val="F4F7FF"/>
                </a:solidFill>
                <a:latin typeface="Aptos" pitchFamily="34" charset="0"/>
                <a:ea typeface="Aptos" pitchFamily="34" charset="-122"/>
                <a:cs typeface="Aptos" pitchFamily="34" charset="-120"/>
              </a:rPr>
              <a:t>NEXT WORK</a:t>
            </a:r>
            <a:endParaRPr lang="en-US" sz="1500" dirty="0"/>
          </a:p>
        </p:txBody>
      </p:sp>
      <p:sp>
        <p:nvSpPr>
          <p:cNvPr id="21" name="Text 19"/>
          <p:cNvSpPr txBox="1"/>
          <p:nvPr/>
        </p:nvSpPr>
        <p:spPr>
          <a:xfrm>
            <a:off x="6400800" y="3648456"/>
            <a:ext cx="4965192" cy="630936"/>
          </a:xfrm>
          <a:prstGeom prst="rect">
            <a:avLst/>
          </a:prstGeom>
          <a:noFill/>
        </p:spPr>
        <p:txBody>
          <a:bodyPr wrap="square" lIns="0" tIns="0" rIns="0" bIns="0" rtlCol="0" anchor="t">
            <a:normAutofit/>
          </a:bodyPr>
          <a:lstStyle/>
          <a:p>
            <a:pPr marL="0" indent="0" algn="l">
              <a:lnSpc>
                <a:spcPct val="100000"/>
              </a:lnSpc>
              <a:buNone/>
            </a:pPr>
            <a:r>
              <a:rPr lang="en-US" sz="1200" dirty="0">
                <a:solidFill>
                  <a:srgbClr val="A7B4CE"/>
                </a:solidFill>
                <a:latin typeface="Aptos" pitchFamily="34" charset="0"/>
                <a:ea typeface="Aptos" pitchFamily="34" charset="-122"/>
                <a:cs typeface="Aptos" pitchFamily="34" charset="-120"/>
              </a:rPr>
              <a:t>Investigate false positive hard negatives, validate operating points on held out validation data, and report repeated final model variability.</a:t>
            </a:r>
            <a:endParaRPr lang="en-US" sz="1200" dirty="0"/>
          </a:p>
        </p:txBody>
      </p:sp>
      <p:sp>
        <p:nvSpPr>
          <p:cNvPr id="22" name="Shape 20"/>
          <p:cNvSpPr/>
          <p:nvPr/>
        </p:nvSpPr>
        <p:spPr>
          <a:xfrm>
            <a:off x="658495" y="4854575"/>
            <a:ext cx="10881360" cy="630555"/>
          </a:xfrm>
          <a:prstGeom prst="roundRect">
            <a:avLst>
              <a:gd name="adj" fmla="val 6250"/>
            </a:avLst>
          </a:prstGeom>
          <a:solidFill>
            <a:srgbClr val="17273B"/>
          </a:solidFill>
          <a:ln w="10160">
            <a:solidFill>
              <a:srgbClr val="2A6571"/>
            </a:solidFill>
            <a:prstDash val="solid"/>
          </a:ln>
        </p:spPr>
      </p:sp>
      <p:sp>
        <p:nvSpPr>
          <p:cNvPr id="23" name="Text 21"/>
          <p:cNvSpPr txBox="1"/>
          <p:nvPr/>
        </p:nvSpPr>
        <p:spPr>
          <a:xfrm>
            <a:off x="896112" y="5073904"/>
            <a:ext cx="1234440" cy="182880"/>
          </a:xfrm>
          <a:prstGeom prst="rect">
            <a:avLst/>
          </a:prstGeom>
          <a:noFill/>
        </p:spPr>
        <p:txBody>
          <a:bodyPr wrap="square" lIns="0" tIns="0" rIns="0" bIns="0" rtlCol="0" anchor="ctr">
            <a:normAutofit/>
          </a:bodyPr>
          <a:lstStyle/>
          <a:p>
            <a:pPr marL="0" indent="0" algn="l">
              <a:buNone/>
            </a:pPr>
            <a:r>
              <a:rPr lang="en-US" sz="900" b="1" kern="0" spc="110" dirty="0">
                <a:solidFill>
                  <a:srgbClr val="36D6C5"/>
                </a:solidFill>
                <a:latin typeface="Aptos" pitchFamily="34" charset="0"/>
                <a:ea typeface="Aptos" pitchFamily="34" charset="-122"/>
                <a:cs typeface="Aptos" pitchFamily="34" charset="-120"/>
              </a:rPr>
              <a:t>PROJECT CODE</a:t>
            </a:r>
            <a:endParaRPr lang="en-US" sz="900" dirty="0"/>
          </a:p>
        </p:txBody>
      </p:sp>
      <p:sp>
        <p:nvSpPr>
          <p:cNvPr id="24" name="Text 22"/>
          <p:cNvSpPr txBox="1"/>
          <p:nvPr/>
        </p:nvSpPr>
        <p:spPr>
          <a:xfrm>
            <a:off x="2212848" y="5019040"/>
            <a:ext cx="8823960" cy="274320"/>
          </a:xfrm>
          <a:prstGeom prst="rect">
            <a:avLst/>
          </a:prstGeom>
          <a:noFill/>
        </p:spPr>
        <p:txBody>
          <a:bodyPr wrap="square" lIns="0" tIns="0" rIns="0" bIns="0" rtlCol="0" anchor="ctr">
            <a:normAutofit/>
          </a:bodyPr>
          <a:lstStyle/>
          <a:p>
            <a:pPr marL="0" indent="0" algn="l">
              <a:buNone/>
            </a:pPr>
            <a:r>
              <a:rPr lang="en-US" sz="1400" b="1" dirty="0">
                <a:solidFill>
                  <a:srgbClr val="FFB65E"/>
                </a:solidFill>
                <a:latin typeface="Aptos" pitchFamily="34" charset="0"/>
                <a:ea typeface="Aptos" pitchFamily="34" charset="-122"/>
                <a:cs typeface="Aptos" pitchFamily="34" charset="-120"/>
              </a:rPr>
              <a:t>GitHub: </a:t>
            </a:r>
            <a:r>
              <a:rPr lang="en-US" sz="1400" b="1" dirty="0">
                <a:solidFill>
                  <a:srgbClr val="FFB65E"/>
                </a:solidFill>
                <a:latin typeface="Aptos" pitchFamily="34" charset="0"/>
                <a:ea typeface="Aptos" pitchFamily="34" charset="-122"/>
                <a:cs typeface="Aptos" pitchFamily="34" charset="-120"/>
                <a:hlinkClick r:id="rId1" tooltip="" action="ppaction://hlinkfile"/>
              </a:rPr>
              <a:t>Repository Link</a:t>
            </a:r>
            <a:r>
              <a:rPr lang="en-US" sz="1400" b="1" dirty="0">
                <a:solidFill>
                  <a:srgbClr val="FFB65E"/>
                </a:solidFill>
                <a:latin typeface="Aptos" pitchFamily="34" charset="0"/>
                <a:ea typeface="Aptos" pitchFamily="34" charset="-122"/>
                <a:cs typeface="Aptos" pitchFamily="34" charset="-120"/>
              </a:rPr>
              <a:t> </a:t>
            </a:r>
            <a:endParaRPr lang="en-US" sz="1400" dirty="0"/>
          </a:p>
        </p:txBody>
      </p:sp>
      <p:sp>
        <p:nvSpPr>
          <p:cNvPr id="27" name="Slide Number Placeholder 0"/>
          <p:cNvSpPr>
            <a:spLocks noGrp="1"/>
          </p:cNvSpPr>
          <p:nvPr>
            <p:ph type="sldNum" sz="quarter" idx="4294967295"/>
          </p:nvPr>
        </p:nvSpPr>
        <p:spPr>
          <a:xfrm>
            <a:off x="11292840" y="6510528"/>
            <a:ext cx="800000" cy="300000"/>
          </a:xfrm>
          <a:prstGeom prst="rect">
            <a:avLst/>
          </a:prstGeom>
        </p:spPr>
        <p:txBody>
          <a:bodyPr/>
          <a:lstStyle>
            <a:lvl1pPr>
              <a:defRPr sz="800">
                <a:solidFill>
                  <a:srgbClr val="8090B0"/>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 0"/>
          <p:cNvSpPr txBox="1"/>
          <p:nvPr/>
        </p:nvSpPr>
        <p:spPr>
          <a:xfrm>
            <a:off x="621792" y="292608"/>
            <a:ext cx="4572000" cy="219456"/>
          </a:xfrm>
          <a:prstGeom prst="rect">
            <a:avLst/>
          </a:prstGeom>
          <a:noFill/>
        </p:spPr>
        <p:txBody>
          <a:bodyPr wrap="square" lIns="0" tIns="0" rIns="0" bIns="0" rtlCol="0" anchor="ctr">
            <a:normAutofit/>
          </a:bodyPr>
          <a:lstStyle/>
          <a:p>
            <a:pPr marL="0" indent="0" algn="l">
              <a:buNone/>
            </a:pPr>
            <a:r>
              <a:rPr lang="en-US" sz="900" b="1" kern="0" spc="180" dirty="0">
                <a:solidFill>
                  <a:srgbClr val="36D6C5"/>
                </a:solidFill>
                <a:latin typeface="Aptos" pitchFamily="34" charset="0"/>
                <a:ea typeface="Aptos" pitchFamily="34" charset="-122"/>
                <a:cs typeface="Aptos" pitchFamily="34" charset="-120"/>
              </a:rPr>
              <a:t>APPENDIX  •  REFERENCES</a:t>
            </a:r>
            <a:endParaRPr lang="en-US" sz="900" dirty="0"/>
          </a:p>
        </p:txBody>
      </p:sp>
      <p:sp>
        <p:nvSpPr>
          <p:cNvPr id="3" name="Text 1"/>
          <p:cNvSpPr txBox="1"/>
          <p:nvPr/>
        </p:nvSpPr>
        <p:spPr>
          <a:xfrm>
            <a:off x="621792" y="612648"/>
            <a:ext cx="10972800" cy="475488"/>
          </a:xfrm>
          <a:prstGeom prst="rect">
            <a:avLst/>
          </a:prstGeom>
          <a:noFill/>
        </p:spPr>
        <p:txBody>
          <a:bodyPr wrap="square" lIns="0" tIns="0" rIns="0" bIns="0" rtlCol="0" anchor="ctr">
            <a:normAutofit/>
          </a:bodyPr>
          <a:lstStyle/>
          <a:p>
            <a:pPr marL="0" indent="0" algn="l">
              <a:buNone/>
            </a:pPr>
            <a:r>
              <a:rPr lang="en-US" sz="2700" b="1" dirty="0">
                <a:solidFill>
                  <a:srgbClr val="F4F7FF"/>
                </a:solidFill>
                <a:latin typeface="Aptos" pitchFamily="34" charset="0"/>
                <a:ea typeface="Aptos" pitchFamily="34" charset="-122"/>
                <a:cs typeface="Aptos" pitchFamily="34" charset="-120"/>
              </a:rPr>
              <a:t>Selected references</a:t>
            </a:r>
            <a:endParaRPr lang="en-US" sz="2700" dirty="0"/>
          </a:p>
        </p:txBody>
      </p:sp>
      <p:sp>
        <p:nvSpPr>
          <p:cNvPr id="4" name="Text 2"/>
          <p:cNvSpPr txBox="1"/>
          <p:nvPr/>
        </p:nvSpPr>
        <p:spPr>
          <a:xfrm>
            <a:off x="640080" y="1106424"/>
            <a:ext cx="10789920" cy="292608"/>
          </a:xfrm>
          <a:prstGeom prst="rect">
            <a:avLst/>
          </a:prstGeom>
          <a:noFill/>
        </p:spPr>
        <p:txBody>
          <a:bodyPr wrap="square" lIns="0" tIns="0" rIns="0" bIns="0" rtlCol="0" anchor="ctr">
            <a:normAutofit/>
          </a:bodyPr>
          <a:lstStyle/>
          <a:p>
            <a:pPr marL="0" indent="0" algn="l">
              <a:buNone/>
            </a:pPr>
            <a:r>
              <a:rPr lang="en-US" sz="1200" dirty="0">
                <a:solidFill>
                  <a:srgbClr val="A7B4CE"/>
                </a:solidFill>
                <a:latin typeface="Aptos" pitchFamily="34" charset="0"/>
                <a:ea typeface="Aptos" pitchFamily="34" charset="-122"/>
                <a:cs typeface="Aptos" pitchFamily="34" charset="-120"/>
              </a:rPr>
              <a:t>Sources support the benchmark context, lithography hotspot background, and optimization methods.</a:t>
            </a:r>
            <a:endParaRPr lang="en-US" sz="1200" dirty="0"/>
          </a:p>
        </p:txBody>
      </p:sp>
      <p:sp>
        <p:nvSpPr>
          <p:cNvPr id="6" name="Shape 4"/>
          <p:cNvSpPr/>
          <p:nvPr/>
        </p:nvSpPr>
        <p:spPr>
          <a:xfrm>
            <a:off x="658368" y="1700784"/>
            <a:ext cx="10881360" cy="621792"/>
          </a:xfrm>
          <a:prstGeom prst="roundRect">
            <a:avLst>
              <a:gd name="adj" fmla="val 11765"/>
            </a:avLst>
          </a:prstGeom>
          <a:solidFill>
            <a:srgbClr val="131D31"/>
          </a:solidFill>
          <a:ln w="10160">
            <a:solidFill>
              <a:srgbClr val="2B3B58"/>
            </a:solidFill>
            <a:prstDash val="solid"/>
          </a:ln>
        </p:spPr>
      </p:sp>
      <p:sp>
        <p:nvSpPr>
          <p:cNvPr id="7" name="Text 5"/>
          <p:cNvSpPr txBox="1"/>
          <p:nvPr/>
        </p:nvSpPr>
        <p:spPr>
          <a:xfrm>
            <a:off x="877824" y="1792224"/>
            <a:ext cx="10424160" cy="438912"/>
          </a:xfrm>
          <a:prstGeom prst="rect">
            <a:avLst/>
          </a:prstGeom>
          <a:noFill/>
        </p:spPr>
        <p:txBody>
          <a:bodyPr wrap="square" lIns="0" tIns="0" rIns="0" bIns="0" rtlCol="0" anchor="ctr">
            <a:normAutofit/>
          </a:bodyPr>
          <a:lstStyle/>
          <a:p>
            <a:pPr marL="0" indent="0" algn="l">
              <a:buNone/>
            </a:pPr>
            <a:r>
              <a:rPr lang="en-US" sz="1000" dirty="0">
                <a:solidFill>
                  <a:srgbClr val="E7EDF8"/>
                </a:solidFill>
                <a:latin typeface="Aptos" pitchFamily="34" charset="0"/>
                <a:ea typeface="Aptos" pitchFamily="34" charset="-122"/>
                <a:cs typeface="Aptos" pitchFamily="34" charset="-120"/>
              </a:rPr>
              <a:t>[1] J. A. Torres, “ICCAD-2012 CAD Contest in Fuzzy Pattern Matching for Physical Verification and Benchmark Suite,” in Proc. IEEE/ACM Int. Conf. on Computer-Aided Design (ICCAD), 2012, pp. 349–350.</a:t>
            </a:r>
            <a:endParaRPr lang="en-US" sz="1000" dirty="0"/>
          </a:p>
        </p:txBody>
      </p:sp>
      <p:sp>
        <p:nvSpPr>
          <p:cNvPr id="8" name="Shape 6"/>
          <p:cNvSpPr/>
          <p:nvPr/>
        </p:nvSpPr>
        <p:spPr>
          <a:xfrm>
            <a:off x="658368" y="2478024"/>
            <a:ext cx="10881360" cy="621792"/>
          </a:xfrm>
          <a:prstGeom prst="roundRect">
            <a:avLst>
              <a:gd name="adj" fmla="val 11765"/>
            </a:avLst>
          </a:prstGeom>
          <a:solidFill>
            <a:srgbClr val="131D31"/>
          </a:solidFill>
          <a:ln w="10160">
            <a:solidFill>
              <a:srgbClr val="2B3B58"/>
            </a:solidFill>
            <a:prstDash val="solid"/>
          </a:ln>
        </p:spPr>
      </p:sp>
      <p:sp>
        <p:nvSpPr>
          <p:cNvPr id="9" name="Text 7"/>
          <p:cNvSpPr txBox="1"/>
          <p:nvPr/>
        </p:nvSpPr>
        <p:spPr>
          <a:xfrm>
            <a:off x="877824" y="2569464"/>
            <a:ext cx="10424160" cy="438912"/>
          </a:xfrm>
          <a:prstGeom prst="rect">
            <a:avLst/>
          </a:prstGeom>
          <a:noFill/>
        </p:spPr>
        <p:txBody>
          <a:bodyPr wrap="square" lIns="0" tIns="0" rIns="0" bIns="0" rtlCol="0" anchor="ctr">
            <a:normAutofit/>
          </a:bodyPr>
          <a:lstStyle/>
          <a:p>
            <a:pPr marL="0" indent="0" algn="l">
              <a:buNone/>
            </a:pPr>
            <a:r>
              <a:rPr lang="en-US" sz="1000" dirty="0">
                <a:solidFill>
                  <a:srgbClr val="E7EDF8"/>
                </a:solidFill>
                <a:latin typeface="Aptos" pitchFamily="34" charset="0"/>
                <a:ea typeface="Aptos" pitchFamily="34" charset="-122"/>
                <a:cs typeface="Aptos" pitchFamily="34" charset="-120"/>
              </a:rPr>
              <a:t>[2] L. Liao, S. Li, Y. Che, W. Shi, and X. Wang, “Lithography Hotspot Detection Method Based on Transfer Learning Using Pre-Trained Deep Convolutional Neural Network,” Applied Sciences, vol. 12, no. 4, Art. no. 2192, 2022, doi: 10.3390/app12042192.</a:t>
            </a:r>
            <a:endParaRPr lang="en-US" sz="1000" dirty="0"/>
          </a:p>
        </p:txBody>
      </p:sp>
      <p:sp>
        <p:nvSpPr>
          <p:cNvPr id="10" name="Shape 8"/>
          <p:cNvSpPr/>
          <p:nvPr/>
        </p:nvSpPr>
        <p:spPr>
          <a:xfrm>
            <a:off x="658368" y="3255264"/>
            <a:ext cx="10881360" cy="621792"/>
          </a:xfrm>
          <a:prstGeom prst="roundRect">
            <a:avLst>
              <a:gd name="adj" fmla="val 11765"/>
            </a:avLst>
          </a:prstGeom>
          <a:solidFill>
            <a:srgbClr val="131D31"/>
          </a:solidFill>
          <a:ln w="10160">
            <a:solidFill>
              <a:srgbClr val="2B3B58"/>
            </a:solidFill>
            <a:prstDash val="solid"/>
          </a:ln>
        </p:spPr>
      </p:sp>
      <p:sp>
        <p:nvSpPr>
          <p:cNvPr id="11" name="Text 9"/>
          <p:cNvSpPr txBox="1"/>
          <p:nvPr/>
        </p:nvSpPr>
        <p:spPr>
          <a:xfrm>
            <a:off x="877824" y="3346704"/>
            <a:ext cx="10424160" cy="438912"/>
          </a:xfrm>
          <a:prstGeom prst="rect">
            <a:avLst/>
          </a:prstGeom>
          <a:noFill/>
        </p:spPr>
        <p:txBody>
          <a:bodyPr wrap="square" lIns="0" tIns="0" rIns="0" bIns="0" rtlCol="0" anchor="ctr">
            <a:normAutofit/>
          </a:bodyPr>
          <a:lstStyle/>
          <a:p>
            <a:pPr marL="0" indent="0" algn="l">
              <a:buNone/>
            </a:pPr>
            <a:r>
              <a:rPr lang="en-US" sz="1000" dirty="0">
                <a:solidFill>
                  <a:srgbClr val="E7EDF8"/>
                </a:solidFill>
                <a:latin typeface="Aptos" pitchFamily="34" charset="0"/>
                <a:ea typeface="Aptos" pitchFamily="34" charset="-122"/>
                <a:cs typeface="Aptos" pitchFamily="34" charset="-120"/>
              </a:rPr>
              <a:t>[3] J. Bergstra and Y. Bengio, “Random Search for Hyper-Parameter Optimization,” Journal of Machine Learning Research, vol. 13, pp. 281–305, 2012.</a:t>
            </a:r>
            <a:endParaRPr lang="en-US" sz="1000" dirty="0"/>
          </a:p>
        </p:txBody>
      </p:sp>
      <p:sp>
        <p:nvSpPr>
          <p:cNvPr id="12" name="Shape 10"/>
          <p:cNvSpPr/>
          <p:nvPr/>
        </p:nvSpPr>
        <p:spPr>
          <a:xfrm>
            <a:off x="658368" y="4032504"/>
            <a:ext cx="10881360" cy="621792"/>
          </a:xfrm>
          <a:prstGeom prst="roundRect">
            <a:avLst>
              <a:gd name="adj" fmla="val 11765"/>
            </a:avLst>
          </a:prstGeom>
          <a:solidFill>
            <a:srgbClr val="131D31"/>
          </a:solidFill>
          <a:ln w="10160">
            <a:solidFill>
              <a:srgbClr val="2B3B58"/>
            </a:solidFill>
            <a:prstDash val="solid"/>
          </a:ln>
        </p:spPr>
      </p:sp>
      <p:sp>
        <p:nvSpPr>
          <p:cNvPr id="13" name="Text 11"/>
          <p:cNvSpPr txBox="1"/>
          <p:nvPr/>
        </p:nvSpPr>
        <p:spPr>
          <a:xfrm>
            <a:off x="877824" y="4123944"/>
            <a:ext cx="10424160" cy="438912"/>
          </a:xfrm>
          <a:prstGeom prst="rect">
            <a:avLst/>
          </a:prstGeom>
          <a:noFill/>
        </p:spPr>
        <p:txBody>
          <a:bodyPr wrap="square" lIns="0" tIns="0" rIns="0" bIns="0" rtlCol="0" anchor="ctr">
            <a:normAutofit/>
          </a:bodyPr>
          <a:lstStyle/>
          <a:p>
            <a:pPr marL="0" indent="0" algn="l">
              <a:buNone/>
            </a:pPr>
            <a:r>
              <a:rPr lang="en-US" sz="1000" dirty="0">
                <a:solidFill>
                  <a:srgbClr val="E7EDF8"/>
                </a:solidFill>
                <a:latin typeface="Aptos" pitchFamily="34" charset="0"/>
                <a:ea typeface="Aptos" pitchFamily="34" charset="-122"/>
                <a:cs typeface="Aptos" pitchFamily="34" charset="-120"/>
              </a:rPr>
              <a:t>[4] T. Akiba, S. Sano, T. Yanase, T. Ohta, and M. Koyama, “Optuna: A Next-generation Hyperparameter Optimization Framework,” in Proc. 25th ACM SIGKDD Int. Conf. on Knowledge Discovery and Data Mining, 2019.</a:t>
            </a:r>
            <a:endParaRPr lang="en-US" sz="1000" dirty="0"/>
          </a:p>
        </p:txBody>
      </p:sp>
      <p:sp>
        <p:nvSpPr>
          <p:cNvPr id="14" name="Shape 12"/>
          <p:cNvSpPr/>
          <p:nvPr/>
        </p:nvSpPr>
        <p:spPr>
          <a:xfrm>
            <a:off x="658368" y="4809744"/>
            <a:ext cx="10881360" cy="621792"/>
          </a:xfrm>
          <a:prstGeom prst="roundRect">
            <a:avLst>
              <a:gd name="adj" fmla="val 11765"/>
            </a:avLst>
          </a:prstGeom>
          <a:solidFill>
            <a:srgbClr val="131D31"/>
          </a:solidFill>
          <a:ln w="10160">
            <a:solidFill>
              <a:srgbClr val="2B3B58"/>
            </a:solidFill>
            <a:prstDash val="solid"/>
          </a:ln>
        </p:spPr>
      </p:sp>
      <p:sp>
        <p:nvSpPr>
          <p:cNvPr id="15" name="Text 13"/>
          <p:cNvSpPr txBox="1"/>
          <p:nvPr/>
        </p:nvSpPr>
        <p:spPr>
          <a:xfrm>
            <a:off x="877824" y="4901184"/>
            <a:ext cx="10424160" cy="438912"/>
          </a:xfrm>
          <a:prstGeom prst="rect">
            <a:avLst/>
          </a:prstGeom>
          <a:noFill/>
        </p:spPr>
        <p:txBody>
          <a:bodyPr wrap="square" lIns="0" tIns="0" rIns="0" bIns="0" rtlCol="0" anchor="ctr">
            <a:normAutofit/>
          </a:bodyPr>
          <a:lstStyle/>
          <a:p>
            <a:pPr marL="0" indent="0" algn="l">
              <a:buNone/>
            </a:pPr>
            <a:r>
              <a:rPr lang="en-US" sz="1000" dirty="0">
                <a:solidFill>
                  <a:srgbClr val="E7EDF8"/>
                </a:solidFill>
                <a:latin typeface="Aptos" pitchFamily="34" charset="0"/>
                <a:ea typeface="Aptos" pitchFamily="34" charset="-122"/>
                <a:cs typeface="Aptos" pitchFamily="34" charset="-120"/>
              </a:rPr>
              <a:t>[5] J. H. Holland, Adaptation in Natural and Artificial Systems. University of Michigan Press, 1975.</a:t>
            </a:r>
            <a:endParaRPr lang="en-US" sz="1000" dirty="0"/>
          </a:p>
        </p:txBody>
      </p:sp>
      <p:sp>
        <p:nvSpPr>
          <p:cNvPr id="16" name="Shape 14"/>
          <p:cNvSpPr/>
          <p:nvPr/>
        </p:nvSpPr>
        <p:spPr>
          <a:xfrm>
            <a:off x="658368" y="5824728"/>
            <a:ext cx="10881360" cy="429768"/>
          </a:xfrm>
          <a:prstGeom prst="roundRect">
            <a:avLst>
              <a:gd name="adj" fmla="val 17021"/>
            </a:avLst>
          </a:prstGeom>
          <a:solidFill>
            <a:srgbClr val="18263B"/>
          </a:solidFill>
          <a:ln w="10160">
            <a:solidFill>
              <a:srgbClr val="2B3B58"/>
            </a:solidFill>
            <a:prstDash val="solid"/>
          </a:ln>
        </p:spPr>
      </p:sp>
      <p:sp>
        <p:nvSpPr>
          <p:cNvPr id="17" name="Text 15"/>
          <p:cNvSpPr txBox="1"/>
          <p:nvPr/>
        </p:nvSpPr>
        <p:spPr>
          <a:xfrm>
            <a:off x="868680" y="5934456"/>
            <a:ext cx="10424160" cy="173736"/>
          </a:xfrm>
          <a:prstGeom prst="rect">
            <a:avLst/>
          </a:prstGeom>
          <a:noFill/>
        </p:spPr>
        <p:txBody>
          <a:bodyPr wrap="square" lIns="0" tIns="0" rIns="0" bIns="0" rtlCol="0" anchor="ctr">
            <a:normAutofit/>
          </a:bodyPr>
          <a:lstStyle/>
          <a:p>
            <a:pPr marL="0" indent="0" algn="l">
              <a:buNone/>
            </a:pPr>
            <a:r>
              <a:rPr lang="en-US" sz="900" dirty="0">
                <a:solidFill>
                  <a:srgbClr val="A7B4CE"/>
                </a:solidFill>
                <a:latin typeface="Aptos" pitchFamily="34" charset="0"/>
                <a:ea typeface="Aptos" pitchFamily="34" charset="-122"/>
                <a:cs typeface="Aptos" pitchFamily="34" charset="-120"/>
              </a:rPr>
              <a:t>Inline markers [1]–[5] refer to this slide. Project specific performance values come from our experiment logs.</a:t>
            </a:r>
            <a:endParaRPr lang="en-US" sz="900" dirty="0"/>
          </a:p>
        </p:txBody>
      </p:sp>
      <p:sp>
        <p:nvSpPr>
          <p:cNvPr id="25" name="Slide Number Placeholder 0"/>
          <p:cNvSpPr>
            <a:spLocks noGrp="1"/>
          </p:cNvSpPr>
          <p:nvPr>
            <p:ph type="sldNum" sz="quarter" idx="4294967295"/>
          </p:nvPr>
        </p:nvSpPr>
        <p:spPr>
          <a:xfrm>
            <a:off x="11292840" y="6510528"/>
            <a:ext cx="800000" cy="300000"/>
          </a:xfrm>
          <a:prstGeom prst="rect">
            <a:avLst/>
          </a:prstGeom>
        </p:spPr>
        <p:txBody>
          <a:bodyPr/>
          <a:lstStyle>
            <a:lvl1pPr>
              <a:defRPr sz="800">
                <a:solidFill>
                  <a:srgbClr val="8090B0"/>
                </a:solidFill>
                <a:latin typeface="Aptos"/>
                <a:ea typeface="Aptos"/>
                <a:cs typeface="Aptos"/>
              </a:defRPr>
            </a:lvl1pPr>
          </a:lstStyle>
          <a:p>
            <a:pPr algn="l"/>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7904</Words>
  <Application>WPS Presentation</Application>
  <PresentationFormat>On-screen Show (16:9)</PresentationFormat>
  <Paragraphs>663</Paragraphs>
  <Slides>12</Slides>
  <Notes>12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SimSun</vt:lpstr>
      <vt:lpstr>Wingdings</vt:lpstr>
      <vt:lpstr>Aptos</vt:lpstr>
      <vt:lpstr>Segoe UI</vt:lpstr>
      <vt:lpstr>Aptos</vt:lpstr>
      <vt:lpstr>Aptos</vt:lpstr>
      <vt:lpstr>Aptos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VIT Chennai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GA-Optimized CNN for Lithography Hotspot Detection (ICCAD-12)</dc:title>
  <dc:creator>Group 8, VIT Chennai</dc:creator>
  <dc:subject>Seven-minute revision presentation: Genetic Algorithm-Optimized CNN for Lithography Hotspot Detection</dc:subject>
  <cp:lastModifiedBy>Xuser 1029</cp:lastModifiedBy>
  <cp:revision>8</cp:revision>
  <dcterms:created xsi:type="dcterms:W3CDTF">2026-10-21T13:33:00Z</dcterms:created>
  <dcterms:modified xsi:type="dcterms:W3CDTF">2026-10-27T04:56:42Z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B425EBC36E1F4CAF83159558B14874A3_12</vt:lpwstr>
  </property>
  <property fmtid="{D5CDD505-2E9C-101B-9397-08002B2CF9AE}" pid="3" name="KSOProductBuildVer">
    <vt:lpwstr>1033-12.1.0.29162</vt:lpwstr>
  </property>
</Properties>
</file>